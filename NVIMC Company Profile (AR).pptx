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image" Target="../media/image-5-6.jpg"/><Relationship Id="rId7" Type="http://schemas.openxmlformats.org/officeDocument/2006/relationships/image" Target="../media/image-5-7.jpg"/><Relationship Id="rId8" Type="http://schemas.openxmlformats.org/officeDocument/2006/relationships/image" Target="../media/image-5-8.jpg"/><Relationship Id="rId9" Type="http://schemas.openxmlformats.org/officeDocument/2006/relationships/image" Target="../media/image-5-9.jp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image" Target="../media/image-15-5.jpg"/><Relationship Id="rId6" Type="http://schemas.openxmlformats.org/officeDocument/2006/relationships/image" Target="../media/image-15-6.jp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NVIConsult/build/assets/cover.jpg">    </p:cNvPr>
          <p:cNvPicPr>
            <a:picLocks noChangeAspect="1"/>
          </p:cNvPicPr>
          <p:nvPr/>
        </p:nvPicPr>
        <p:blipFill>
          <a:blip r:embed="rId1"/>
          <a:stretch>
            <a:fillRect/>
          </a:stretch>
        </p:blipFill>
        <p:spPr>
          <a:xfrm>
            <a:off x="0" y="0"/>
            <a:ext cx="7436815" cy="6858000"/>
          </a:xfrm>
          <a:prstGeom prst="rect">
            <a:avLst/>
          </a:prstGeom>
        </p:spPr>
      </p:pic>
      <p:sp>
        <p:nvSpPr>
          <p:cNvPr id="3" name="Shape 0"/>
          <p:cNvSpPr/>
          <p:nvPr/>
        </p:nvSpPr>
        <p:spPr>
          <a:xfrm>
            <a:off x="0" y="0"/>
            <a:ext cx="7436815" cy="6858000"/>
          </a:xfrm>
          <a:prstGeom prst="rect">
            <a:avLst/>
          </a:prstGeom>
          <a:solidFill>
            <a:srgbClr val="0E1420">
              <a:alpha val="62000"/>
            </a:srgbClr>
          </a:solidFill>
          <a:ln w="12700">
            <a:solidFill>
              <a:srgbClr val="0E1420"/>
            </a:solidFill>
            <a:prstDash val="solid"/>
          </a:ln>
        </p:spPr>
      </p:sp>
      <p:pic>
        <p:nvPicPr>
          <p:cNvPr id="4" name="Image 1" descr="/home/user/NVIConsult/build/assets/logo.png">    </p:cNvPr>
          <p:cNvPicPr>
            <a:picLocks noChangeAspect="1"/>
          </p:cNvPicPr>
          <p:nvPr/>
        </p:nvPicPr>
        <p:blipFill>
          <a:blip r:embed="rId2"/>
          <a:stretch>
            <a:fillRect/>
          </a:stretch>
        </p:blipFill>
        <p:spPr>
          <a:xfrm>
            <a:off x="8168335" y="868680"/>
            <a:ext cx="3291840" cy="2159686"/>
          </a:xfrm>
          <a:prstGeom prst="rect">
            <a:avLst/>
          </a:prstGeom>
        </p:spPr>
      </p:pic>
      <p:pic>
        <p:nvPicPr>
          <p:cNvPr id="5" name="Image 2" descr="/home/user/NVIConsult/build/assets/logo_mark.png">    </p:cNvPr>
          <p:cNvPicPr>
            <a:picLocks noChangeAspect="1"/>
          </p:cNvPicPr>
          <p:nvPr/>
        </p:nvPicPr>
        <p:blipFill>
          <a:blip r:embed="rId3"/>
          <a:stretch>
            <a:fillRect/>
          </a:stretch>
        </p:blipFill>
        <p:spPr>
          <a:xfrm>
            <a:off x="11132933" y="3639312"/>
            <a:ext cx="327242" cy="173736"/>
          </a:xfrm>
          <a:prstGeom prst="rect">
            <a:avLst/>
          </a:prstGeom>
        </p:spPr>
      </p:pic>
      <p:sp>
        <p:nvSpPr>
          <p:cNvPr id="6" name="Text 1"/>
          <p:cNvSpPr txBox="1"/>
          <p:nvPr/>
        </p:nvSpPr>
        <p:spPr>
          <a:xfrm>
            <a:off x="7802575" y="3611880"/>
            <a:ext cx="3200400" cy="256032"/>
          </a:xfrm>
          <a:prstGeom prst="rect">
            <a:avLst/>
          </a:prstGeom>
          <a:noFill/>
          <a:ln/>
        </p:spPr>
        <p:txBody>
          <a:bodyPr wrap="square" lIns="0" tIns="0" rIns="0" bIns="0" rtlCol="0" anchor="ctr"/>
          <a:lstStyle/>
          <a:p>
            <a:pPr rtl="1" algn="r" indent="0" marL="0">
              <a:buNone/>
            </a:pPr>
            <a:r>
              <a:rPr lang="ar-SA" altLang="en-US" sz="1300" b="1" dirty="0">
                <a:solidFill>
                  <a:srgbClr val="E5177B"/>
                </a:solidFill>
                <a:latin typeface="Arial" pitchFamily="34" charset="0"/>
                <a:ea typeface="Arial" pitchFamily="34" charset="-122"/>
                <a:cs typeface="Arial" pitchFamily="34" charset="-120"/>
              </a:rPr>
              <a:t>ملف الشركة</a:t>
            </a:r>
            <a:endParaRPr lang="ar-SA" sz="1300" dirty="0"/>
          </a:p>
        </p:txBody>
      </p:sp>
      <p:sp>
        <p:nvSpPr>
          <p:cNvPr id="7" name="Text 2"/>
          <p:cNvSpPr txBox="1"/>
          <p:nvPr/>
        </p:nvSpPr>
        <p:spPr>
          <a:xfrm>
            <a:off x="7711135" y="3977640"/>
            <a:ext cx="3749040" cy="914400"/>
          </a:xfrm>
          <a:prstGeom prst="rect">
            <a:avLst/>
          </a:prstGeom>
          <a:noFill/>
          <a:ln/>
        </p:spPr>
        <p:txBody>
          <a:bodyPr wrap="square" lIns="0" tIns="0" rIns="0" bIns="0" rtlCol="0" anchor="t"/>
          <a:lstStyle/>
          <a:p>
            <a:pPr rtl="1" algn="r" indent="0" marL="0">
              <a:buNone/>
            </a:pPr>
            <a:r>
              <a:rPr lang="ar-SA" altLang="en-US" sz="2200" b="1" dirty="0">
                <a:solidFill>
                  <a:srgbClr val="0E1420"/>
                </a:solidFill>
                <a:latin typeface="Arial" pitchFamily="34" charset="0"/>
                <a:ea typeface="Arial" pitchFamily="34" charset="-122"/>
                <a:cs typeface="Arial" pitchFamily="34" charset="-120"/>
              </a:rPr>
              <a:t>الرؤية الجديدة التكاملية</a:t>
            </a:r>
            <a:endParaRPr lang="ar-SA" sz="2200" dirty="0"/>
          </a:p>
          <a:p>
            <a:pPr rtl="1" algn="r" indent="0" marL="0">
              <a:buNone/>
            </a:pPr>
            <a:r>
              <a:rPr lang="ar-SA" altLang="en-US" sz="1600" dirty="0">
                <a:solidFill>
                  <a:srgbClr val="3F4856"/>
                </a:solidFill>
                <a:latin typeface="Arial" pitchFamily="34" charset="0"/>
                <a:ea typeface="Arial" pitchFamily="34" charset="-122"/>
                <a:cs typeface="Arial" pitchFamily="34" charset="-120"/>
              </a:rPr>
              <a:t>للصيانة والمقاولات</a:t>
            </a:r>
            <a:endParaRPr lang="ar-SA" sz="2200" dirty="0"/>
          </a:p>
        </p:txBody>
      </p:sp>
      <p:sp>
        <p:nvSpPr>
          <p:cNvPr id="8" name="Text 3"/>
          <p:cNvSpPr txBox="1"/>
          <p:nvPr/>
        </p:nvSpPr>
        <p:spPr>
          <a:xfrm>
            <a:off x="7711135" y="5897880"/>
            <a:ext cx="3749040" cy="274320"/>
          </a:xfrm>
          <a:prstGeom prst="rect">
            <a:avLst/>
          </a:prstGeom>
          <a:noFill/>
          <a:ln/>
        </p:spPr>
        <p:txBody>
          <a:bodyPr wrap="square" lIns="0" tIns="0" rIns="0" bIns="0" rtlCol="0" anchor="t"/>
          <a:lstStyle/>
          <a:p>
            <a:pPr rtl="1" algn="r" indent="0" marL="0">
              <a:buNone/>
            </a:pPr>
            <a:r>
              <a:rPr lang="ar-SA" altLang="en-US" sz="1300" dirty="0">
                <a:solidFill>
                  <a:srgbClr val="667080"/>
                </a:solidFill>
                <a:latin typeface="Arial" pitchFamily="34" charset="0"/>
                <a:ea typeface="Arial" pitchFamily="34" charset="-122"/>
                <a:cs typeface="Arial" pitchFamily="34" charset="-120"/>
              </a:rPr>
              <a:t>جدة  ·  المملكة العربية السعودية</a:t>
            </a:r>
            <a:endParaRPr lang="ar-SA" sz="1300" dirty="0"/>
          </a:p>
        </p:txBody>
      </p:sp>
      <p:sp>
        <p:nvSpPr>
          <p:cNvPr id="9" name="Text 4"/>
          <p:cNvSpPr txBox="1"/>
          <p:nvPr/>
        </p:nvSpPr>
        <p:spPr>
          <a:xfrm>
            <a:off x="7711135" y="6172200"/>
            <a:ext cx="3749040" cy="274320"/>
          </a:xfrm>
          <a:prstGeom prst="rect">
            <a:avLst/>
          </a:prstGeom>
          <a:noFill/>
          <a:ln/>
        </p:spPr>
        <p:txBody>
          <a:bodyPr wrap="square" lIns="0" tIns="0" rIns="0" bIns="0" rtlCol="0" anchor="t"/>
          <a:lstStyle/>
          <a:p>
            <a:pPr rtl="1" algn="r" indent="0" marL="0">
              <a:buNone/>
            </a:pPr>
            <a:r>
              <a:rPr lang="ar-SA" altLang="en-US" sz="1300" b="1" dirty="0">
                <a:solidFill>
                  <a:srgbClr val="E5177B"/>
                </a:solidFill>
                <a:latin typeface="Arial" pitchFamily="34" charset="0"/>
                <a:ea typeface="Arial" pitchFamily="34" charset="-122"/>
                <a:cs typeface="Arial" pitchFamily="34" charset="-120"/>
              </a:rPr>
              <a:t>www.nvi-sa.com</a:t>
            </a:r>
            <a:endParaRPr lang="ar-SA" sz="1300" dirty="0"/>
          </a:p>
        </p:txBody>
      </p:sp>
      <p:sp>
        <p:nvSpPr>
          <p:cNvPr id="10" name="Shape 5"/>
          <p:cNvSpPr/>
          <p:nvPr/>
        </p:nvSpPr>
        <p:spPr>
          <a:xfrm>
            <a:off x="6321247" y="1828800"/>
            <a:ext cx="384048" cy="146304"/>
          </a:xfrm>
          <a:prstGeom prst="parallelogram">
            <a:avLst/>
          </a:prstGeom>
          <a:solidFill>
            <a:srgbClr val="FBBA16"/>
          </a:solidFill>
          <a:ln w="12700">
            <a:solidFill>
              <a:srgbClr val="FBBA16"/>
            </a:solidFill>
            <a:prstDash val="solid"/>
          </a:ln>
        </p:spPr>
      </p:sp>
      <p:sp>
        <p:nvSpPr>
          <p:cNvPr id="11" name="Shape 6"/>
          <p:cNvSpPr/>
          <p:nvPr/>
        </p:nvSpPr>
        <p:spPr>
          <a:xfrm>
            <a:off x="5845759" y="1828800"/>
            <a:ext cx="384048" cy="146304"/>
          </a:xfrm>
          <a:prstGeom prst="parallelogram">
            <a:avLst/>
          </a:prstGeom>
          <a:solidFill>
            <a:srgbClr val="E5177B"/>
          </a:solidFill>
          <a:ln w="12700">
            <a:solidFill>
              <a:srgbClr val="E5177B"/>
            </a:solidFill>
            <a:prstDash val="solid"/>
          </a:ln>
        </p:spPr>
      </p:sp>
      <p:sp>
        <p:nvSpPr>
          <p:cNvPr id="12" name="Shape 7"/>
          <p:cNvSpPr/>
          <p:nvPr/>
        </p:nvSpPr>
        <p:spPr>
          <a:xfrm>
            <a:off x="5370271" y="1828800"/>
            <a:ext cx="384048" cy="146304"/>
          </a:xfrm>
          <a:prstGeom prst="parallelogram">
            <a:avLst/>
          </a:prstGeom>
          <a:solidFill>
            <a:srgbClr val="2DB8E0"/>
          </a:solidFill>
          <a:ln w="12700">
            <a:solidFill>
              <a:srgbClr val="2DB8E0"/>
            </a:solidFill>
            <a:prstDash val="solid"/>
          </a:ln>
        </p:spPr>
      </p:sp>
      <p:sp>
        <p:nvSpPr>
          <p:cNvPr id="13" name="Shape 8"/>
          <p:cNvSpPr/>
          <p:nvPr/>
        </p:nvSpPr>
        <p:spPr>
          <a:xfrm>
            <a:off x="4894783" y="1828800"/>
            <a:ext cx="384048" cy="146304"/>
          </a:xfrm>
          <a:prstGeom prst="parallelogram">
            <a:avLst/>
          </a:prstGeom>
          <a:solidFill>
            <a:srgbClr val="5B54A4"/>
          </a:solidFill>
          <a:ln w="12700">
            <a:solidFill>
              <a:srgbClr val="5B54A4"/>
            </a:solidFill>
            <a:prstDash val="solid"/>
          </a:ln>
        </p:spPr>
      </p:sp>
      <p:sp>
        <p:nvSpPr>
          <p:cNvPr id="14" name="Text 9"/>
          <p:cNvSpPr txBox="1"/>
          <p:nvPr/>
        </p:nvSpPr>
        <p:spPr>
          <a:xfrm>
            <a:off x="487375" y="2194560"/>
            <a:ext cx="6217920" cy="2194560"/>
          </a:xfrm>
          <a:prstGeom prst="rect">
            <a:avLst/>
          </a:prstGeom>
          <a:noFill/>
          <a:ln/>
        </p:spPr>
        <p:txBody>
          <a:bodyPr wrap="square" lIns="0" tIns="0" rIns="0" bIns="0" rtlCol="0" anchor="t"/>
          <a:lstStyle/>
          <a:p>
            <a:pPr rtl="1" algn="r" indent="0" marL="0">
              <a:lnSpc>
                <a:spcPct val="95000"/>
              </a:lnSpc>
              <a:buNone/>
            </a:pPr>
            <a:r>
              <a:rPr lang="ar-SA" altLang="en-US" sz="6000" b="1" dirty="0">
                <a:solidFill>
                  <a:srgbClr val="FFFFFF"/>
                </a:solidFill>
                <a:latin typeface="Arial" pitchFamily="34" charset="0"/>
                <a:ea typeface="Arial" pitchFamily="34" charset="-122"/>
                <a:cs typeface="Arial" pitchFamily="34" charset="-120"/>
              </a:rPr>
              <a:t>بناءٌ خالٍ</a:t>
            </a:r>
            <a:endParaRPr lang="ar-SA" sz="6000" dirty="0"/>
          </a:p>
          <a:p>
            <a:pPr rtl="1" algn="r" indent="0" marL="0">
              <a:lnSpc>
                <a:spcPct val="95000"/>
              </a:lnSpc>
              <a:buNone/>
            </a:pPr>
            <a:r>
              <a:rPr lang="ar-SA" altLang="en-US" sz="6000" b="1" dirty="0">
                <a:solidFill>
                  <a:srgbClr val="FFFFFF"/>
                </a:solidFill>
                <a:latin typeface="Arial" pitchFamily="34" charset="0"/>
                <a:ea typeface="Arial" pitchFamily="34" charset="-122"/>
                <a:cs typeface="Arial" pitchFamily="34" charset="-120"/>
              </a:rPr>
              <a:t>من القلق.</a:t>
            </a:r>
            <a:endParaRPr lang="ar-SA" sz="6000" dirty="0"/>
          </a:p>
        </p:txBody>
      </p:sp>
      <p:sp>
        <p:nvSpPr>
          <p:cNvPr id="15" name="Text 10"/>
          <p:cNvSpPr txBox="1"/>
          <p:nvPr/>
        </p:nvSpPr>
        <p:spPr>
          <a:xfrm>
            <a:off x="944575" y="4526280"/>
            <a:ext cx="5760720" cy="822960"/>
          </a:xfrm>
          <a:prstGeom prst="rect">
            <a:avLst/>
          </a:prstGeom>
          <a:noFill/>
          <a:ln/>
        </p:spPr>
        <p:txBody>
          <a:bodyPr wrap="square" lIns="0" tIns="0" rIns="0" bIns="0" rtlCol="0" anchor="t"/>
          <a:lstStyle/>
          <a:p>
            <a:pPr rtl="1" algn="r" indent="0" marL="0">
              <a:buNone/>
            </a:pPr>
            <a:r>
              <a:rPr lang="ar-SA" altLang="en-US" sz="1800" dirty="0">
                <a:solidFill>
                  <a:srgbClr val="DCE3EA"/>
                </a:solidFill>
                <a:latin typeface="Arial" pitchFamily="34" charset="0"/>
                <a:ea typeface="Arial" pitchFamily="34" charset="-122"/>
                <a:cs typeface="Arial" pitchFamily="34" charset="-120"/>
              </a:rPr>
              <a:t>من التصميم والهندسة إلى التنفيذ والتسليم والصيانة.</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user/NVIConsult/build/assets/about.jpg">    </p:cNvPr>
          <p:cNvPicPr>
            <a:picLocks noChangeAspect="1"/>
          </p:cNvPicPr>
          <p:nvPr/>
        </p:nvPicPr>
        <p:blipFill>
          <a:blip r:embed="rId1"/>
          <a:stretch>
            <a:fillRect/>
          </a:stretch>
        </p:blipFill>
        <p:spPr>
          <a:xfrm>
            <a:off x="0" y="0"/>
            <a:ext cx="5120640" cy="6858000"/>
          </a:xfrm>
          <a:prstGeom prst="rect">
            <a:avLst/>
          </a:prstGeom>
        </p:spPr>
      </p:pic>
      <p:pic>
        <p:nvPicPr>
          <p:cNvPr id="3" name="Image 1" descr="/home/user/NVIConsult/build/assets/logo_mark.png">    </p:cNvPr>
          <p:cNvPicPr>
            <a:picLocks noChangeAspect="1"/>
          </p:cNvPicPr>
          <p:nvPr/>
        </p:nvPicPr>
        <p:blipFill>
          <a:blip r:embed="rId2"/>
          <a:stretch>
            <a:fillRect/>
          </a:stretch>
        </p:blipFill>
        <p:spPr>
          <a:xfrm>
            <a:off x="11315813" y="621792"/>
            <a:ext cx="327242" cy="173736"/>
          </a:xfrm>
          <a:prstGeom prst="rect">
            <a:avLst/>
          </a:prstGeom>
        </p:spPr>
      </p:pic>
      <p:sp>
        <p:nvSpPr>
          <p:cNvPr id="4" name="Text 0"/>
          <p:cNvSpPr txBox="1"/>
          <p:nvPr/>
        </p:nvSpPr>
        <p:spPr>
          <a:xfrm>
            <a:off x="5516575" y="594360"/>
            <a:ext cx="5669280" cy="256032"/>
          </a:xfrm>
          <a:prstGeom prst="rect">
            <a:avLst/>
          </a:prstGeom>
          <a:noFill/>
          <a:ln/>
        </p:spPr>
        <p:txBody>
          <a:bodyPr wrap="square" lIns="0" tIns="0" rIns="0" bIns="0" rtlCol="0" anchor="ctr"/>
          <a:lstStyle/>
          <a:p>
            <a:pPr rtl="1" algn="r" indent="0" marL="0">
              <a:buNone/>
            </a:pPr>
            <a:r>
              <a:rPr lang="ar-SA" altLang="en-US" sz="1300" b="1" dirty="0">
                <a:solidFill>
                  <a:srgbClr val="E5177B"/>
                </a:solidFill>
                <a:latin typeface="Arial" pitchFamily="34" charset="0"/>
                <a:ea typeface="Arial" pitchFamily="34" charset="-122"/>
                <a:cs typeface="Arial" pitchFamily="34" charset="-120"/>
              </a:rPr>
              <a:t>01  ·  من نحن</a:t>
            </a:r>
            <a:endParaRPr lang="ar-SA" sz="1300" dirty="0"/>
          </a:p>
        </p:txBody>
      </p:sp>
      <p:sp>
        <p:nvSpPr>
          <p:cNvPr id="5" name="Text 1"/>
          <p:cNvSpPr txBox="1"/>
          <p:nvPr/>
        </p:nvSpPr>
        <p:spPr>
          <a:xfrm>
            <a:off x="5516575" y="960120"/>
            <a:ext cx="6126480" cy="1143000"/>
          </a:xfrm>
          <a:prstGeom prst="rect">
            <a:avLst/>
          </a:prstGeom>
          <a:noFill/>
          <a:ln/>
        </p:spPr>
        <p:txBody>
          <a:bodyPr wrap="square" lIns="0" tIns="0" rIns="0" bIns="0" rtlCol="0" anchor="t"/>
          <a:lstStyle/>
          <a:p>
            <a:pPr rtl="1" algn="r" indent="0" marL="0">
              <a:buNone/>
            </a:pPr>
            <a:r>
              <a:rPr lang="ar-SA" altLang="en-US" sz="3000" b="1" dirty="0">
                <a:solidFill>
                  <a:srgbClr val="0E1420"/>
                </a:solidFill>
                <a:latin typeface="Arial" pitchFamily="34" charset="0"/>
                <a:ea typeface="Arial" pitchFamily="34" charset="-122"/>
                <a:cs typeface="Arial" pitchFamily="34" charset="-120"/>
              </a:rPr>
              <a:t>شركة مقاولات جديدة في جدة، بخبرة تتجاوز 35 عامًا.</a:t>
            </a:r>
            <a:endParaRPr lang="ar-SA" sz="3000" dirty="0"/>
          </a:p>
        </p:txBody>
      </p:sp>
      <p:sp>
        <p:nvSpPr>
          <p:cNvPr id="6" name="Text 2"/>
          <p:cNvSpPr txBox="1"/>
          <p:nvPr/>
        </p:nvSpPr>
        <p:spPr>
          <a:xfrm>
            <a:off x="5516575" y="2286000"/>
            <a:ext cx="6126480" cy="1920240"/>
          </a:xfrm>
          <a:prstGeom prst="rect">
            <a:avLst/>
          </a:prstGeom>
          <a:noFill/>
          <a:ln/>
        </p:spPr>
        <p:txBody>
          <a:bodyPr wrap="square" lIns="0" tIns="0" rIns="0" bIns="0" rtlCol="0" anchor="t"/>
          <a:lstStyle/>
          <a:p>
            <a:pPr rtl="1" algn="r" indent="0" marL="0">
              <a:lnSpc>
                <a:spcPct val="115000"/>
              </a:lnSpc>
              <a:buNone/>
            </a:pPr>
            <a:r>
              <a:rPr lang="ar-SA" altLang="en-US" sz="1450" dirty="0">
                <a:solidFill>
                  <a:srgbClr val="3F4856"/>
                </a:solidFill>
                <a:latin typeface="Arial" pitchFamily="34" charset="0"/>
                <a:ea typeface="Arial" pitchFamily="34" charset="-122"/>
                <a:cs typeface="Arial" pitchFamily="34" charset="-120"/>
              </a:rPr>
              <a:t>شركة الرؤية الجديدة التكاملية للصيانة والمقاولات شركة مقرها جدة، تأسست عام 2024، متخصصة في تقديم حلول شاملة للصيانة والمقاولات مصممة لتلبية الاحتياجات الخاصة لكل عميل.</a:t>
            </a:r>
            <a:endParaRPr lang="ar-SA" sz="1450" dirty="0"/>
          </a:p>
          <a:p>
            <a:pPr rtl="1" algn="r" indent="0" marL="0">
              <a:lnSpc>
                <a:spcPct val="115000"/>
              </a:lnSpc>
              <a:buNone/>
            </a:pPr>
            <a:endParaRPr lang="ar-SA" sz="1450" dirty="0"/>
          </a:p>
          <a:p>
            <a:pPr rtl="1" algn="r" indent="0" marL="0">
              <a:lnSpc>
                <a:spcPct val="115000"/>
              </a:lnSpc>
              <a:buNone/>
            </a:pPr>
            <a:r>
              <a:rPr lang="ar-SA" altLang="en-US" sz="1450" dirty="0">
                <a:solidFill>
                  <a:srgbClr val="3F4856"/>
                </a:solidFill>
                <a:latin typeface="Arial" pitchFamily="34" charset="0"/>
                <a:ea typeface="Arial" pitchFamily="34" charset="-122"/>
                <a:cs typeface="Arial" pitchFamily="34" charset="-120"/>
              </a:rPr>
              <a:t>يضم فريقنا محترفين بخبرة عملية تزيد عن 35 عامًا، ويتيح لنا موقعنا الاستراتيجي في قلب جدة خدمة مجموعة متنوعة من القطاعات بكفاءة.</a:t>
            </a:r>
            <a:endParaRPr lang="ar-SA" sz="1450" dirty="0"/>
          </a:p>
        </p:txBody>
      </p:sp>
      <p:sp>
        <p:nvSpPr>
          <p:cNvPr id="7" name="Shape 3"/>
          <p:cNvSpPr/>
          <p:nvPr/>
        </p:nvSpPr>
        <p:spPr>
          <a:xfrm>
            <a:off x="11313871" y="4434840"/>
            <a:ext cx="329184" cy="128016"/>
          </a:xfrm>
          <a:prstGeom prst="parallelogram">
            <a:avLst/>
          </a:prstGeom>
          <a:solidFill>
            <a:srgbClr val="E5177B"/>
          </a:solidFill>
          <a:ln w="12700">
            <a:solidFill>
              <a:srgbClr val="E5177B"/>
            </a:solidFill>
            <a:prstDash val="solid"/>
          </a:ln>
        </p:spPr>
      </p:sp>
      <p:sp>
        <p:nvSpPr>
          <p:cNvPr id="8" name="Text 4"/>
          <p:cNvSpPr txBox="1"/>
          <p:nvPr/>
        </p:nvSpPr>
        <p:spPr>
          <a:xfrm>
            <a:off x="8716975" y="4617720"/>
            <a:ext cx="2926080" cy="502920"/>
          </a:xfrm>
          <a:prstGeom prst="rect">
            <a:avLst/>
          </a:prstGeom>
          <a:noFill/>
          <a:ln/>
        </p:spPr>
        <p:txBody>
          <a:bodyPr wrap="square" lIns="0" tIns="0" rIns="0" bIns="0" rtlCol="0" anchor="ctr"/>
          <a:lstStyle/>
          <a:p>
            <a:pPr rtl="1" algn="r" indent="0" marL="0">
              <a:buNone/>
            </a:pPr>
            <a:r>
              <a:rPr lang="ar-SA" altLang="en-US" sz="3200" b="1" dirty="0">
                <a:solidFill>
                  <a:srgbClr val="0E1420"/>
                </a:solidFill>
                <a:latin typeface="Arial" pitchFamily="34" charset="0"/>
                <a:ea typeface="Arial" pitchFamily="34" charset="-122"/>
                <a:cs typeface="Arial" pitchFamily="34" charset="-120"/>
              </a:rPr>
              <a:t>2024</a:t>
            </a:r>
            <a:endParaRPr lang="ar-SA" sz="3200" dirty="0"/>
          </a:p>
        </p:txBody>
      </p:sp>
      <p:sp>
        <p:nvSpPr>
          <p:cNvPr id="9" name="Text 5"/>
          <p:cNvSpPr txBox="1"/>
          <p:nvPr/>
        </p:nvSpPr>
        <p:spPr>
          <a:xfrm>
            <a:off x="8716975" y="5120640"/>
            <a:ext cx="2926080" cy="228600"/>
          </a:xfrm>
          <a:prstGeom prst="rect">
            <a:avLst/>
          </a:prstGeom>
          <a:noFill/>
          <a:ln/>
        </p:spPr>
        <p:txBody>
          <a:bodyPr wrap="square" lIns="0" tIns="0" rIns="0" bIns="0" rtlCol="0" anchor="t"/>
          <a:lstStyle/>
          <a:p>
            <a:pPr rtl="1" algn="r" indent="0" marL="0">
              <a:buNone/>
            </a:pPr>
            <a:r>
              <a:rPr lang="ar-SA" altLang="en-US" sz="1180" b="1" dirty="0">
                <a:solidFill>
                  <a:srgbClr val="667080"/>
                </a:solidFill>
                <a:latin typeface="Arial" pitchFamily="34" charset="0"/>
                <a:ea typeface="Arial" pitchFamily="34" charset="-122"/>
                <a:cs typeface="Arial" pitchFamily="34" charset="-120"/>
              </a:rPr>
              <a:t>سنة التأسيس</a:t>
            </a:r>
            <a:endParaRPr lang="ar-SA" sz="1180" dirty="0"/>
          </a:p>
        </p:txBody>
      </p:sp>
      <p:sp>
        <p:nvSpPr>
          <p:cNvPr id="10" name="Shape 6"/>
          <p:cNvSpPr/>
          <p:nvPr/>
        </p:nvSpPr>
        <p:spPr>
          <a:xfrm>
            <a:off x="8204911" y="4434840"/>
            <a:ext cx="329184" cy="128016"/>
          </a:xfrm>
          <a:prstGeom prst="parallelogram">
            <a:avLst/>
          </a:prstGeom>
          <a:solidFill>
            <a:srgbClr val="2DB8E0"/>
          </a:solidFill>
          <a:ln w="12700">
            <a:solidFill>
              <a:srgbClr val="2DB8E0"/>
            </a:solidFill>
            <a:prstDash val="solid"/>
          </a:ln>
        </p:spPr>
      </p:sp>
      <p:sp>
        <p:nvSpPr>
          <p:cNvPr id="11" name="Text 7"/>
          <p:cNvSpPr txBox="1"/>
          <p:nvPr/>
        </p:nvSpPr>
        <p:spPr>
          <a:xfrm>
            <a:off x="5608015" y="4617720"/>
            <a:ext cx="2926080" cy="502920"/>
          </a:xfrm>
          <a:prstGeom prst="rect">
            <a:avLst/>
          </a:prstGeom>
          <a:noFill/>
          <a:ln/>
        </p:spPr>
        <p:txBody>
          <a:bodyPr wrap="square" lIns="0" tIns="0" rIns="0" bIns="0" rtlCol="0" anchor="ctr"/>
          <a:lstStyle/>
          <a:p>
            <a:pPr rtl="1" algn="r" indent="0" marL="0">
              <a:buNone/>
            </a:pPr>
            <a:r>
              <a:rPr lang="ar-SA" altLang="en-US" sz="3200" b="1" dirty="0">
                <a:solidFill>
                  <a:srgbClr val="0E1420"/>
                </a:solidFill>
                <a:latin typeface="Arial" pitchFamily="34" charset="0"/>
                <a:ea typeface="Arial" pitchFamily="34" charset="-122"/>
                <a:cs typeface="Arial" pitchFamily="34" charset="-120"/>
              </a:rPr>
              <a:t>جدة</a:t>
            </a:r>
            <a:endParaRPr lang="ar-SA" sz="3200" dirty="0"/>
          </a:p>
        </p:txBody>
      </p:sp>
      <p:sp>
        <p:nvSpPr>
          <p:cNvPr id="12" name="Text 8"/>
          <p:cNvSpPr txBox="1"/>
          <p:nvPr/>
        </p:nvSpPr>
        <p:spPr>
          <a:xfrm>
            <a:off x="5608015" y="5120640"/>
            <a:ext cx="2926080" cy="228600"/>
          </a:xfrm>
          <a:prstGeom prst="rect">
            <a:avLst/>
          </a:prstGeom>
          <a:noFill/>
          <a:ln/>
        </p:spPr>
        <p:txBody>
          <a:bodyPr wrap="square" lIns="0" tIns="0" rIns="0" bIns="0" rtlCol="0" anchor="t"/>
          <a:lstStyle/>
          <a:p>
            <a:pPr rtl="1" algn="r" indent="0" marL="0">
              <a:buNone/>
            </a:pPr>
            <a:r>
              <a:rPr lang="ar-SA" altLang="en-US" sz="1180" b="1" dirty="0">
                <a:solidFill>
                  <a:srgbClr val="667080"/>
                </a:solidFill>
                <a:latin typeface="Arial" pitchFamily="34" charset="0"/>
                <a:ea typeface="Arial" pitchFamily="34" charset="-122"/>
                <a:cs typeface="Arial" pitchFamily="34" charset="-120"/>
              </a:rPr>
              <a:t>المقر الرئيسي</a:t>
            </a:r>
            <a:endParaRPr lang="ar-SA" sz="1180" dirty="0"/>
          </a:p>
        </p:txBody>
      </p:sp>
      <p:sp>
        <p:nvSpPr>
          <p:cNvPr id="13" name="Shape 9"/>
          <p:cNvSpPr/>
          <p:nvPr/>
        </p:nvSpPr>
        <p:spPr>
          <a:xfrm>
            <a:off x="11313871" y="5440680"/>
            <a:ext cx="329184" cy="128016"/>
          </a:xfrm>
          <a:prstGeom prst="parallelogram">
            <a:avLst/>
          </a:prstGeom>
          <a:solidFill>
            <a:srgbClr val="FBBA16"/>
          </a:solidFill>
          <a:ln w="12700">
            <a:solidFill>
              <a:srgbClr val="FBBA16"/>
            </a:solidFill>
            <a:prstDash val="solid"/>
          </a:ln>
        </p:spPr>
      </p:sp>
      <p:sp>
        <p:nvSpPr>
          <p:cNvPr id="14" name="Text 10"/>
          <p:cNvSpPr txBox="1"/>
          <p:nvPr/>
        </p:nvSpPr>
        <p:spPr>
          <a:xfrm>
            <a:off x="8716975" y="5623560"/>
            <a:ext cx="2926080" cy="502920"/>
          </a:xfrm>
          <a:prstGeom prst="rect">
            <a:avLst/>
          </a:prstGeom>
          <a:noFill/>
          <a:ln/>
        </p:spPr>
        <p:txBody>
          <a:bodyPr wrap="square" lIns="0" tIns="0" rIns="0" bIns="0" rtlCol="0" anchor="ctr"/>
          <a:lstStyle/>
          <a:p>
            <a:pPr rtl="1" algn="r" indent="0" marL="0">
              <a:buNone/>
            </a:pPr>
            <a:r>
              <a:rPr lang="ar-SA" altLang="en-US" sz="3200" b="1" dirty="0">
                <a:solidFill>
                  <a:srgbClr val="0E1420"/>
                </a:solidFill>
                <a:latin typeface="Arial" pitchFamily="34" charset="0"/>
                <a:ea typeface="Arial" pitchFamily="34" charset="-122"/>
                <a:cs typeface="Arial" pitchFamily="34" charset="-120"/>
              </a:rPr>
              <a:t>+35</a:t>
            </a:r>
            <a:endParaRPr lang="ar-SA" sz="3200" dirty="0"/>
          </a:p>
        </p:txBody>
      </p:sp>
      <p:sp>
        <p:nvSpPr>
          <p:cNvPr id="15" name="Text 11"/>
          <p:cNvSpPr txBox="1"/>
          <p:nvPr/>
        </p:nvSpPr>
        <p:spPr>
          <a:xfrm>
            <a:off x="8716975" y="6126480"/>
            <a:ext cx="2926080" cy="228600"/>
          </a:xfrm>
          <a:prstGeom prst="rect">
            <a:avLst/>
          </a:prstGeom>
          <a:noFill/>
          <a:ln/>
        </p:spPr>
        <p:txBody>
          <a:bodyPr wrap="square" lIns="0" tIns="0" rIns="0" bIns="0" rtlCol="0" anchor="t"/>
          <a:lstStyle/>
          <a:p>
            <a:pPr rtl="1" algn="r" indent="0" marL="0">
              <a:buNone/>
            </a:pPr>
            <a:r>
              <a:rPr lang="ar-SA" altLang="en-US" sz="1180" b="1" dirty="0">
                <a:solidFill>
                  <a:srgbClr val="667080"/>
                </a:solidFill>
                <a:latin typeface="Arial" pitchFamily="34" charset="0"/>
                <a:ea typeface="Arial" pitchFamily="34" charset="-122"/>
                <a:cs typeface="Arial" pitchFamily="34" charset="-120"/>
              </a:rPr>
              <a:t>عامًا من الخبرة</a:t>
            </a:r>
            <a:endParaRPr lang="ar-SA" sz="1180" dirty="0"/>
          </a:p>
        </p:txBody>
      </p:sp>
      <p:sp>
        <p:nvSpPr>
          <p:cNvPr id="16" name="Shape 12"/>
          <p:cNvSpPr/>
          <p:nvPr/>
        </p:nvSpPr>
        <p:spPr>
          <a:xfrm>
            <a:off x="8204911" y="5440680"/>
            <a:ext cx="329184" cy="128016"/>
          </a:xfrm>
          <a:prstGeom prst="parallelogram">
            <a:avLst/>
          </a:prstGeom>
          <a:solidFill>
            <a:srgbClr val="5B54A4"/>
          </a:solidFill>
          <a:ln w="12700">
            <a:solidFill>
              <a:srgbClr val="5B54A4"/>
            </a:solidFill>
            <a:prstDash val="solid"/>
          </a:ln>
        </p:spPr>
      </p:sp>
      <p:sp>
        <p:nvSpPr>
          <p:cNvPr id="17" name="Text 13"/>
          <p:cNvSpPr txBox="1"/>
          <p:nvPr/>
        </p:nvSpPr>
        <p:spPr>
          <a:xfrm>
            <a:off x="5608015" y="5623560"/>
            <a:ext cx="2926080" cy="502920"/>
          </a:xfrm>
          <a:prstGeom prst="rect">
            <a:avLst/>
          </a:prstGeom>
          <a:noFill/>
          <a:ln/>
        </p:spPr>
        <p:txBody>
          <a:bodyPr wrap="square" lIns="0" tIns="0" rIns="0" bIns="0" rtlCol="0" anchor="ctr"/>
          <a:lstStyle/>
          <a:p>
            <a:pPr rtl="1" algn="r" indent="0" marL="0">
              <a:buNone/>
            </a:pPr>
            <a:r>
              <a:rPr lang="ar-SA" altLang="en-US" sz="3200" b="1" dirty="0">
                <a:solidFill>
                  <a:srgbClr val="0E1420"/>
                </a:solidFill>
                <a:latin typeface="Arial" pitchFamily="34" charset="0"/>
                <a:ea typeface="Arial" pitchFamily="34" charset="-122"/>
                <a:cs typeface="Arial" pitchFamily="34" charset="-120"/>
              </a:rPr>
              <a:t>8</a:t>
            </a:r>
            <a:endParaRPr lang="ar-SA" sz="3200" dirty="0"/>
          </a:p>
        </p:txBody>
      </p:sp>
      <p:sp>
        <p:nvSpPr>
          <p:cNvPr id="18" name="Text 14"/>
          <p:cNvSpPr txBox="1"/>
          <p:nvPr/>
        </p:nvSpPr>
        <p:spPr>
          <a:xfrm>
            <a:off x="5608015" y="6126480"/>
            <a:ext cx="2926080" cy="228600"/>
          </a:xfrm>
          <a:prstGeom prst="rect">
            <a:avLst/>
          </a:prstGeom>
          <a:noFill/>
          <a:ln/>
        </p:spPr>
        <p:txBody>
          <a:bodyPr wrap="square" lIns="0" tIns="0" rIns="0" bIns="0" rtlCol="0" anchor="t"/>
          <a:lstStyle/>
          <a:p>
            <a:pPr rtl="1" algn="r" indent="0" marL="0">
              <a:buNone/>
            </a:pPr>
            <a:r>
              <a:rPr lang="ar-SA" altLang="en-US" sz="1180" b="1" dirty="0">
                <a:solidFill>
                  <a:srgbClr val="667080"/>
                </a:solidFill>
                <a:latin typeface="Arial" pitchFamily="34" charset="0"/>
                <a:ea typeface="Arial" pitchFamily="34" charset="-122"/>
                <a:cs typeface="Arial" pitchFamily="34" charset="-120"/>
              </a:rPr>
              <a:t>خطوط خدمات</a:t>
            </a:r>
            <a:endParaRPr lang="ar-SA" sz="1180" dirty="0"/>
          </a:p>
        </p:txBody>
      </p:sp>
      <p:sp>
        <p:nvSpPr>
          <p:cNvPr id="19" name="Text 15"/>
          <p:cNvSpPr txBox="1"/>
          <p:nvPr/>
        </p:nvSpPr>
        <p:spPr>
          <a:xfrm>
            <a:off x="6065215" y="6446520"/>
            <a:ext cx="5577840" cy="228600"/>
          </a:xfrm>
          <a:prstGeom prst="rect">
            <a:avLst/>
          </a:prstGeom>
          <a:noFill/>
          <a:ln/>
        </p:spPr>
        <p:txBody>
          <a:bodyPr wrap="square" lIns="0" tIns="0" rIns="0" bIns="0" rtlCol="0" anchor="ctr"/>
          <a:lstStyle/>
          <a:p>
            <a:pPr rtl="1" algn="r" indent="0" marL="0">
              <a:buNone/>
            </a:pPr>
            <a:r>
              <a:rPr lang="ar-SA" altLang="en-US" sz="1000" dirty="0">
                <a:solidFill>
                  <a:srgbClr val="667080"/>
                </a:solidFill>
                <a:latin typeface="Arial" pitchFamily="34" charset="0"/>
                <a:ea typeface="Arial" pitchFamily="34" charset="-122"/>
                <a:cs typeface="Arial" pitchFamily="34" charset="-120"/>
              </a:rPr>
              <a:t>الرؤية الجديدة التكاملية  ·  ملف الشركة</a:t>
            </a:r>
            <a:endParaRPr lang="ar-SA" sz="1000" dirty="0"/>
          </a:p>
        </p:txBody>
      </p:sp>
      <p:sp>
        <p:nvSpPr>
          <p:cNvPr id="20" name="Text 16"/>
          <p:cNvSpPr txBox="1"/>
          <p:nvPr/>
        </p:nvSpPr>
        <p:spPr>
          <a:xfrm>
            <a:off x="5516575" y="6446520"/>
            <a:ext cx="548640" cy="228600"/>
          </a:xfrm>
          <a:prstGeom prst="rect">
            <a:avLst/>
          </a:prstGeom>
          <a:noFill/>
          <a:ln/>
        </p:spPr>
        <p:txBody>
          <a:bodyPr wrap="square" lIns="0" tIns="0" rIns="0" bIns="0" rtlCol="0" anchor="ctr"/>
          <a:lstStyle/>
          <a:p>
            <a:pPr rtl="1" algn="l" indent="0" marL="0">
              <a:buNone/>
            </a:pPr>
            <a:r>
              <a:rPr lang="ar-SA" altLang="en-US" sz="1060" b="1" dirty="0">
                <a:solidFill>
                  <a:srgbClr val="667080"/>
                </a:solidFill>
                <a:latin typeface="Arial" pitchFamily="34" charset="0"/>
                <a:ea typeface="Arial" pitchFamily="34" charset="-122"/>
                <a:cs typeface="Arial" pitchFamily="34" charset="-120"/>
              </a:rPr>
              <a:t>02</a:t>
            </a:r>
            <a:endParaRPr lang="ar-SA" sz="10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user/NVIConsult/build/assets/vision.jpg">    </p:cNvPr>
          <p:cNvPicPr>
            <a:picLocks noChangeAspect="1"/>
          </p:cNvPicPr>
          <p:nvPr/>
        </p:nvPicPr>
        <p:blipFill>
          <a:blip r:embed="rId1"/>
          <a:stretch>
            <a:fillRect/>
          </a:stretch>
        </p:blipFill>
        <p:spPr>
          <a:xfrm>
            <a:off x="7985455" y="0"/>
            <a:ext cx="4206240" cy="6858000"/>
          </a:xfrm>
          <a:prstGeom prst="rect">
            <a:avLst/>
          </a:prstGeom>
        </p:spPr>
      </p:pic>
      <p:pic>
        <p:nvPicPr>
          <p:cNvPr id="3" name="Image 1" descr="/home/user/NVIConsult/build/assets/logo_mark.png">    </p:cNvPr>
          <p:cNvPicPr>
            <a:picLocks noChangeAspect="1"/>
          </p:cNvPicPr>
          <p:nvPr/>
        </p:nvPicPr>
        <p:blipFill>
          <a:blip r:embed="rId2"/>
          <a:stretch>
            <a:fillRect/>
          </a:stretch>
        </p:blipFill>
        <p:spPr>
          <a:xfrm>
            <a:off x="7109573" y="621792"/>
            <a:ext cx="327242" cy="173736"/>
          </a:xfrm>
          <a:prstGeom prst="rect">
            <a:avLst/>
          </a:prstGeom>
        </p:spPr>
      </p:pic>
      <p:sp>
        <p:nvSpPr>
          <p:cNvPr id="4" name="Text 0"/>
          <p:cNvSpPr txBox="1"/>
          <p:nvPr/>
        </p:nvSpPr>
        <p:spPr>
          <a:xfrm>
            <a:off x="548640" y="594360"/>
            <a:ext cx="6430975" cy="256032"/>
          </a:xfrm>
          <a:prstGeom prst="rect">
            <a:avLst/>
          </a:prstGeom>
          <a:noFill/>
          <a:ln/>
        </p:spPr>
        <p:txBody>
          <a:bodyPr wrap="square" lIns="0" tIns="0" rIns="0" bIns="0" rtlCol="0" anchor="ctr"/>
          <a:lstStyle/>
          <a:p>
            <a:pPr rtl="1" algn="r" indent="0" marL="0">
              <a:buNone/>
            </a:pPr>
            <a:r>
              <a:rPr lang="ar-SA" altLang="en-US" sz="1300" b="1" dirty="0">
                <a:solidFill>
                  <a:srgbClr val="E5177B"/>
                </a:solidFill>
                <a:latin typeface="Arial" pitchFamily="34" charset="0"/>
                <a:ea typeface="Arial" pitchFamily="34" charset="-122"/>
                <a:cs typeface="Arial" pitchFamily="34" charset="-120"/>
              </a:rPr>
              <a:t>02  ·  توجهنا</a:t>
            </a:r>
            <a:endParaRPr lang="ar-SA" sz="1300" dirty="0"/>
          </a:p>
        </p:txBody>
      </p:sp>
      <p:sp>
        <p:nvSpPr>
          <p:cNvPr id="5" name="Text 1"/>
          <p:cNvSpPr txBox="1"/>
          <p:nvPr/>
        </p:nvSpPr>
        <p:spPr>
          <a:xfrm>
            <a:off x="548640" y="960120"/>
            <a:ext cx="6888175" cy="640080"/>
          </a:xfrm>
          <a:prstGeom prst="rect">
            <a:avLst/>
          </a:prstGeom>
          <a:noFill/>
          <a:ln/>
        </p:spPr>
        <p:txBody>
          <a:bodyPr wrap="square" lIns="0" tIns="0" rIns="0" bIns="0" rtlCol="0" anchor="t"/>
          <a:lstStyle/>
          <a:p>
            <a:pPr rtl="1" algn="r" indent="0" marL="0">
              <a:buNone/>
            </a:pPr>
            <a:r>
              <a:rPr lang="ar-SA" altLang="en-US" sz="3400" b="1" dirty="0">
                <a:solidFill>
                  <a:srgbClr val="0E1420"/>
                </a:solidFill>
                <a:latin typeface="Arial" pitchFamily="34" charset="0"/>
                <a:ea typeface="Arial" pitchFamily="34" charset="-122"/>
                <a:cs typeface="Arial" pitchFamily="34" charset="-120"/>
              </a:rPr>
              <a:t>الرؤية والرسالة والقيم</a:t>
            </a:r>
            <a:endParaRPr lang="ar-SA" sz="3400" dirty="0"/>
          </a:p>
        </p:txBody>
      </p:sp>
      <p:sp>
        <p:nvSpPr>
          <p:cNvPr id="6" name="Shape 2"/>
          <p:cNvSpPr/>
          <p:nvPr/>
        </p:nvSpPr>
        <p:spPr>
          <a:xfrm>
            <a:off x="7125919" y="1938528"/>
            <a:ext cx="310896" cy="128016"/>
          </a:xfrm>
          <a:prstGeom prst="parallelogram">
            <a:avLst/>
          </a:prstGeom>
          <a:solidFill>
            <a:srgbClr val="E5177B"/>
          </a:solidFill>
          <a:ln w="12700">
            <a:solidFill>
              <a:srgbClr val="E5177B"/>
            </a:solidFill>
            <a:prstDash val="solid"/>
          </a:ln>
        </p:spPr>
      </p:sp>
      <p:sp>
        <p:nvSpPr>
          <p:cNvPr id="7" name="Text 3"/>
          <p:cNvSpPr txBox="1"/>
          <p:nvPr/>
        </p:nvSpPr>
        <p:spPr>
          <a:xfrm>
            <a:off x="4175608" y="1874520"/>
            <a:ext cx="2804008" cy="256032"/>
          </a:xfrm>
          <a:prstGeom prst="rect">
            <a:avLst/>
          </a:prstGeom>
          <a:noFill/>
          <a:ln/>
        </p:spPr>
        <p:txBody>
          <a:bodyPr wrap="square" lIns="0" tIns="0" rIns="0" bIns="0" rtlCol="0" anchor="ctr"/>
          <a:lstStyle/>
          <a:p>
            <a:pPr rtl="1" algn="r" indent="0" marL="0">
              <a:buNone/>
            </a:pPr>
            <a:r>
              <a:rPr lang="ar-SA" altLang="en-US" sz="1420" b="1" dirty="0">
                <a:solidFill>
                  <a:srgbClr val="E5177B"/>
                </a:solidFill>
                <a:latin typeface="Arial" pitchFamily="34" charset="0"/>
                <a:ea typeface="Arial" pitchFamily="34" charset="-122"/>
                <a:cs typeface="Arial" pitchFamily="34" charset="-120"/>
              </a:rPr>
              <a:t>رؤيتنا</a:t>
            </a:r>
            <a:endParaRPr lang="ar-SA" sz="1420" dirty="0"/>
          </a:p>
        </p:txBody>
      </p:sp>
      <p:sp>
        <p:nvSpPr>
          <p:cNvPr id="8" name="Text 4"/>
          <p:cNvSpPr txBox="1"/>
          <p:nvPr/>
        </p:nvSpPr>
        <p:spPr>
          <a:xfrm>
            <a:off x="4175608" y="2286000"/>
            <a:ext cx="3261208" cy="173736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0E1420"/>
                </a:solidFill>
                <a:latin typeface="Arial" pitchFamily="34" charset="0"/>
                <a:ea typeface="Arial" pitchFamily="34" charset="-122"/>
                <a:cs typeface="Arial" pitchFamily="34" charset="-120"/>
              </a:rPr>
              <a:t>أن نصبح شركة بناء رائدة، من حلول التصميم الإبداعي والصيانة إلى التنفيذ والتسليم، تلبي احتياجات عملائنا الاجتماعية والبيئية والاقتصادية.</a:t>
            </a:r>
            <a:endParaRPr lang="ar-SA" sz="1500" dirty="0"/>
          </a:p>
        </p:txBody>
      </p:sp>
      <p:sp>
        <p:nvSpPr>
          <p:cNvPr id="9" name="Shape 5"/>
          <p:cNvSpPr/>
          <p:nvPr/>
        </p:nvSpPr>
        <p:spPr>
          <a:xfrm>
            <a:off x="3498952" y="1938528"/>
            <a:ext cx="310896" cy="128016"/>
          </a:xfrm>
          <a:prstGeom prst="parallelogram">
            <a:avLst/>
          </a:prstGeom>
          <a:solidFill>
            <a:srgbClr val="5B54A4"/>
          </a:solidFill>
          <a:ln w="12700">
            <a:solidFill>
              <a:srgbClr val="5B54A4"/>
            </a:solidFill>
            <a:prstDash val="solid"/>
          </a:ln>
        </p:spPr>
      </p:sp>
      <p:sp>
        <p:nvSpPr>
          <p:cNvPr id="10" name="Text 6"/>
          <p:cNvSpPr txBox="1"/>
          <p:nvPr/>
        </p:nvSpPr>
        <p:spPr>
          <a:xfrm>
            <a:off x="548640" y="1874520"/>
            <a:ext cx="2804008" cy="256032"/>
          </a:xfrm>
          <a:prstGeom prst="rect">
            <a:avLst/>
          </a:prstGeom>
          <a:noFill/>
          <a:ln/>
        </p:spPr>
        <p:txBody>
          <a:bodyPr wrap="square" lIns="0" tIns="0" rIns="0" bIns="0" rtlCol="0" anchor="ctr"/>
          <a:lstStyle/>
          <a:p>
            <a:pPr rtl="1" algn="r" indent="0" marL="0">
              <a:buNone/>
            </a:pPr>
            <a:r>
              <a:rPr lang="ar-SA" altLang="en-US" sz="1420" b="1" dirty="0">
                <a:solidFill>
                  <a:srgbClr val="5B54A4"/>
                </a:solidFill>
                <a:latin typeface="Arial" pitchFamily="34" charset="0"/>
                <a:ea typeface="Arial" pitchFamily="34" charset="-122"/>
                <a:cs typeface="Arial" pitchFamily="34" charset="-120"/>
              </a:rPr>
              <a:t>رسالتنا</a:t>
            </a:r>
            <a:endParaRPr lang="ar-SA" sz="1420" dirty="0"/>
          </a:p>
        </p:txBody>
      </p:sp>
      <p:sp>
        <p:nvSpPr>
          <p:cNvPr id="11" name="Text 7"/>
          <p:cNvSpPr txBox="1"/>
          <p:nvPr/>
        </p:nvSpPr>
        <p:spPr>
          <a:xfrm>
            <a:off x="548640" y="2286000"/>
            <a:ext cx="3261208" cy="173736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0E1420"/>
                </a:solidFill>
                <a:latin typeface="Arial" pitchFamily="34" charset="0"/>
                <a:ea typeface="Arial" pitchFamily="34" charset="-122"/>
                <a:cs typeface="Arial" pitchFamily="34" charset="-120"/>
              </a:rPr>
              <a:t>كسب ثقة عملائنا ورضاهم، وبناء علاقات طويلة الأمد من خلال المشاريع التي ننفذها ونتولى صيانتها.</a:t>
            </a:r>
            <a:endParaRPr lang="ar-SA" sz="1500" dirty="0"/>
          </a:p>
        </p:txBody>
      </p:sp>
      <p:sp>
        <p:nvSpPr>
          <p:cNvPr id="12" name="Text 8"/>
          <p:cNvSpPr txBox="1"/>
          <p:nvPr/>
        </p:nvSpPr>
        <p:spPr>
          <a:xfrm>
            <a:off x="548640" y="4343400"/>
            <a:ext cx="6888175" cy="256032"/>
          </a:xfrm>
          <a:prstGeom prst="rect">
            <a:avLst/>
          </a:prstGeom>
          <a:noFill/>
          <a:ln/>
        </p:spPr>
        <p:txBody>
          <a:bodyPr wrap="square" lIns="0" tIns="0" rIns="0" bIns="0" rtlCol="0" anchor="ctr"/>
          <a:lstStyle/>
          <a:p>
            <a:pPr rtl="1" algn="r" indent="0" marL="0">
              <a:buNone/>
            </a:pPr>
            <a:r>
              <a:rPr lang="ar-SA" altLang="en-US" sz="1420" b="1" dirty="0">
                <a:solidFill>
                  <a:srgbClr val="667080"/>
                </a:solidFill>
                <a:latin typeface="Arial" pitchFamily="34" charset="0"/>
                <a:ea typeface="Arial" pitchFamily="34" charset="-122"/>
                <a:cs typeface="Arial" pitchFamily="34" charset="-120"/>
              </a:rPr>
              <a:t>قيمنا</a:t>
            </a:r>
            <a:endParaRPr lang="ar-SA" sz="1420" dirty="0"/>
          </a:p>
        </p:txBody>
      </p:sp>
      <p:sp>
        <p:nvSpPr>
          <p:cNvPr id="13" name="Shape 9"/>
          <p:cNvSpPr/>
          <p:nvPr/>
        </p:nvSpPr>
        <p:spPr>
          <a:xfrm>
            <a:off x="5851931" y="4754880"/>
            <a:ext cx="1584884" cy="1417320"/>
          </a:xfrm>
          <a:prstGeom prst="rect">
            <a:avLst/>
          </a:prstGeom>
          <a:solidFill>
            <a:srgbClr val="F2F4F7"/>
          </a:solidFill>
          <a:ln w="12700">
            <a:solidFill>
              <a:srgbClr val="F2F4F7"/>
            </a:solidFill>
            <a:prstDash val="solid"/>
          </a:ln>
        </p:spPr>
      </p:sp>
      <p:sp>
        <p:nvSpPr>
          <p:cNvPr id="14" name="Shape 10"/>
          <p:cNvSpPr/>
          <p:nvPr/>
        </p:nvSpPr>
        <p:spPr>
          <a:xfrm>
            <a:off x="6961327" y="4956048"/>
            <a:ext cx="274320" cy="109728"/>
          </a:xfrm>
          <a:prstGeom prst="parallelogram">
            <a:avLst/>
          </a:prstGeom>
          <a:solidFill>
            <a:srgbClr val="E5177B"/>
          </a:solidFill>
          <a:ln w="12700">
            <a:solidFill>
              <a:srgbClr val="E5177B"/>
            </a:solidFill>
            <a:prstDash val="solid"/>
          </a:ln>
        </p:spPr>
      </p:sp>
      <p:sp>
        <p:nvSpPr>
          <p:cNvPr id="15" name="Text 11"/>
          <p:cNvSpPr txBox="1"/>
          <p:nvPr/>
        </p:nvSpPr>
        <p:spPr>
          <a:xfrm>
            <a:off x="6053099" y="5212080"/>
            <a:ext cx="1182548" cy="868680"/>
          </a:xfrm>
          <a:prstGeom prst="rect">
            <a:avLst/>
          </a:prstGeom>
          <a:noFill/>
          <a:ln/>
        </p:spPr>
        <p:txBody>
          <a:bodyPr wrap="square" lIns="0" tIns="0" rIns="0" bIns="0" rtlCol="0" anchor="t"/>
          <a:lstStyle/>
          <a:p>
            <a:pPr rtl="1" algn="r" indent="0" marL="0">
              <a:buNone/>
            </a:pPr>
            <a:r>
              <a:rPr lang="ar-SA" altLang="en-US" sz="1300" b="1" dirty="0">
                <a:solidFill>
                  <a:srgbClr val="0E1420"/>
                </a:solidFill>
                <a:latin typeface="Arial" pitchFamily="34" charset="0"/>
                <a:ea typeface="Arial" pitchFamily="34" charset="-122"/>
                <a:cs typeface="Arial" pitchFamily="34" charset="-120"/>
              </a:rPr>
              <a:t>رضا العملاء دون أي مساومة</a:t>
            </a:r>
            <a:endParaRPr lang="ar-SA" sz="1300" dirty="0"/>
          </a:p>
        </p:txBody>
      </p:sp>
      <p:sp>
        <p:nvSpPr>
          <p:cNvPr id="16" name="Shape 12"/>
          <p:cNvSpPr/>
          <p:nvPr/>
        </p:nvSpPr>
        <p:spPr>
          <a:xfrm>
            <a:off x="4084168" y="4754880"/>
            <a:ext cx="1584884" cy="1417320"/>
          </a:xfrm>
          <a:prstGeom prst="rect">
            <a:avLst/>
          </a:prstGeom>
          <a:solidFill>
            <a:srgbClr val="F2F4F7"/>
          </a:solidFill>
          <a:ln w="12700">
            <a:solidFill>
              <a:srgbClr val="F2F4F7"/>
            </a:solidFill>
            <a:prstDash val="solid"/>
          </a:ln>
        </p:spPr>
      </p:sp>
      <p:sp>
        <p:nvSpPr>
          <p:cNvPr id="17" name="Shape 13"/>
          <p:cNvSpPr/>
          <p:nvPr/>
        </p:nvSpPr>
        <p:spPr>
          <a:xfrm>
            <a:off x="5193563" y="4956048"/>
            <a:ext cx="274320" cy="109728"/>
          </a:xfrm>
          <a:prstGeom prst="parallelogram">
            <a:avLst/>
          </a:prstGeom>
          <a:solidFill>
            <a:srgbClr val="2DB8E0"/>
          </a:solidFill>
          <a:ln w="12700">
            <a:solidFill>
              <a:srgbClr val="2DB8E0"/>
            </a:solidFill>
            <a:prstDash val="solid"/>
          </a:ln>
        </p:spPr>
      </p:sp>
      <p:sp>
        <p:nvSpPr>
          <p:cNvPr id="18" name="Text 14"/>
          <p:cNvSpPr txBox="1"/>
          <p:nvPr/>
        </p:nvSpPr>
        <p:spPr>
          <a:xfrm>
            <a:off x="4285336" y="5212080"/>
            <a:ext cx="1182548" cy="868680"/>
          </a:xfrm>
          <a:prstGeom prst="rect">
            <a:avLst/>
          </a:prstGeom>
          <a:noFill/>
          <a:ln/>
        </p:spPr>
        <p:txBody>
          <a:bodyPr wrap="square" lIns="0" tIns="0" rIns="0" bIns="0" rtlCol="0" anchor="t"/>
          <a:lstStyle/>
          <a:p>
            <a:pPr rtl="1" algn="r" indent="0" marL="0">
              <a:buNone/>
            </a:pPr>
            <a:r>
              <a:rPr lang="ar-SA" altLang="en-US" sz="1300" b="1" dirty="0">
                <a:solidFill>
                  <a:srgbClr val="0E1420"/>
                </a:solidFill>
                <a:latin typeface="Arial" pitchFamily="34" charset="0"/>
                <a:ea typeface="Arial" pitchFamily="34" charset="-122"/>
                <a:cs typeface="Arial" pitchFamily="34" charset="-120"/>
              </a:rPr>
              <a:t>النزاهة والصدق</a:t>
            </a:r>
            <a:endParaRPr lang="ar-SA" sz="1300" dirty="0"/>
          </a:p>
        </p:txBody>
      </p:sp>
      <p:sp>
        <p:nvSpPr>
          <p:cNvPr id="19" name="Shape 15"/>
          <p:cNvSpPr/>
          <p:nvPr/>
        </p:nvSpPr>
        <p:spPr>
          <a:xfrm>
            <a:off x="2316404" y="4754880"/>
            <a:ext cx="1584884" cy="1417320"/>
          </a:xfrm>
          <a:prstGeom prst="rect">
            <a:avLst/>
          </a:prstGeom>
          <a:solidFill>
            <a:srgbClr val="F2F4F7"/>
          </a:solidFill>
          <a:ln w="12700">
            <a:solidFill>
              <a:srgbClr val="F2F4F7"/>
            </a:solidFill>
            <a:prstDash val="solid"/>
          </a:ln>
        </p:spPr>
      </p:sp>
      <p:sp>
        <p:nvSpPr>
          <p:cNvPr id="20" name="Shape 16"/>
          <p:cNvSpPr/>
          <p:nvPr/>
        </p:nvSpPr>
        <p:spPr>
          <a:xfrm>
            <a:off x="3425800" y="4956048"/>
            <a:ext cx="274320" cy="109728"/>
          </a:xfrm>
          <a:prstGeom prst="parallelogram">
            <a:avLst/>
          </a:prstGeom>
          <a:solidFill>
            <a:srgbClr val="FBBA16"/>
          </a:solidFill>
          <a:ln w="12700">
            <a:solidFill>
              <a:srgbClr val="FBBA16"/>
            </a:solidFill>
            <a:prstDash val="solid"/>
          </a:ln>
        </p:spPr>
      </p:sp>
      <p:sp>
        <p:nvSpPr>
          <p:cNvPr id="21" name="Text 17"/>
          <p:cNvSpPr txBox="1"/>
          <p:nvPr/>
        </p:nvSpPr>
        <p:spPr>
          <a:xfrm>
            <a:off x="2517572" y="5212080"/>
            <a:ext cx="1182548" cy="868680"/>
          </a:xfrm>
          <a:prstGeom prst="rect">
            <a:avLst/>
          </a:prstGeom>
          <a:noFill/>
          <a:ln/>
        </p:spPr>
        <p:txBody>
          <a:bodyPr wrap="square" lIns="0" tIns="0" rIns="0" bIns="0" rtlCol="0" anchor="t"/>
          <a:lstStyle/>
          <a:p>
            <a:pPr rtl="1" algn="r" indent="0" marL="0">
              <a:buNone/>
            </a:pPr>
            <a:r>
              <a:rPr lang="ar-SA" altLang="en-US" sz="1300" b="1" dirty="0">
                <a:solidFill>
                  <a:srgbClr val="0E1420"/>
                </a:solidFill>
                <a:latin typeface="Arial" pitchFamily="34" charset="0"/>
                <a:ea typeface="Arial" pitchFamily="34" charset="-122"/>
                <a:cs typeface="Arial" pitchFamily="34" charset="-120"/>
              </a:rPr>
              <a:t>إدارة فعّالة بمبادئ راسخة</a:t>
            </a:r>
            <a:endParaRPr lang="ar-SA" sz="1300" dirty="0"/>
          </a:p>
        </p:txBody>
      </p:sp>
      <p:sp>
        <p:nvSpPr>
          <p:cNvPr id="22" name="Shape 18"/>
          <p:cNvSpPr/>
          <p:nvPr/>
        </p:nvSpPr>
        <p:spPr>
          <a:xfrm>
            <a:off x="548640" y="4754880"/>
            <a:ext cx="1584884" cy="1417320"/>
          </a:xfrm>
          <a:prstGeom prst="rect">
            <a:avLst/>
          </a:prstGeom>
          <a:solidFill>
            <a:srgbClr val="F2F4F7"/>
          </a:solidFill>
          <a:ln w="12700">
            <a:solidFill>
              <a:srgbClr val="F2F4F7"/>
            </a:solidFill>
            <a:prstDash val="solid"/>
          </a:ln>
        </p:spPr>
      </p:sp>
      <p:sp>
        <p:nvSpPr>
          <p:cNvPr id="23" name="Shape 19"/>
          <p:cNvSpPr/>
          <p:nvPr/>
        </p:nvSpPr>
        <p:spPr>
          <a:xfrm>
            <a:off x="1658036" y="4956048"/>
            <a:ext cx="274320" cy="109728"/>
          </a:xfrm>
          <a:prstGeom prst="parallelogram">
            <a:avLst/>
          </a:prstGeom>
          <a:solidFill>
            <a:srgbClr val="5B54A4"/>
          </a:solidFill>
          <a:ln w="12700">
            <a:solidFill>
              <a:srgbClr val="5B54A4"/>
            </a:solidFill>
            <a:prstDash val="solid"/>
          </a:ln>
        </p:spPr>
      </p:sp>
      <p:sp>
        <p:nvSpPr>
          <p:cNvPr id="24" name="Text 20"/>
          <p:cNvSpPr txBox="1"/>
          <p:nvPr/>
        </p:nvSpPr>
        <p:spPr>
          <a:xfrm>
            <a:off x="749808" y="5212080"/>
            <a:ext cx="1182548" cy="868680"/>
          </a:xfrm>
          <a:prstGeom prst="rect">
            <a:avLst/>
          </a:prstGeom>
          <a:noFill/>
          <a:ln/>
        </p:spPr>
        <p:txBody>
          <a:bodyPr wrap="square" lIns="0" tIns="0" rIns="0" bIns="0" rtlCol="0" anchor="t"/>
          <a:lstStyle/>
          <a:p>
            <a:pPr rtl="1" algn="r" indent="0" marL="0">
              <a:buNone/>
            </a:pPr>
            <a:r>
              <a:rPr lang="ar-SA" altLang="en-US" sz="1300" b="1" dirty="0">
                <a:solidFill>
                  <a:srgbClr val="0E1420"/>
                </a:solidFill>
                <a:latin typeface="Arial" pitchFamily="34" charset="0"/>
                <a:ea typeface="Arial" pitchFamily="34" charset="-122"/>
                <a:cs typeface="Arial" pitchFamily="34" charset="-120"/>
              </a:rPr>
              <a:t>التطوير المستمر</a:t>
            </a:r>
            <a:endParaRPr lang="ar-SA" sz="1300" dirty="0"/>
          </a:p>
        </p:txBody>
      </p:sp>
      <p:sp>
        <p:nvSpPr>
          <p:cNvPr id="25" name="Text 21"/>
          <p:cNvSpPr txBox="1"/>
          <p:nvPr/>
        </p:nvSpPr>
        <p:spPr>
          <a:xfrm>
            <a:off x="1097280" y="6446520"/>
            <a:ext cx="6339535" cy="228600"/>
          </a:xfrm>
          <a:prstGeom prst="rect">
            <a:avLst/>
          </a:prstGeom>
          <a:noFill/>
          <a:ln/>
        </p:spPr>
        <p:txBody>
          <a:bodyPr wrap="square" lIns="0" tIns="0" rIns="0" bIns="0" rtlCol="0" anchor="ctr"/>
          <a:lstStyle/>
          <a:p>
            <a:pPr rtl="1" algn="r" indent="0" marL="0">
              <a:buNone/>
            </a:pPr>
            <a:r>
              <a:rPr lang="ar-SA" altLang="en-US" sz="1000" dirty="0">
                <a:solidFill>
                  <a:srgbClr val="667080"/>
                </a:solidFill>
                <a:latin typeface="Arial" pitchFamily="34" charset="0"/>
                <a:ea typeface="Arial" pitchFamily="34" charset="-122"/>
                <a:cs typeface="Arial" pitchFamily="34" charset="-120"/>
              </a:rPr>
              <a:t>الرؤية الجديدة التكاملية  ·  ملف الشركة</a:t>
            </a:r>
            <a:endParaRPr lang="ar-SA" sz="1000" dirty="0"/>
          </a:p>
        </p:txBody>
      </p:sp>
      <p:sp>
        <p:nvSpPr>
          <p:cNvPr id="26" name="Text 22"/>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1060" b="1" dirty="0">
                <a:solidFill>
                  <a:srgbClr val="667080"/>
                </a:solidFill>
                <a:latin typeface="Arial" pitchFamily="34" charset="0"/>
                <a:ea typeface="Arial" pitchFamily="34" charset="-122"/>
                <a:cs typeface="Arial" pitchFamily="34" charset="-120"/>
              </a:rPr>
              <a:t>03</a:t>
            </a:r>
            <a:endParaRPr lang="ar-SA" sz="10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0"/>
        </a:solidFill>
      </p:bgPr>
    </p:bg>
    <p:spTree>
      <p:nvGrpSpPr>
        <p:cNvPr id="1" name=""/>
        <p:cNvGrpSpPr/>
        <p:nvPr/>
      </p:nvGrpSpPr>
      <p:grpSpPr>
        <a:xfrm>
          <a:off x="0" y="0"/>
          <a:ext cx="0" cy="0"/>
          <a:chOff x="0" y="0"/>
          <a:chExt cx="0" cy="0"/>
        </a:xfrm>
      </p:grpSpPr>
      <p:pic>
        <p:nvPicPr>
          <p:cNvPr id="2" name="Image 0" descr="/home/user/NVIConsult/build/assets/logo_mark.png">    </p:cNvPr>
          <p:cNvPicPr>
            <a:picLocks noChangeAspect="1"/>
          </p:cNvPicPr>
          <p:nvPr/>
        </p:nvPicPr>
        <p:blipFill>
          <a:blip r:embed="rId1"/>
          <a:stretch>
            <a:fillRect/>
          </a:stretch>
        </p:blipFill>
        <p:spPr>
          <a:xfrm>
            <a:off x="548640" y="548640"/>
            <a:ext cx="2194560" cy="1165112"/>
          </a:xfrm>
          <a:prstGeom prst="rect">
            <a:avLst/>
          </a:prstGeom>
        </p:spPr>
      </p:pic>
      <p:pic>
        <p:nvPicPr>
          <p:cNvPr id="3" name="Image 1" descr="/home/user/NVIConsult/build/assets/logo_mark.png">    </p:cNvPr>
          <p:cNvPicPr>
            <a:picLocks noChangeAspect="1"/>
          </p:cNvPicPr>
          <p:nvPr/>
        </p:nvPicPr>
        <p:blipFill>
          <a:blip r:embed="rId2"/>
          <a:stretch>
            <a:fillRect/>
          </a:stretch>
        </p:blipFill>
        <p:spPr>
          <a:xfrm>
            <a:off x="11315813" y="621792"/>
            <a:ext cx="327242" cy="173736"/>
          </a:xfrm>
          <a:prstGeom prst="rect">
            <a:avLst/>
          </a:prstGeom>
        </p:spPr>
      </p:pic>
      <p:sp>
        <p:nvSpPr>
          <p:cNvPr id="4" name="Text 0"/>
          <p:cNvSpPr txBox="1"/>
          <p:nvPr/>
        </p:nvSpPr>
        <p:spPr>
          <a:xfrm>
            <a:off x="4327855" y="594360"/>
            <a:ext cx="6858000" cy="256032"/>
          </a:xfrm>
          <a:prstGeom prst="rect">
            <a:avLst/>
          </a:prstGeom>
          <a:noFill/>
          <a:ln/>
        </p:spPr>
        <p:txBody>
          <a:bodyPr wrap="square" lIns="0" tIns="0" rIns="0" bIns="0" rtlCol="0" anchor="ctr"/>
          <a:lstStyle/>
          <a:p>
            <a:pPr rtl="1" algn="r" indent="0" marL="0">
              <a:buNone/>
            </a:pPr>
            <a:r>
              <a:rPr lang="ar-SA" altLang="en-US" sz="1300" b="1" dirty="0">
                <a:solidFill>
                  <a:srgbClr val="2DB8E0"/>
                </a:solidFill>
                <a:latin typeface="Arial" pitchFamily="34" charset="0"/>
                <a:ea typeface="Arial" pitchFamily="34" charset="-122"/>
                <a:cs typeface="Arial" pitchFamily="34" charset="-120"/>
              </a:rPr>
              <a:t>03  ·  منهجنا</a:t>
            </a:r>
            <a:endParaRPr lang="ar-SA" sz="1300" dirty="0"/>
          </a:p>
        </p:txBody>
      </p:sp>
      <p:sp>
        <p:nvSpPr>
          <p:cNvPr id="5" name="Text 1"/>
          <p:cNvSpPr txBox="1"/>
          <p:nvPr/>
        </p:nvSpPr>
        <p:spPr>
          <a:xfrm>
            <a:off x="3779215" y="960120"/>
            <a:ext cx="7863840" cy="731520"/>
          </a:xfrm>
          <a:prstGeom prst="rect">
            <a:avLst/>
          </a:prstGeom>
          <a:noFill/>
          <a:ln/>
        </p:spPr>
        <p:txBody>
          <a:bodyPr wrap="square" lIns="0" tIns="0" rIns="0" bIns="0" rtlCol="0" anchor="t"/>
          <a:lstStyle/>
          <a:p>
            <a:pPr rtl="1" algn="r" indent="0" marL="0">
              <a:buNone/>
            </a:pPr>
            <a:r>
              <a:rPr lang="ar-SA" altLang="en-US" sz="4000" b="1" dirty="0">
                <a:solidFill>
                  <a:srgbClr val="FFFFFF"/>
                </a:solidFill>
                <a:latin typeface="Arial" pitchFamily="34" charset="0"/>
                <a:ea typeface="Arial" pitchFamily="34" charset="-122"/>
                <a:cs typeface="Arial" pitchFamily="34" charset="-120"/>
              </a:rPr>
              <a:t>بناءٌ خالٍ من القلق</a:t>
            </a:r>
            <a:endParaRPr lang="ar-SA" sz="4000" dirty="0"/>
          </a:p>
        </p:txBody>
      </p:sp>
      <p:sp>
        <p:nvSpPr>
          <p:cNvPr id="6" name="Text 2"/>
          <p:cNvSpPr txBox="1"/>
          <p:nvPr/>
        </p:nvSpPr>
        <p:spPr>
          <a:xfrm>
            <a:off x="3779215" y="1783080"/>
            <a:ext cx="7863840" cy="118872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C3CBD6"/>
                </a:solidFill>
                <a:latin typeface="Arial" pitchFamily="34" charset="0"/>
                <a:ea typeface="Arial" pitchFamily="34" charset="-122"/>
                <a:cs typeface="Arial" pitchFamily="34" charset="-120"/>
              </a:rPr>
              <a:t>نحن لا نبني المنشآت فحسب، بل نلتزم بتحسين حياة الناس من خلال البيئة المبنية. إنجاز العمل بالشكل الصحيح من المرة الأولى، مع صيانة وقائية مخطط لها منذ البداية، يحقق لعملائنا وفورات على المدى الطويل.</a:t>
            </a:r>
            <a:endParaRPr lang="ar-SA" sz="1500" dirty="0"/>
          </a:p>
        </p:txBody>
      </p:sp>
      <p:sp>
        <p:nvSpPr>
          <p:cNvPr id="7" name="Shape 3"/>
          <p:cNvSpPr/>
          <p:nvPr/>
        </p:nvSpPr>
        <p:spPr>
          <a:xfrm>
            <a:off x="9040901" y="3337560"/>
            <a:ext cx="2602154" cy="2834640"/>
          </a:xfrm>
          <a:prstGeom prst="rect">
            <a:avLst/>
          </a:prstGeom>
          <a:solidFill>
            <a:srgbClr val="182131"/>
          </a:solidFill>
          <a:ln w="12700">
            <a:solidFill>
              <a:srgbClr val="182131"/>
            </a:solidFill>
            <a:prstDash val="solid"/>
          </a:ln>
        </p:spPr>
      </p:sp>
      <p:sp>
        <p:nvSpPr>
          <p:cNvPr id="8" name="Shape 4"/>
          <p:cNvSpPr/>
          <p:nvPr/>
        </p:nvSpPr>
        <p:spPr>
          <a:xfrm>
            <a:off x="10591495" y="3703320"/>
            <a:ext cx="731520" cy="731520"/>
          </a:xfrm>
          <a:prstGeom prst="ellipse">
            <a:avLst/>
          </a:prstGeom>
          <a:solidFill>
            <a:srgbClr val="E5177B"/>
          </a:solidFill>
          <a:ln w="12700">
            <a:solidFill>
              <a:srgbClr val="E5177B"/>
            </a:solidFill>
            <a:prstDash val="solid"/>
          </a:ln>
        </p:spPr>
      </p:sp>
      <p:pic>
        <p:nvPicPr>
          <p:cNvPr id="9" name="Image 2" descr="preencoded.png">    </p:cNvPr>
          <p:cNvPicPr>
            <a:picLocks noChangeAspect="1"/>
          </p:cNvPicPr>
          <p:nvPr/>
        </p:nvPicPr>
        <p:blipFill>
          <a:blip r:embed="rId3"/>
          <a:stretch>
            <a:fillRect/>
          </a:stretch>
        </p:blipFill>
        <p:spPr>
          <a:xfrm>
            <a:off x="10746943" y="3858768"/>
            <a:ext cx="420624" cy="420624"/>
          </a:xfrm>
          <a:prstGeom prst="rect">
            <a:avLst/>
          </a:prstGeom>
        </p:spPr>
      </p:pic>
      <p:sp>
        <p:nvSpPr>
          <p:cNvPr id="10" name="Text 5"/>
          <p:cNvSpPr txBox="1"/>
          <p:nvPr/>
        </p:nvSpPr>
        <p:spPr>
          <a:xfrm>
            <a:off x="9360941" y="3749040"/>
            <a:ext cx="548640" cy="320040"/>
          </a:xfrm>
          <a:prstGeom prst="rect">
            <a:avLst/>
          </a:prstGeom>
          <a:noFill/>
          <a:ln/>
        </p:spPr>
        <p:txBody>
          <a:bodyPr wrap="square" lIns="0" tIns="0" rIns="0" bIns="0" rtlCol="0" anchor="t"/>
          <a:lstStyle/>
          <a:p>
            <a:pPr rtl="1" algn="l" indent="0" marL="0">
              <a:buNone/>
            </a:pPr>
            <a:r>
              <a:rPr lang="ar-SA" altLang="en-US" sz="1420" b="1" dirty="0">
                <a:solidFill>
                  <a:srgbClr val="5C6778"/>
                </a:solidFill>
                <a:latin typeface="Arial" pitchFamily="34" charset="0"/>
                <a:ea typeface="Arial" pitchFamily="34" charset="-122"/>
                <a:cs typeface="Arial" pitchFamily="34" charset="-120"/>
              </a:rPr>
              <a:t>01</a:t>
            </a:r>
            <a:endParaRPr lang="ar-SA" sz="1420" dirty="0"/>
          </a:p>
        </p:txBody>
      </p:sp>
      <p:sp>
        <p:nvSpPr>
          <p:cNvPr id="11" name="Text 6"/>
          <p:cNvSpPr txBox="1"/>
          <p:nvPr/>
        </p:nvSpPr>
        <p:spPr>
          <a:xfrm>
            <a:off x="9360941" y="4617720"/>
            <a:ext cx="1962074" cy="868680"/>
          </a:xfrm>
          <a:prstGeom prst="rect">
            <a:avLst/>
          </a:prstGeom>
          <a:noFill/>
          <a:ln/>
        </p:spPr>
        <p:txBody>
          <a:bodyPr wrap="square" lIns="0" tIns="0" rIns="0" bIns="0" rtlCol="0" anchor="t"/>
          <a:lstStyle/>
          <a:p>
            <a:pPr rtl="1" algn="r" indent="0" marL="0">
              <a:buNone/>
            </a:pPr>
            <a:r>
              <a:rPr lang="ar-SA" altLang="en-US" sz="1700" b="1" dirty="0">
                <a:solidFill>
                  <a:srgbClr val="FFFFFF"/>
                </a:solidFill>
                <a:latin typeface="Arial" pitchFamily="34" charset="0"/>
                <a:ea typeface="Arial" pitchFamily="34" charset="-122"/>
                <a:cs typeface="Arial" pitchFamily="34" charset="-120"/>
              </a:rPr>
              <a:t>هندسة دقيقة</a:t>
            </a:r>
            <a:endParaRPr lang="ar-SA" sz="1700" dirty="0"/>
          </a:p>
        </p:txBody>
      </p:sp>
      <p:sp>
        <p:nvSpPr>
          <p:cNvPr id="12" name="Text 7"/>
          <p:cNvSpPr txBox="1"/>
          <p:nvPr/>
        </p:nvSpPr>
        <p:spPr>
          <a:xfrm>
            <a:off x="9360941" y="5532120"/>
            <a:ext cx="1962074" cy="548640"/>
          </a:xfrm>
          <a:prstGeom prst="rect">
            <a:avLst/>
          </a:prstGeom>
          <a:noFill/>
          <a:ln/>
        </p:spPr>
        <p:txBody>
          <a:bodyPr wrap="square" lIns="0" tIns="0" rIns="0" bIns="0" rtlCol="0" anchor="t"/>
          <a:lstStyle/>
          <a:p>
            <a:pPr rtl="1" algn="r" indent="0" marL="0">
              <a:buNone/>
            </a:pPr>
            <a:r>
              <a:rPr lang="ar-SA" altLang="en-US" sz="1250" dirty="0">
                <a:solidFill>
                  <a:srgbClr val="B4BDC9"/>
                </a:solidFill>
                <a:latin typeface="Arial" pitchFamily="34" charset="0"/>
                <a:ea typeface="Arial" pitchFamily="34" charset="-122"/>
                <a:cs typeface="Arial" pitchFamily="34" charset="-120"/>
              </a:rPr>
              <a:t>إنجاز العمل بالشكل الصحيح من المرة الأولى.</a:t>
            </a:r>
            <a:endParaRPr lang="ar-SA" sz="1250" dirty="0"/>
          </a:p>
        </p:txBody>
      </p:sp>
      <p:sp>
        <p:nvSpPr>
          <p:cNvPr id="13" name="Shape 8"/>
          <p:cNvSpPr/>
          <p:nvPr/>
        </p:nvSpPr>
        <p:spPr>
          <a:xfrm>
            <a:off x="6210148" y="3337560"/>
            <a:ext cx="2602154" cy="2834640"/>
          </a:xfrm>
          <a:prstGeom prst="rect">
            <a:avLst/>
          </a:prstGeom>
          <a:solidFill>
            <a:srgbClr val="182131"/>
          </a:solidFill>
          <a:ln w="12700">
            <a:solidFill>
              <a:srgbClr val="182131"/>
            </a:solidFill>
            <a:prstDash val="solid"/>
          </a:ln>
        </p:spPr>
      </p:sp>
      <p:sp>
        <p:nvSpPr>
          <p:cNvPr id="14" name="Shape 9"/>
          <p:cNvSpPr/>
          <p:nvPr/>
        </p:nvSpPr>
        <p:spPr>
          <a:xfrm>
            <a:off x="7760741" y="3703320"/>
            <a:ext cx="731520" cy="731520"/>
          </a:xfrm>
          <a:prstGeom prst="ellipse">
            <a:avLst/>
          </a:prstGeom>
          <a:solidFill>
            <a:srgbClr val="2DB8E0"/>
          </a:solidFill>
          <a:ln w="12700">
            <a:solidFill>
              <a:srgbClr val="2DB8E0"/>
            </a:solidFill>
            <a:prstDash val="solid"/>
          </a:ln>
        </p:spPr>
      </p:sp>
      <p:pic>
        <p:nvPicPr>
          <p:cNvPr id="15" name="Image 3" descr="preencoded.png">    </p:cNvPr>
          <p:cNvPicPr>
            <a:picLocks noChangeAspect="1"/>
          </p:cNvPicPr>
          <p:nvPr/>
        </p:nvPicPr>
        <p:blipFill>
          <a:blip r:embed="rId4"/>
          <a:stretch>
            <a:fillRect/>
          </a:stretch>
        </p:blipFill>
        <p:spPr>
          <a:xfrm>
            <a:off x="7916189" y="3858768"/>
            <a:ext cx="420624" cy="420624"/>
          </a:xfrm>
          <a:prstGeom prst="rect">
            <a:avLst/>
          </a:prstGeom>
        </p:spPr>
      </p:pic>
      <p:sp>
        <p:nvSpPr>
          <p:cNvPr id="16" name="Text 10"/>
          <p:cNvSpPr txBox="1"/>
          <p:nvPr/>
        </p:nvSpPr>
        <p:spPr>
          <a:xfrm>
            <a:off x="6530188" y="3749040"/>
            <a:ext cx="548640" cy="320040"/>
          </a:xfrm>
          <a:prstGeom prst="rect">
            <a:avLst/>
          </a:prstGeom>
          <a:noFill/>
          <a:ln/>
        </p:spPr>
        <p:txBody>
          <a:bodyPr wrap="square" lIns="0" tIns="0" rIns="0" bIns="0" rtlCol="0" anchor="t"/>
          <a:lstStyle/>
          <a:p>
            <a:pPr rtl="1" algn="l" indent="0" marL="0">
              <a:buNone/>
            </a:pPr>
            <a:r>
              <a:rPr lang="ar-SA" altLang="en-US" sz="1420" b="1" dirty="0">
                <a:solidFill>
                  <a:srgbClr val="5C6778"/>
                </a:solidFill>
                <a:latin typeface="Arial" pitchFamily="34" charset="0"/>
                <a:ea typeface="Arial" pitchFamily="34" charset="-122"/>
                <a:cs typeface="Arial" pitchFamily="34" charset="-120"/>
              </a:rPr>
              <a:t>02</a:t>
            </a:r>
            <a:endParaRPr lang="ar-SA" sz="1420" dirty="0"/>
          </a:p>
        </p:txBody>
      </p:sp>
      <p:sp>
        <p:nvSpPr>
          <p:cNvPr id="17" name="Text 11"/>
          <p:cNvSpPr txBox="1"/>
          <p:nvPr/>
        </p:nvSpPr>
        <p:spPr>
          <a:xfrm>
            <a:off x="6530188" y="4617720"/>
            <a:ext cx="1962074" cy="868680"/>
          </a:xfrm>
          <a:prstGeom prst="rect">
            <a:avLst/>
          </a:prstGeom>
          <a:noFill/>
          <a:ln/>
        </p:spPr>
        <p:txBody>
          <a:bodyPr wrap="square" lIns="0" tIns="0" rIns="0" bIns="0" rtlCol="0" anchor="t"/>
          <a:lstStyle/>
          <a:p>
            <a:pPr rtl="1" algn="r" indent="0" marL="0">
              <a:buNone/>
            </a:pPr>
            <a:r>
              <a:rPr lang="ar-SA" altLang="en-US" sz="1700" b="1" dirty="0">
                <a:solidFill>
                  <a:srgbClr val="FFFFFF"/>
                </a:solidFill>
                <a:latin typeface="Arial" pitchFamily="34" charset="0"/>
                <a:ea typeface="Arial" pitchFamily="34" charset="-122"/>
                <a:cs typeface="Arial" pitchFamily="34" charset="-120"/>
              </a:rPr>
              <a:t>إدارة مشاريع تهتم بالتفاصيل</a:t>
            </a:r>
            <a:endParaRPr lang="ar-SA" sz="1700" dirty="0"/>
          </a:p>
        </p:txBody>
      </p:sp>
      <p:sp>
        <p:nvSpPr>
          <p:cNvPr id="18" name="Text 12"/>
          <p:cNvSpPr txBox="1"/>
          <p:nvPr/>
        </p:nvSpPr>
        <p:spPr>
          <a:xfrm>
            <a:off x="6530188" y="5532120"/>
            <a:ext cx="1962074" cy="548640"/>
          </a:xfrm>
          <a:prstGeom prst="rect">
            <a:avLst/>
          </a:prstGeom>
          <a:noFill/>
          <a:ln/>
        </p:spPr>
        <p:txBody>
          <a:bodyPr wrap="square" lIns="0" tIns="0" rIns="0" bIns="0" rtlCol="0" anchor="t"/>
          <a:lstStyle/>
          <a:p>
            <a:pPr rtl="1" algn="r" indent="0" marL="0">
              <a:buNone/>
            </a:pPr>
            <a:r>
              <a:rPr lang="ar-SA" altLang="en-US" sz="1250" dirty="0">
                <a:solidFill>
                  <a:srgbClr val="B4BDC9"/>
                </a:solidFill>
                <a:latin typeface="Arial" pitchFamily="34" charset="0"/>
                <a:ea typeface="Arial" pitchFamily="34" charset="-122"/>
                <a:cs typeface="Arial" pitchFamily="34" charset="-120"/>
              </a:rPr>
              <a:t>تخطيط كل مرحلة ومتابعتها وضبطها.</a:t>
            </a:r>
            <a:endParaRPr lang="ar-SA" sz="1250" dirty="0"/>
          </a:p>
        </p:txBody>
      </p:sp>
      <p:sp>
        <p:nvSpPr>
          <p:cNvPr id="19" name="Shape 13"/>
          <p:cNvSpPr/>
          <p:nvPr/>
        </p:nvSpPr>
        <p:spPr>
          <a:xfrm>
            <a:off x="3379394" y="3337560"/>
            <a:ext cx="2602154" cy="2834640"/>
          </a:xfrm>
          <a:prstGeom prst="rect">
            <a:avLst/>
          </a:prstGeom>
          <a:solidFill>
            <a:srgbClr val="182131"/>
          </a:solidFill>
          <a:ln w="12700">
            <a:solidFill>
              <a:srgbClr val="182131"/>
            </a:solidFill>
            <a:prstDash val="solid"/>
          </a:ln>
        </p:spPr>
      </p:sp>
      <p:sp>
        <p:nvSpPr>
          <p:cNvPr id="20" name="Shape 14"/>
          <p:cNvSpPr/>
          <p:nvPr/>
        </p:nvSpPr>
        <p:spPr>
          <a:xfrm>
            <a:off x="4929988" y="3703320"/>
            <a:ext cx="731520" cy="731520"/>
          </a:xfrm>
          <a:prstGeom prst="ellipse">
            <a:avLst/>
          </a:prstGeom>
          <a:solidFill>
            <a:srgbClr val="FBBA16"/>
          </a:solidFill>
          <a:ln w="12700">
            <a:solidFill>
              <a:srgbClr val="FBBA16"/>
            </a:solidFill>
            <a:prstDash val="solid"/>
          </a:ln>
        </p:spPr>
      </p:sp>
      <p:pic>
        <p:nvPicPr>
          <p:cNvPr id="21" name="Image 4" descr="preencoded.png">    </p:cNvPr>
          <p:cNvPicPr>
            <a:picLocks noChangeAspect="1"/>
          </p:cNvPicPr>
          <p:nvPr/>
        </p:nvPicPr>
        <p:blipFill>
          <a:blip r:embed="rId5"/>
          <a:stretch>
            <a:fillRect/>
          </a:stretch>
        </p:blipFill>
        <p:spPr>
          <a:xfrm>
            <a:off x="5085436" y="3858768"/>
            <a:ext cx="420624" cy="420624"/>
          </a:xfrm>
          <a:prstGeom prst="rect">
            <a:avLst/>
          </a:prstGeom>
        </p:spPr>
      </p:pic>
      <p:sp>
        <p:nvSpPr>
          <p:cNvPr id="22" name="Text 15"/>
          <p:cNvSpPr txBox="1"/>
          <p:nvPr/>
        </p:nvSpPr>
        <p:spPr>
          <a:xfrm>
            <a:off x="3699434" y="3749040"/>
            <a:ext cx="548640" cy="320040"/>
          </a:xfrm>
          <a:prstGeom prst="rect">
            <a:avLst/>
          </a:prstGeom>
          <a:noFill/>
          <a:ln/>
        </p:spPr>
        <p:txBody>
          <a:bodyPr wrap="square" lIns="0" tIns="0" rIns="0" bIns="0" rtlCol="0" anchor="t"/>
          <a:lstStyle/>
          <a:p>
            <a:pPr rtl="1" algn="l" indent="0" marL="0">
              <a:buNone/>
            </a:pPr>
            <a:r>
              <a:rPr lang="ar-SA" altLang="en-US" sz="1420" b="1" dirty="0">
                <a:solidFill>
                  <a:srgbClr val="5C6778"/>
                </a:solidFill>
                <a:latin typeface="Arial" pitchFamily="34" charset="0"/>
                <a:ea typeface="Arial" pitchFamily="34" charset="-122"/>
                <a:cs typeface="Arial" pitchFamily="34" charset="-120"/>
              </a:rPr>
              <a:t>03</a:t>
            </a:r>
            <a:endParaRPr lang="ar-SA" sz="1420" dirty="0"/>
          </a:p>
        </p:txBody>
      </p:sp>
      <p:sp>
        <p:nvSpPr>
          <p:cNvPr id="23" name="Text 16"/>
          <p:cNvSpPr txBox="1"/>
          <p:nvPr/>
        </p:nvSpPr>
        <p:spPr>
          <a:xfrm>
            <a:off x="3699434" y="4617720"/>
            <a:ext cx="1962074" cy="868680"/>
          </a:xfrm>
          <a:prstGeom prst="rect">
            <a:avLst/>
          </a:prstGeom>
          <a:noFill/>
          <a:ln/>
        </p:spPr>
        <p:txBody>
          <a:bodyPr wrap="square" lIns="0" tIns="0" rIns="0" bIns="0" rtlCol="0" anchor="t"/>
          <a:lstStyle/>
          <a:p>
            <a:pPr rtl="1" algn="r" indent="0" marL="0">
              <a:buNone/>
            </a:pPr>
            <a:r>
              <a:rPr lang="ar-SA" altLang="en-US" sz="1700" b="1" dirty="0">
                <a:solidFill>
                  <a:srgbClr val="FFFFFF"/>
                </a:solidFill>
                <a:latin typeface="Arial" pitchFamily="34" charset="0"/>
                <a:ea typeface="Arial" pitchFamily="34" charset="-122"/>
                <a:cs typeface="Arial" pitchFamily="34" charset="-120"/>
              </a:rPr>
              <a:t>تواصل في الوقت المناسب</a:t>
            </a:r>
            <a:endParaRPr lang="ar-SA" sz="1700" dirty="0"/>
          </a:p>
        </p:txBody>
      </p:sp>
      <p:sp>
        <p:nvSpPr>
          <p:cNvPr id="24" name="Text 17"/>
          <p:cNvSpPr txBox="1"/>
          <p:nvPr/>
        </p:nvSpPr>
        <p:spPr>
          <a:xfrm>
            <a:off x="3699434" y="5532120"/>
            <a:ext cx="1962074" cy="548640"/>
          </a:xfrm>
          <a:prstGeom prst="rect">
            <a:avLst/>
          </a:prstGeom>
          <a:noFill/>
          <a:ln/>
        </p:spPr>
        <p:txBody>
          <a:bodyPr wrap="square" lIns="0" tIns="0" rIns="0" bIns="0" rtlCol="0" anchor="t"/>
          <a:lstStyle/>
          <a:p>
            <a:pPr rtl="1" algn="r" indent="0" marL="0">
              <a:buNone/>
            </a:pPr>
            <a:r>
              <a:rPr lang="ar-SA" altLang="en-US" sz="1250" dirty="0">
                <a:solidFill>
                  <a:srgbClr val="B4BDC9"/>
                </a:solidFill>
                <a:latin typeface="Arial" pitchFamily="34" charset="0"/>
                <a:ea typeface="Arial" pitchFamily="34" charset="-122"/>
                <a:cs typeface="Arial" pitchFamily="34" charset="-120"/>
              </a:rPr>
              <a:t>إطلاع العميل على سير العمل في كل مرحلة.</a:t>
            </a:r>
            <a:endParaRPr lang="ar-SA" sz="1250" dirty="0"/>
          </a:p>
        </p:txBody>
      </p:sp>
      <p:sp>
        <p:nvSpPr>
          <p:cNvPr id="25" name="Shape 18"/>
          <p:cNvSpPr/>
          <p:nvPr/>
        </p:nvSpPr>
        <p:spPr>
          <a:xfrm>
            <a:off x="548640" y="3337560"/>
            <a:ext cx="2602154" cy="2834640"/>
          </a:xfrm>
          <a:prstGeom prst="rect">
            <a:avLst/>
          </a:prstGeom>
          <a:solidFill>
            <a:srgbClr val="182131"/>
          </a:solidFill>
          <a:ln w="12700">
            <a:solidFill>
              <a:srgbClr val="182131"/>
            </a:solidFill>
            <a:prstDash val="solid"/>
          </a:ln>
        </p:spPr>
      </p:sp>
      <p:sp>
        <p:nvSpPr>
          <p:cNvPr id="26" name="Shape 19"/>
          <p:cNvSpPr/>
          <p:nvPr/>
        </p:nvSpPr>
        <p:spPr>
          <a:xfrm>
            <a:off x="2099234" y="3703320"/>
            <a:ext cx="731520" cy="731520"/>
          </a:xfrm>
          <a:prstGeom prst="ellipse">
            <a:avLst/>
          </a:prstGeom>
          <a:solidFill>
            <a:srgbClr val="5B54A4"/>
          </a:solidFill>
          <a:ln w="12700">
            <a:solidFill>
              <a:srgbClr val="5B54A4"/>
            </a:solidFill>
            <a:prstDash val="solid"/>
          </a:ln>
        </p:spPr>
      </p:sp>
      <p:pic>
        <p:nvPicPr>
          <p:cNvPr id="27" name="Image 5" descr="preencoded.png">    </p:cNvPr>
          <p:cNvPicPr>
            <a:picLocks noChangeAspect="1"/>
          </p:cNvPicPr>
          <p:nvPr/>
        </p:nvPicPr>
        <p:blipFill>
          <a:blip r:embed="rId6"/>
          <a:stretch>
            <a:fillRect/>
          </a:stretch>
        </p:blipFill>
        <p:spPr>
          <a:xfrm>
            <a:off x="2254682" y="3858768"/>
            <a:ext cx="420624" cy="420624"/>
          </a:xfrm>
          <a:prstGeom prst="rect">
            <a:avLst/>
          </a:prstGeom>
        </p:spPr>
      </p:pic>
      <p:sp>
        <p:nvSpPr>
          <p:cNvPr id="28" name="Text 20"/>
          <p:cNvSpPr txBox="1"/>
          <p:nvPr/>
        </p:nvSpPr>
        <p:spPr>
          <a:xfrm>
            <a:off x="868680" y="3749040"/>
            <a:ext cx="548640" cy="320040"/>
          </a:xfrm>
          <a:prstGeom prst="rect">
            <a:avLst/>
          </a:prstGeom>
          <a:noFill/>
          <a:ln/>
        </p:spPr>
        <p:txBody>
          <a:bodyPr wrap="square" lIns="0" tIns="0" rIns="0" bIns="0" rtlCol="0" anchor="t"/>
          <a:lstStyle/>
          <a:p>
            <a:pPr rtl="1" algn="l" indent="0" marL="0">
              <a:buNone/>
            </a:pPr>
            <a:r>
              <a:rPr lang="ar-SA" altLang="en-US" sz="1420" b="1" dirty="0">
                <a:solidFill>
                  <a:srgbClr val="5C6778"/>
                </a:solidFill>
                <a:latin typeface="Arial" pitchFamily="34" charset="0"/>
                <a:ea typeface="Arial" pitchFamily="34" charset="-122"/>
                <a:cs typeface="Arial" pitchFamily="34" charset="-120"/>
              </a:rPr>
              <a:t>04</a:t>
            </a:r>
            <a:endParaRPr lang="ar-SA" sz="1420" dirty="0"/>
          </a:p>
        </p:txBody>
      </p:sp>
      <p:sp>
        <p:nvSpPr>
          <p:cNvPr id="29" name="Text 21"/>
          <p:cNvSpPr txBox="1"/>
          <p:nvPr/>
        </p:nvSpPr>
        <p:spPr>
          <a:xfrm>
            <a:off x="868680" y="4617720"/>
            <a:ext cx="1962074" cy="868680"/>
          </a:xfrm>
          <a:prstGeom prst="rect">
            <a:avLst/>
          </a:prstGeom>
          <a:noFill/>
          <a:ln/>
        </p:spPr>
        <p:txBody>
          <a:bodyPr wrap="square" lIns="0" tIns="0" rIns="0" bIns="0" rtlCol="0" anchor="t"/>
          <a:lstStyle/>
          <a:p>
            <a:pPr rtl="1" algn="r" indent="0" marL="0">
              <a:buNone/>
            </a:pPr>
            <a:r>
              <a:rPr lang="ar-SA" altLang="en-US" sz="1700" b="1" dirty="0">
                <a:solidFill>
                  <a:srgbClr val="FFFFFF"/>
                </a:solidFill>
                <a:latin typeface="Arial" pitchFamily="34" charset="0"/>
                <a:ea typeface="Arial" pitchFamily="34" charset="-122"/>
                <a:cs typeface="Arial" pitchFamily="34" charset="-120"/>
              </a:rPr>
              <a:t>صيانة وقائية</a:t>
            </a:r>
            <a:endParaRPr lang="ar-SA" sz="1700" dirty="0"/>
          </a:p>
        </p:txBody>
      </p:sp>
      <p:sp>
        <p:nvSpPr>
          <p:cNvPr id="30" name="Text 22"/>
          <p:cNvSpPr txBox="1"/>
          <p:nvPr/>
        </p:nvSpPr>
        <p:spPr>
          <a:xfrm>
            <a:off x="868680" y="5532120"/>
            <a:ext cx="1962074" cy="548640"/>
          </a:xfrm>
          <a:prstGeom prst="rect">
            <a:avLst/>
          </a:prstGeom>
          <a:noFill/>
          <a:ln/>
        </p:spPr>
        <p:txBody>
          <a:bodyPr wrap="square" lIns="0" tIns="0" rIns="0" bIns="0" rtlCol="0" anchor="t"/>
          <a:lstStyle/>
          <a:p>
            <a:pPr rtl="1" algn="r" indent="0" marL="0">
              <a:buNone/>
            </a:pPr>
            <a:r>
              <a:rPr lang="ar-SA" altLang="en-US" sz="1250" dirty="0">
                <a:solidFill>
                  <a:srgbClr val="B4BDC9"/>
                </a:solidFill>
                <a:latin typeface="Arial" pitchFamily="34" charset="0"/>
                <a:ea typeface="Arial" pitchFamily="34" charset="-122"/>
                <a:cs typeface="Arial" pitchFamily="34" charset="-120"/>
              </a:rPr>
              <a:t>مخطط لها منذ اليوم الأول لتحقيق وفورات طويلة الأمد.</a:t>
            </a:r>
            <a:endParaRPr lang="ar-SA" sz="1250" dirty="0"/>
          </a:p>
        </p:txBody>
      </p:sp>
      <p:sp>
        <p:nvSpPr>
          <p:cNvPr id="31" name="Text 23"/>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1000" dirty="0">
                <a:solidFill>
                  <a:srgbClr val="8D97A5"/>
                </a:solidFill>
                <a:latin typeface="Arial" pitchFamily="34" charset="0"/>
                <a:ea typeface="Arial" pitchFamily="34" charset="-122"/>
                <a:cs typeface="Arial" pitchFamily="34" charset="-120"/>
              </a:rPr>
              <a:t>الرؤية الجديدة التكاملية  ·  ملف الشركة</a:t>
            </a:r>
            <a:endParaRPr lang="ar-SA" sz="1000" dirty="0"/>
          </a:p>
        </p:txBody>
      </p:sp>
      <p:sp>
        <p:nvSpPr>
          <p:cNvPr id="32" name="Text 24"/>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1060" b="1" dirty="0">
                <a:solidFill>
                  <a:srgbClr val="8D97A5"/>
                </a:solidFill>
                <a:latin typeface="Arial" pitchFamily="34" charset="0"/>
                <a:ea typeface="Arial" pitchFamily="34" charset="-122"/>
                <a:cs typeface="Arial" pitchFamily="34" charset="-120"/>
              </a:rPr>
              <a:t>04</a:t>
            </a:r>
            <a:endParaRPr lang="ar-SA" sz="10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4F7"/>
        </a:solidFill>
      </p:bgPr>
    </p:bg>
    <p:spTree>
      <p:nvGrpSpPr>
        <p:cNvPr id="1" name=""/>
        <p:cNvGrpSpPr/>
        <p:nvPr/>
      </p:nvGrpSpPr>
      <p:grpSpPr>
        <a:xfrm>
          <a:off x="0" y="0"/>
          <a:ext cx="0" cy="0"/>
          <a:chOff x="0" y="0"/>
          <a:chExt cx="0" cy="0"/>
        </a:xfrm>
      </p:grpSpPr>
      <p:pic>
        <p:nvPicPr>
          <p:cNvPr id="2" name="Image 0" descr="/home/user/NVIConsult/build/assets/logo_mark.png">    </p:cNvPr>
          <p:cNvPicPr>
            <a:picLocks noChangeAspect="1"/>
          </p:cNvPicPr>
          <p:nvPr/>
        </p:nvPicPr>
        <p:blipFill>
          <a:blip r:embed="rId1"/>
          <a:stretch>
            <a:fillRect/>
          </a:stretch>
        </p:blipFill>
        <p:spPr>
          <a:xfrm>
            <a:off x="11315813" y="530352"/>
            <a:ext cx="327242" cy="173736"/>
          </a:xfrm>
          <a:prstGeom prst="rect">
            <a:avLst/>
          </a:prstGeom>
        </p:spPr>
      </p:pic>
      <p:sp>
        <p:nvSpPr>
          <p:cNvPr id="3" name="Text 0"/>
          <p:cNvSpPr txBox="1"/>
          <p:nvPr/>
        </p:nvSpPr>
        <p:spPr>
          <a:xfrm>
            <a:off x="4327855" y="502920"/>
            <a:ext cx="6858000" cy="256032"/>
          </a:xfrm>
          <a:prstGeom prst="rect">
            <a:avLst/>
          </a:prstGeom>
          <a:noFill/>
          <a:ln/>
        </p:spPr>
        <p:txBody>
          <a:bodyPr wrap="square" lIns="0" tIns="0" rIns="0" bIns="0" rtlCol="0" anchor="ctr"/>
          <a:lstStyle/>
          <a:p>
            <a:pPr rtl="1" algn="r" indent="0" marL="0">
              <a:buNone/>
            </a:pPr>
            <a:r>
              <a:rPr lang="ar-SA" altLang="en-US" sz="1300" b="1" dirty="0">
                <a:solidFill>
                  <a:srgbClr val="E5177B"/>
                </a:solidFill>
                <a:latin typeface="Arial" pitchFamily="34" charset="0"/>
                <a:ea typeface="Arial" pitchFamily="34" charset="-122"/>
                <a:cs typeface="Arial" pitchFamily="34" charset="-120"/>
              </a:rPr>
              <a:t>04  ·  خدماتنا</a:t>
            </a:r>
            <a:endParaRPr lang="ar-SA" sz="1300" dirty="0"/>
          </a:p>
        </p:txBody>
      </p:sp>
      <p:sp>
        <p:nvSpPr>
          <p:cNvPr id="4" name="Text 1"/>
          <p:cNvSpPr txBox="1"/>
          <p:nvPr/>
        </p:nvSpPr>
        <p:spPr>
          <a:xfrm>
            <a:off x="548640" y="841248"/>
            <a:ext cx="11094415" cy="685800"/>
          </a:xfrm>
          <a:prstGeom prst="rect">
            <a:avLst/>
          </a:prstGeom>
          <a:noFill/>
          <a:ln/>
        </p:spPr>
        <p:txBody>
          <a:bodyPr wrap="square" lIns="0" tIns="0" rIns="0" bIns="0" rtlCol="0" anchor="t"/>
          <a:lstStyle/>
          <a:p>
            <a:pPr rtl="1" algn="r" indent="0" marL="0">
              <a:buNone/>
            </a:pPr>
            <a:r>
              <a:rPr lang="ar-SA" altLang="en-US" sz="3000" b="1" dirty="0">
                <a:solidFill>
                  <a:srgbClr val="0E1420"/>
                </a:solidFill>
                <a:latin typeface="Arial" pitchFamily="34" charset="0"/>
                <a:ea typeface="Arial" pitchFamily="34" charset="-122"/>
                <a:cs typeface="Arial" pitchFamily="34" charset="-120"/>
              </a:rPr>
              <a:t>ثمانية خطوط خدمات متكاملة، وشريك واحد مسؤول.</a:t>
            </a:r>
            <a:endParaRPr lang="ar-SA" sz="3000" dirty="0"/>
          </a:p>
        </p:txBody>
      </p:sp>
      <p:sp>
        <p:nvSpPr>
          <p:cNvPr id="5" name="Shape 2"/>
          <p:cNvSpPr/>
          <p:nvPr/>
        </p:nvSpPr>
        <p:spPr>
          <a:xfrm>
            <a:off x="9040901" y="173736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6" name="Image 1" descr="/home/user/NVIConsult/build/assets/t_eng.jpg">    </p:cNvPr>
          <p:cNvPicPr>
            <a:picLocks noChangeAspect="1"/>
          </p:cNvPicPr>
          <p:nvPr/>
        </p:nvPicPr>
        <p:blipFill>
          <a:blip r:embed="rId2"/>
          <a:stretch>
            <a:fillRect/>
          </a:stretch>
        </p:blipFill>
        <p:spPr>
          <a:xfrm>
            <a:off x="9040901" y="1737360"/>
            <a:ext cx="2602154" cy="1463040"/>
          </a:xfrm>
          <a:prstGeom prst="rect">
            <a:avLst/>
          </a:prstGeom>
        </p:spPr>
      </p:pic>
      <p:sp>
        <p:nvSpPr>
          <p:cNvPr id="7" name="Shape 3"/>
          <p:cNvSpPr/>
          <p:nvPr/>
        </p:nvSpPr>
        <p:spPr>
          <a:xfrm>
            <a:off x="10893247" y="3355848"/>
            <a:ext cx="566928" cy="237744"/>
          </a:xfrm>
          <a:prstGeom prst="parallelogram">
            <a:avLst/>
          </a:prstGeom>
          <a:solidFill>
            <a:srgbClr val="E5177B"/>
          </a:solidFill>
          <a:ln w="12700">
            <a:solidFill>
              <a:srgbClr val="E5177B"/>
            </a:solidFill>
            <a:prstDash val="solid"/>
          </a:ln>
        </p:spPr>
      </p:sp>
      <p:sp>
        <p:nvSpPr>
          <p:cNvPr id="8" name="Text 4"/>
          <p:cNvSpPr txBox="1"/>
          <p:nvPr/>
        </p:nvSpPr>
        <p:spPr>
          <a:xfrm>
            <a:off x="10893247" y="3355848"/>
            <a:ext cx="566928" cy="237744"/>
          </a:xfrm>
          <a:prstGeom prst="rect">
            <a:avLst/>
          </a:prstGeom>
          <a:noFill/>
          <a:ln/>
        </p:spPr>
        <p:txBody>
          <a:bodyPr wrap="square" lIns="0" tIns="0" rIns="0" bIns="0" rtlCol="0" anchor="ctr"/>
          <a:lstStyle/>
          <a:p>
            <a:pPr rtl="1" algn="ctr" indent="0" marL="0">
              <a:buNone/>
            </a:pPr>
            <a:r>
              <a:rPr lang="ar-SA" altLang="en-US" sz="1240" b="1" dirty="0">
                <a:solidFill>
                  <a:srgbClr val="FFFFFF"/>
                </a:solidFill>
                <a:latin typeface="Arial" pitchFamily="34" charset="0"/>
                <a:ea typeface="Arial" pitchFamily="34" charset="-122"/>
                <a:cs typeface="Arial" pitchFamily="34" charset="-120"/>
              </a:rPr>
              <a:t>01</a:t>
            </a:r>
            <a:endParaRPr lang="ar-SA" sz="1240" dirty="0"/>
          </a:p>
        </p:txBody>
      </p:sp>
      <p:sp>
        <p:nvSpPr>
          <p:cNvPr id="9" name="Text 5"/>
          <p:cNvSpPr txBox="1"/>
          <p:nvPr/>
        </p:nvSpPr>
        <p:spPr>
          <a:xfrm>
            <a:off x="9178061" y="329184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Arial" pitchFamily="34" charset="0"/>
                <a:ea typeface="Arial" pitchFamily="34" charset="-122"/>
                <a:cs typeface="Arial" pitchFamily="34" charset="-120"/>
              </a:rPr>
              <a:t>الهندسة والتخطيط</a:t>
            </a:r>
            <a:endParaRPr lang="ar-SA" sz="1350" dirty="0"/>
          </a:p>
        </p:txBody>
      </p:sp>
      <p:sp>
        <p:nvSpPr>
          <p:cNvPr id="10" name="Shape 6"/>
          <p:cNvSpPr/>
          <p:nvPr/>
        </p:nvSpPr>
        <p:spPr>
          <a:xfrm>
            <a:off x="6210148" y="173736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11" name="Image 2" descr="/home/user/NVIConsult/build/assets/t_str.jpg">    </p:cNvPr>
          <p:cNvPicPr>
            <a:picLocks noChangeAspect="1"/>
          </p:cNvPicPr>
          <p:nvPr/>
        </p:nvPicPr>
        <p:blipFill>
          <a:blip r:embed="rId3"/>
          <a:stretch>
            <a:fillRect/>
          </a:stretch>
        </p:blipFill>
        <p:spPr>
          <a:xfrm>
            <a:off x="6210148" y="1737360"/>
            <a:ext cx="2602154" cy="1463040"/>
          </a:xfrm>
          <a:prstGeom prst="rect">
            <a:avLst/>
          </a:prstGeom>
        </p:spPr>
      </p:pic>
      <p:sp>
        <p:nvSpPr>
          <p:cNvPr id="12" name="Shape 7"/>
          <p:cNvSpPr/>
          <p:nvPr/>
        </p:nvSpPr>
        <p:spPr>
          <a:xfrm>
            <a:off x="8062493" y="3355848"/>
            <a:ext cx="566928" cy="237744"/>
          </a:xfrm>
          <a:prstGeom prst="parallelogram">
            <a:avLst/>
          </a:prstGeom>
          <a:solidFill>
            <a:srgbClr val="2DB8E0"/>
          </a:solidFill>
          <a:ln w="12700">
            <a:solidFill>
              <a:srgbClr val="2DB8E0"/>
            </a:solidFill>
            <a:prstDash val="solid"/>
          </a:ln>
        </p:spPr>
      </p:sp>
      <p:sp>
        <p:nvSpPr>
          <p:cNvPr id="13" name="Text 8"/>
          <p:cNvSpPr txBox="1"/>
          <p:nvPr/>
        </p:nvSpPr>
        <p:spPr>
          <a:xfrm>
            <a:off x="8062493" y="3355848"/>
            <a:ext cx="566928" cy="237744"/>
          </a:xfrm>
          <a:prstGeom prst="rect">
            <a:avLst/>
          </a:prstGeom>
          <a:noFill/>
          <a:ln/>
        </p:spPr>
        <p:txBody>
          <a:bodyPr wrap="square" lIns="0" tIns="0" rIns="0" bIns="0" rtlCol="0" anchor="ctr"/>
          <a:lstStyle/>
          <a:p>
            <a:pPr rtl="1" algn="ctr" indent="0" marL="0">
              <a:buNone/>
            </a:pPr>
            <a:r>
              <a:rPr lang="ar-SA" altLang="en-US" sz="1240" b="1" dirty="0">
                <a:solidFill>
                  <a:srgbClr val="0E1420"/>
                </a:solidFill>
                <a:latin typeface="Arial" pitchFamily="34" charset="0"/>
                <a:ea typeface="Arial" pitchFamily="34" charset="-122"/>
                <a:cs typeface="Arial" pitchFamily="34" charset="-120"/>
              </a:rPr>
              <a:t>02</a:t>
            </a:r>
            <a:endParaRPr lang="ar-SA" sz="1240" dirty="0"/>
          </a:p>
        </p:txBody>
      </p:sp>
      <p:sp>
        <p:nvSpPr>
          <p:cNvPr id="14" name="Text 9"/>
          <p:cNvSpPr txBox="1"/>
          <p:nvPr/>
        </p:nvSpPr>
        <p:spPr>
          <a:xfrm>
            <a:off x="6347308" y="329184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Arial" pitchFamily="34" charset="0"/>
                <a:ea typeface="Arial" pitchFamily="34" charset="-122"/>
                <a:cs typeface="Arial" pitchFamily="34" charset="-120"/>
              </a:rPr>
              <a:t>المقاولات والأعمال الإنشائية</a:t>
            </a:r>
            <a:endParaRPr lang="ar-SA" sz="1350" dirty="0"/>
          </a:p>
        </p:txBody>
      </p:sp>
      <p:sp>
        <p:nvSpPr>
          <p:cNvPr id="15" name="Shape 10"/>
          <p:cNvSpPr/>
          <p:nvPr/>
        </p:nvSpPr>
        <p:spPr>
          <a:xfrm>
            <a:off x="3379394" y="173736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16" name="Image 3" descr="/home/user/NVIConsult/build/assets/t_fit.jpg">    </p:cNvPr>
          <p:cNvPicPr>
            <a:picLocks noChangeAspect="1"/>
          </p:cNvPicPr>
          <p:nvPr/>
        </p:nvPicPr>
        <p:blipFill>
          <a:blip r:embed="rId4"/>
          <a:stretch>
            <a:fillRect/>
          </a:stretch>
        </p:blipFill>
        <p:spPr>
          <a:xfrm>
            <a:off x="3379394" y="1737360"/>
            <a:ext cx="2602154" cy="1463040"/>
          </a:xfrm>
          <a:prstGeom prst="rect">
            <a:avLst/>
          </a:prstGeom>
        </p:spPr>
      </p:pic>
      <p:sp>
        <p:nvSpPr>
          <p:cNvPr id="17" name="Shape 11"/>
          <p:cNvSpPr/>
          <p:nvPr/>
        </p:nvSpPr>
        <p:spPr>
          <a:xfrm>
            <a:off x="5231740" y="3355848"/>
            <a:ext cx="566928" cy="237744"/>
          </a:xfrm>
          <a:prstGeom prst="parallelogram">
            <a:avLst/>
          </a:prstGeom>
          <a:solidFill>
            <a:srgbClr val="FBBA16"/>
          </a:solidFill>
          <a:ln w="12700">
            <a:solidFill>
              <a:srgbClr val="FBBA16"/>
            </a:solidFill>
            <a:prstDash val="solid"/>
          </a:ln>
        </p:spPr>
      </p:sp>
      <p:sp>
        <p:nvSpPr>
          <p:cNvPr id="18" name="Text 12"/>
          <p:cNvSpPr txBox="1"/>
          <p:nvPr/>
        </p:nvSpPr>
        <p:spPr>
          <a:xfrm>
            <a:off x="5231740" y="3355848"/>
            <a:ext cx="566928" cy="237744"/>
          </a:xfrm>
          <a:prstGeom prst="rect">
            <a:avLst/>
          </a:prstGeom>
          <a:noFill/>
          <a:ln/>
        </p:spPr>
        <p:txBody>
          <a:bodyPr wrap="square" lIns="0" tIns="0" rIns="0" bIns="0" rtlCol="0" anchor="ctr"/>
          <a:lstStyle/>
          <a:p>
            <a:pPr rtl="1" algn="ctr" indent="0" marL="0">
              <a:buNone/>
            </a:pPr>
            <a:r>
              <a:rPr lang="ar-SA" altLang="en-US" sz="1240" b="1" dirty="0">
                <a:solidFill>
                  <a:srgbClr val="0E1420"/>
                </a:solidFill>
                <a:latin typeface="Arial" pitchFamily="34" charset="0"/>
                <a:ea typeface="Arial" pitchFamily="34" charset="-122"/>
                <a:cs typeface="Arial" pitchFamily="34" charset="-120"/>
              </a:rPr>
              <a:t>03</a:t>
            </a:r>
            <a:endParaRPr lang="ar-SA" sz="1240" dirty="0"/>
          </a:p>
        </p:txBody>
      </p:sp>
      <p:sp>
        <p:nvSpPr>
          <p:cNvPr id="19" name="Text 13"/>
          <p:cNvSpPr txBox="1"/>
          <p:nvPr/>
        </p:nvSpPr>
        <p:spPr>
          <a:xfrm>
            <a:off x="3516554" y="329184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Arial" pitchFamily="34" charset="0"/>
                <a:ea typeface="Arial" pitchFamily="34" charset="-122"/>
                <a:cs typeface="Arial" pitchFamily="34" charset="-120"/>
              </a:rPr>
              <a:t>التجهيز والتشطيبات</a:t>
            </a:r>
            <a:endParaRPr lang="ar-SA" sz="1350" dirty="0"/>
          </a:p>
        </p:txBody>
      </p:sp>
      <p:sp>
        <p:nvSpPr>
          <p:cNvPr id="20" name="Shape 14"/>
          <p:cNvSpPr/>
          <p:nvPr/>
        </p:nvSpPr>
        <p:spPr>
          <a:xfrm>
            <a:off x="548640" y="173736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21" name="Image 4" descr="/home/user/NVIConsult/build/assets/t_ele.jpg">    </p:cNvPr>
          <p:cNvPicPr>
            <a:picLocks noChangeAspect="1"/>
          </p:cNvPicPr>
          <p:nvPr/>
        </p:nvPicPr>
        <p:blipFill>
          <a:blip r:embed="rId5"/>
          <a:stretch>
            <a:fillRect/>
          </a:stretch>
        </p:blipFill>
        <p:spPr>
          <a:xfrm>
            <a:off x="548640" y="1737360"/>
            <a:ext cx="2602154" cy="1463040"/>
          </a:xfrm>
          <a:prstGeom prst="rect">
            <a:avLst/>
          </a:prstGeom>
        </p:spPr>
      </p:pic>
      <p:sp>
        <p:nvSpPr>
          <p:cNvPr id="22" name="Shape 15"/>
          <p:cNvSpPr/>
          <p:nvPr/>
        </p:nvSpPr>
        <p:spPr>
          <a:xfrm>
            <a:off x="2400986" y="3355848"/>
            <a:ext cx="566928" cy="237744"/>
          </a:xfrm>
          <a:prstGeom prst="parallelogram">
            <a:avLst/>
          </a:prstGeom>
          <a:solidFill>
            <a:srgbClr val="5B54A4"/>
          </a:solidFill>
          <a:ln w="12700">
            <a:solidFill>
              <a:srgbClr val="5B54A4"/>
            </a:solidFill>
            <a:prstDash val="solid"/>
          </a:ln>
        </p:spPr>
      </p:sp>
      <p:sp>
        <p:nvSpPr>
          <p:cNvPr id="23" name="Text 16"/>
          <p:cNvSpPr txBox="1"/>
          <p:nvPr/>
        </p:nvSpPr>
        <p:spPr>
          <a:xfrm>
            <a:off x="2400986" y="3355848"/>
            <a:ext cx="566928" cy="237744"/>
          </a:xfrm>
          <a:prstGeom prst="rect">
            <a:avLst/>
          </a:prstGeom>
          <a:noFill/>
          <a:ln/>
        </p:spPr>
        <p:txBody>
          <a:bodyPr wrap="square" lIns="0" tIns="0" rIns="0" bIns="0" rtlCol="0" anchor="ctr"/>
          <a:lstStyle/>
          <a:p>
            <a:pPr rtl="1" algn="ctr" indent="0" marL="0">
              <a:buNone/>
            </a:pPr>
            <a:r>
              <a:rPr lang="ar-SA" altLang="en-US" sz="1240" b="1" dirty="0">
                <a:solidFill>
                  <a:srgbClr val="FFFFFF"/>
                </a:solidFill>
                <a:latin typeface="Arial" pitchFamily="34" charset="0"/>
                <a:ea typeface="Arial" pitchFamily="34" charset="-122"/>
                <a:cs typeface="Arial" pitchFamily="34" charset="-120"/>
              </a:rPr>
              <a:t>04</a:t>
            </a:r>
            <a:endParaRPr lang="ar-SA" sz="1240" dirty="0"/>
          </a:p>
        </p:txBody>
      </p:sp>
      <p:sp>
        <p:nvSpPr>
          <p:cNvPr id="24" name="Text 17"/>
          <p:cNvSpPr txBox="1"/>
          <p:nvPr/>
        </p:nvSpPr>
        <p:spPr>
          <a:xfrm>
            <a:off x="685800" y="329184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Arial" pitchFamily="34" charset="0"/>
                <a:ea typeface="Arial" pitchFamily="34" charset="-122"/>
                <a:cs typeface="Arial" pitchFamily="34" charset="-120"/>
              </a:rPr>
              <a:t>الأعمال الكهربائية</a:t>
            </a:r>
            <a:endParaRPr lang="ar-SA" sz="1350" dirty="0"/>
          </a:p>
        </p:txBody>
      </p:sp>
      <p:sp>
        <p:nvSpPr>
          <p:cNvPr id="25" name="Shape 18"/>
          <p:cNvSpPr/>
          <p:nvPr/>
        </p:nvSpPr>
        <p:spPr>
          <a:xfrm>
            <a:off x="9040901" y="411480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26" name="Image 5" descr="/home/user/NVIConsult/build/assets/t_low.jpg">    </p:cNvPr>
          <p:cNvPicPr>
            <a:picLocks noChangeAspect="1"/>
          </p:cNvPicPr>
          <p:nvPr/>
        </p:nvPicPr>
        <p:blipFill>
          <a:blip r:embed="rId6"/>
          <a:stretch>
            <a:fillRect/>
          </a:stretch>
        </p:blipFill>
        <p:spPr>
          <a:xfrm>
            <a:off x="9040901" y="4114800"/>
            <a:ext cx="2602154" cy="1463040"/>
          </a:xfrm>
          <a:prstGeom prst="rect">
            <a:avLst/>
          </a:prstGeom>
        </p:spPr>
      </p:pic>
      <p:sp>
        <p:nvSpPr>
          <p:cNvPr id="27" name="Shape 19"/>
          <p:cNvSpPr/>
          <p:nvPr/>
        </p:nvSpPr>
        <p:spPr>
          <a:xfrm>
            <a:off x="10893247" y="5733288"/>
            <a:ext cx="566928" cy="237744"/>
          </a:xfrm>
          <a:prstGeom prst="parallelogram">
            <a:avLst/>
          </a:prstGeom>
          <a:solidFill>
            <a:srgbClr val="98207E"/>
          </a:solidFill>
          <a:ln w="12700">
            <a:solidFill>
              <a:srgbClr val="98207E"/>
            </a:solidFill>
            <a:prstDash val="solid"/>
          </a:ln>
        </p:spPr>
      </p:sp>
      <p:sp>
        <p:nvSpPr>
          <p:cNvPr id="28" name="Text 20"/>
          <p:cNvSpPr txBox="1"/>
          <p:nvPr/>
        </p:nvSpPr>
        <p:spPr>
          <a:xfrm>
            <a:off x="10893247" y="5733288"/>
            <a:ext cx="566928" cy="237744"/>
          </a:xfrm>
          <a:prstGeom prst="rect">
            <a:avLst/>
          </a:prstGeom>
          <a:noFill/>
          <a:ln/>
        </p:spPr>
        <p:txBody>
          <a:bodyPr wrap="square" lIns="0" tIns="0" rIns="0" bIns="0" rtlCol="0" anchor="ctr"/>
          <a:lstStyle/>
          <a:p>
            <a:pPr rtl="1" algn="ctr" indent="0" marL="0">
              <a:buNone/>
            </a:pPr>
            <a:r>
              <a:rPr lang="ar-SA" altLang="en-US" sz="1240" b="1" dirty="0">
                <a:solidFill>
                  <a:srgbClr val="FFFFFF"/>
                </a:solidFill>
                <a:latin typeface="Arial" pitchFamily="34" charset="0"/>
                <a:ea typeface="Arial" pitchFamily="34" charset="-122"/>
                <a:cs typeface="Arial" pitchFamily="34" charset="-120"/>
              </a:rPr>
              <a:t>05</a:t>
            </a:r>
            <a:endParaRPr lang="ar-SA" sz="1240" dirty="0"/>
          </a:p>
        </p:txBody>
      </p:sp>
      <p:sp>
        <p:nvSpPr>
          <p:cNvPr id="29" name="Text 21"/>
          <p:cNvSpPr txBox="1"/>
          <p:nvPr/>
        </p:nvSpPr>
        <p:spPr>
          <a:xfrm>
            <a:off x="9178061" y="566928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Arial" pitchFamily="34" charset="0"/>
                <a:ea typeface="Arial" pitchFamily="34" charset="-122"/>
                <a:cs typeface="Arial" pitchFamily="34" charset="-120"/>
              </a:rPr>
              <a:t>أنظمة التيار المنخفض</a:t>
            </a:r>
            <a:endParaRPr lang="ar-SA" sz="1350" dirty="0"/>
          </a:p>
        </p:txBody>
      </p:sp>
      <p:sp>
        <p:nvSpPr>
          <p:cNvPr id="30" name="Shape 22"/>
          <p:cNvSpPr/>
          <p:nvPr/>
        </p:nvSpPr>
        <p:spPr>
          <a:xfrm>
            <a:off x="6210148" y="411480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31" name="Image 6" descr="/home/user/NVIConsult/build/assets/t_mec.jpg">    </p:cNvPr>
          <p:cNvPicPr>
            <a:picLocks noChangeAspect="1"/>
          </p:cNvPicPr>
          <p:nvPr/>
        </p:nvPicPr>
        <p:blipFill>
          <a:blip r:embed="rId7"/>
          <a:stretch>
            <a:fillRect/>
          </a:stretch>
        </p:blipFill>
        <p:spPr>
          <a:xfrm>
            <a:off x="6210148" y="4114800"/>
            <a:ext cx="2602154" cy="1463040"/>
          </a:xfrm>
          <a:prstGeom prst="rect">
            <a:avLst/>
          </a:prstGeom>
        </p:spPr>
      </p:pic>
      <p:sp>
        <p:nvSpPr>
          <p:cNvPr id="32" name="Shape 23"/>
          <p:cNvSpPr/>
          <p:nvPr/>
        </p:nvSpPr>
        <p:spPr>
          <a:xfrm>
            <a:off x="8062493" y="5733288"/>
            <a:ext cx="566928" cy="237744"/>
          </a:xfrm>
          <a:prstGeom prst="parallelogram">
            <a:avLst/>
          </a:prstGeom>
          <a:solidFill>
            <a:srgbClr val="E5177B"/>
          </a:solidFill>
          <a:ln w="12700">
            <a:solidFill>
              <a:srgbClr val="E5177B"/>
            </a:solidFill>
            <a:prstDash val="solid"/>
          </a:ln>
        </p:spPr>
      </p:sp>
      <p:sp>
        <p:nvSpPr>
          <p:cNvPr id="33" name="Text 24"/>
          <p:cNvSpPr txBox="1"/>
          <p:nvPr/>
        </p:nvSpPr>
        <p:spPr>
          <a:xfrm>
            <a:off x="8062493" y="5733288"/>
            <a:ext cx="566928" cy="237744"/>
          </a:xfrm>
          <a:prstGeom prst="rect">
            <a:avLst/>
          </a:prstGeom>
          <a:noFill/>
          <a:ln/>
        </p:spPr>
        <p:txBody>
          <a:bodyPr wrap="square" lIns="0" tIns="0" rIns="0" bIns="0" rtlCol="0" anchor="ctr"/>
          <a:lstStyle/>
          <a:p>
            <a:pPr rtl="1" algn="ctr" indent="0" marL="0">
              <a:buNone/>
            </a:pPr>
            <a:r>
              <a:rPr lang="ar-SA" altLang="en-US" sz="1240" b="1" dirty="0">
                <a:solidFill>
                  <a:srgbClr val="FFFFFF"/>
                </a:solidFill>
                <a:latin typeface="Arial" pitchFamily="34" charset="0"/>
                <a:ea typeface="Arial" pitchFamily="34" charset="-122"/>
                <a:cs typeface="Arial" pitchFamily="34" charset="-120"/>
              </a:rPr>
              <a:t>06</a:t>
            </a:r>
            <a:endParaRPr lang="ar-SA" sz="1240" dirty="0"/>
          </a:p>
        </p:txBody>
      </p:sp>
      <p:sp>
        <p:nvSpPr>
          <p:cNvPr id="34" name="Text 25"/>
          <p:cNvSpPr txBox="1"/>
          <p:nvPr/>
        </p:nvSpPr>
        <p:spPr>
          <a:xfrm>
            <a:off x="6347308" y="566928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Arial" pitchFamily="34" charset="0"/>
                <a:ea typeface="Arial" pitchFamily="34" charset="-122"/>
                <a:cs typeface="Arial" pitchFamily="34" charset="-120"/>
              </a:rPr>
              <a:t>الأعمال الميكانيكية والتكييف</a:t>
            </a:r>
            <a:endParaRPr lang="ar-SA" sz="1350" dirty="0"/>
          </a:p>
        </p:txBody>
      </p:sp>
      <p:sp>
        <p:nvSpPr>
          <p:cNvPr id="35" name="Shape 26"/>
          <p:cNvSpPr/>
          <p:nvPr/>
        </p:nvSpPr>
        <p:spPr>
          <a:xfrm>
            <a:off x="3379394" y="411480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36" name="Image 7" descr="/home/user/NVIConsult/build/assets/t_plu.jpg">    </p:cNvPr>
          <p:cNvPicPr>
            <a:picLocks noChangeAspect="1"/>
          </p:cNvPicPr>
          <p:nvPr/>
        </p:nvPicPr>
        <p:blipFill>
          <a:blip r:embed="rId8"/>
          <a:stretch>
            <a:fillRect/>
          </a:stretch>
        </p:blipFill>
        <p:spPr>
          <a:xfrm>
            <a:off x="3379394" y="4114800"/>
            <a:ext cx="2602154" cy="1463040"/>
          </a:xfrm>
          <a:prstGeom prst="rect">
            <a:avLst/>
          </a:prstGeom>
        </p:spPr>
      </p:pic>
      <p:sp>
        <p:nvSpPr>
          <p:cNvPr id="37" name="Shape 27"/>
          <p:cNvSpPr/>
          <p:nvPr/>
        </p:nvSpPr>
        <p:spPr>
          <a:xfrm>
            <a:off x="5231740" y="5733288"/>
            <a:ext cx="566928" cy="237744"/>
          </a:xfrm>
          <a:prstGeom prst="parallelogram">
            <a:avLst/>
          </a:prstGeom>
          <a:solidFill>
            <a:srgbClr val="2DB8E0"/>
          </a:solidFill>
          <a:ln w="12700">
            <a:solidFill>
              <a:srgbClr val="2DB8E0"/>
            </a:solidFill>
            <a:prstDash val="solid"/>
          </a:ln>
        </p:spPr>
      </p:sp>
      <p:sp>
        <p:nvSpPr>
          <p:cNvPr id="38" name="Text 28"/>
          <p:cNvSpPr txBox="1"/>
          <p:nvPr/>
        </p:nvSpPr>
        <p:spPr>
          <a:xfrm>
            <a:off x="5231740" y="5733288"/>
            <a:ext cx="566928" cy="237744"/>
          </a:xfrm>
          <a:prstGeom prst="rect">
            <a:avLst/>
          </a:prstGeom>
          <a:noFill/>
          <a:ln/>
        </p:spPr>
        <p:txBody>
          <a:bodyPr wrap="square" lIns="0" tIns="0" rIns="0" bIns="0" rtlCol="0" anchor="ctr"/>
          <a:lstStyle/>
          <a:p>
            <a:pPr rtl="1" algn="ctr" indent="0" marL="0">
              <a:buNone/>
            </a:pPr>
            <a:r>
              <a:rPr lang="ar-SA" altLang="en-US" sz="1240" b="1" dirty="0">
                <a:solidFill>
                  <a:srgbClr val="0E1420"/>
                </a:solidFill>
                <a:latin typeface="Arial" pitchFamily="34" charset="0"/>
                <a:ea typeface="Arial" pitchFamily="34" charset="-122"/>
                <a:cs typeface="Arial" pitchFamily="34" charset="-120"/>
              </a:rPr>
              <a:t>07</a:t>
            </a:r>
            <a:endParaRPr lang="ar-SA" sz="1240" dirty="0"/>
          </a:p>
        </p:txBody>
      </p:sp>
      <p:sp>
        <p:nvSpPr>
          <p:cNvPr id="39" name="Text 29"/>
          <p:cNvSpPr txBox="1"/>
          <p:nvPr/>
        </p:nvSpPr>
        <p:spPr>
          <a:xfrm>
            <a:off x="3516554" y="566928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Arial" pitchFamily="34" charset="0"/>
                <a:ea typeface="Arial" pitchFamily="34" charset="-122"/>
                <a:cs typeface="Arial" pitchFamily="34" charset="-120"/>
              </a:rPr>
              <a:t>السباكة ومكافحة الحريق</a:t>
            </a:r>
            <a:endParaRPr lang="ar-SA" sz="1350" dirty="0"/>
          </a:p>
        </p:txBody>
      </p:sp>
      <p:sp>
        <p:nvSpPr>
          <p:cNvPr id="40" name="Shape 30"/>
          <p:cNvSpPr/>
          <p:nvPr/>
        </p:nvSpPr>
        <p:spPr>
          <a:xfrm>
            <a:off x="548640" y="4114800"/>
            <a:ext cx="2602154" cy="2194560"/>
          </a:xfrm>
          <a:prstGeom prst="rect">
            <a:avLst/>
          </a:prstGeom>
          <a:solidFill>
            <a:srgbClr val="FFFFFF"/>
          </a:solidFill>
          <a:ln w="12700">
            <a:solidFill>
              <a:srgbClr val="FFFFFF"/>
            </a:solidFill>
            <a:prstDash val="solid"/>
          </a:ln>
          <a:effectLst>
            <a:outerShdw sx="100000" sy="100000" kx="0" ky="0" algn="bl" rotWithShape="0" blurRad="127000" dist="25400" dir="5400000">
              <a:srgbClr val="0E1420">
                <a:alpha val="12000"/>
              </a:srgbClr>
            </a:outerShdw>
          </a:effectLst>
        </p:spPr>
      </p:sp>
      <p:pic>
        <p:nvPicPr>
          <p:cNvPr id="41" name="Image 8" descr="/home/user/NVIConsult/build/assets/t_mnt.jpg">    </p:cNvPr>
          <p:cNvPicPr>
            <a:picLocks noChangeAspect="1"/>
          </p:cNvPicPr>
          <p:nvPr/>
        </p:nvPicPr>
        <p:blipFill>
          <a:blip r:embed="rId9"/>
          <a:stretch>
            <a:fillRect/>
          </a:stretch>
        </p:blipFill>
        <p:spPr>
          <a:xfrm>
            <a:off x="548640" y="4114800"/>
            <a:ext cx="2602154" cy="1463040"/>
          </a:xfrm>
          <a:prstGeom prst="rect">
            <a:avLst/>
          </a:prstGeom>
        </p:spPr>
      </p:pic>
      <p:sp>
        <p:nvSpPr>
          <p:cNvPr id="42" name="Shape 31"/>
          <p:cNvSpPr/>
          <p:nvPr/>
        </p:nvSpPr>
        <p:spPr>
          <a:xfrm>
            <a:off x="2400986" y="5733288"/>
            <a:ext cx="566928" cy="237744"/>
          </a:xfrm>
          <a:prstGeom prst="parallelogram">
            <a:avLst/>
          </a:prstGeom>
          <a:solidFill>
            <a:srgbClr val="FBBA16"/>
          </a:solidFill>
          <a:ln w="12700">
            <a:solidFill>
              <a:srgbClr val="FBBA16"/>
            </a:solidFill>
            <a:prstDash val="solid"/>
          </a:ln>
        </p:spPr>
      </p:sp>
      <p:sp>
        <p:nvSpPr>
          <p:cNvPr id="43" name="Text 32"/>
          <p:cNvSpPr txBox="1"/>
          <p:nvPr/>
        </p:nvSpPr>
        <p:spPr>
          <a:xfrm>
            <a:off x="2400986" y="5733288"/>
            <a:ext cx="566928" cy="237744"/>
          </a:xfrm>
          <a:prstGeom prst="rect">
            <a:avLst/>
          </a:prstGeom>
          <a:noFill/>
          <a:ln/>
        </p:spPr>
        <p:txBody>
          <a:bodyPr wrap="square" lIns="0" tIns="0" rIns="0" bIns="0" rtlCol="0" anchor="ctr"/>
          <a:lstStyle/>
          <a:p>
            <a:pPr rtl="1" algn="ctr" indent="0" marL="0">
              <a:buNone/>
            </a:pPr>
            <a:r>
              <a:rPr lang="ar-SA" altLang="en-US" sz="1240" b="1" dirty="0">
                <a:solidFill>
                  <a:srgbClr val="0E1420"/>
                </a:solidFill>
                <a:latin typeface="Arial" pitchFamily="34" charset="0"/>
                <a:ea typeface="Arial" pitchFamily="34" charset="-122"/>
                <a:cs typeface="Arial" pitchFamily="34" charset="-120"/>
              </a:rPr>
              <a:t>08</a:t>
            </a:r>
            <a:endParaRPr lang="ar-SA" sz="1240" dirty="0"/>
          </a:p>
        </p:txBody>
      </p:sp>
      <p:sp>
        <p:nvSpPr>
          <p:cNvPr id="44" name="Text 33"/>
          <p:cNvSpPr txBox="1"/>
          <p:nvPr/>
        </p:nvSpPr>
        <p:spPr>
          <a:xfrm>
            <a:off x="685800" y="5669280"/>
            <a:ext cx="1596314" cy="566928"/>
          </a:xfrm>
          <a:prstGeom prst="rect">
            <a:avLst/>
          </a:prstGeom>
          <a:noFill/>
          <a:ln/>
        </p:spPr>
        <p:txBody>
          <a:bodyPr wrap="square" lIns="0" tIns="0" rIns="0" bIns="0" rtlCol="0" anchor="ctr"/>
          <a:lstStyle/>
          <a:p>
            <a:pPr rtl="1" algn="r" indent="0" marL="0">
              <a:buNone/>
            </a:pPr>
            <a:r>
              <a:rPr lang="ar-SA" altLang="en-US" sz="1350" b="1" dirty="0">
                <a:solidFill>
                  <a:srgbClr val="0E1420"/>
                </a:solidFill>
                <a:latin typeface="Arial" pitchFamily="34" charset="0"/>
                <a:ea typeface="Arial" pitchFamily="34" charset="-122"/>
                <a:cs typeface="Arial" pitchFamily="34" charset="-120"/>
              </a:rPr>
              <a:t>صيانة المرافق</a:t>
            </a:r>
            <a:endParaRPr lang="ar-SA" sz="1350" dirty="0"/>
          </a:p>
        </p:txBody>
      </p:sp>
      <p:sp>
        <p:nvSpPr>
          <p:cNvPr id="45" name="Text 34"/>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1000" dirty="0">
                <a:solidFill>
                  <a:srgbClr val="667080"/>
                </a:solidFill>
                <a:latin typeface="Arial" pitchFamily="34" charset="0"/>
                <a:ea typeface="Arial" pitchFamily="34" charset="-122"/>
                <a:cs typeface="Arial" pitchFamily="34" charset="-120"/>
              </a:rPr>
              <a:t>الرؤية الجديدة التكاملية  ·  ملف الشركة</a:t>
            </a:r>
            <a:endParaRPr lang="ar-SA" sz="1000" dirty="0"/>
          </a:p>
        </p:txBody>
      </p:sp>
      <p:sp>
        <p:nvSpPr>
          <p:cNvPr id="46" name="Text 35"/>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1060" b="1" dirty="0">
                <a:solidFill>
                  <a:srgbClr val="667080"/>
                </a:solidFill>
                <a:latin typeface="Arial" pitchFamily="34" charset="0"/>
                <a:ea typeface="Arial" pitchFamily="34" charset="-122"/>
                <a:cs typeface="Arial" pitchFamily="34" charset="-120"/>
              </a:rPr>
              <a:t>05</a:t>
            </a:r>
            <a:endParaRPr lang="ar-SA" sz="10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user/NVIConsult/build/assets/s_eng.jpg">    </p:cNvPr>
          <p:cNvPicPr>
            <a:picLocks noChangeAspect="1"/>
          </p:cNvPicPr>
          <p:nvPr/>
        </p:nvPicPr>
        <p:blipFill>
          <a:blip r:embed="rId1"/>
          <a:stretch>
            <a:fillRect/>
          </a:stretch>
        </p:blipFill>
        <p:spPr>
          <a:xfrm>
            <a:off x="8351215" y="0"/>
            <a:ext cx="3840480" cy="6858000"/>
          </a:xfrm>
          <a:prstGeom prst="rect">
            <a:avLst/>
          </a:prstGeom>
        </p:spPr>
      </p:pic>
      <p:sp>
        <p:nvSpPr>
          <p:cNvPr id="3" name="Shape 0"/>
          <p:cNvSpPr/>
          <p:nvPr/>
        </p:nvSpPr>
        <p:spPr>
          <a:xfrm>
            <a:off x="7537399" y="603504"/>
            <a:ext cx="310896" cy="146304"/>
          </a:xfrm>
          <a:prstGeom prst="parallelogram">
            <a:avLst/>
          </a:prstGeom>
          <a:solidFill>
            <a:srgbClr val="E5177B"/>
          </a:solidFill>
          <a:ln w="12700">
            <a:solidFill>
              <a:srgbClr val="E5177B"/>
            </a:solidFill>
            <a:prstDash val="solid"/>
          </a:ln>
        </p:spPr>
      </p:sp>
      <p:sp>
        <p:nvSpPr>
          <p:cNvPr id="4" name="Text 1"/>
          <p:cNvSpPr txBox="1"/>
          <p:nvPr/>
        </p:nvSpPr>
        <p:spPr>
          <a:xfrm>
            <a:off x="548640" y="548640"/>
            <a:ext cx="6842455" cy="256032"/>
          </a:xfrm>
          <a:prstGeom prst="rect">
            <a:avLst/>
          </a:prstGeom>
          <a:noFill/>
          <a:ln/>
        </p:spPr>
        <p:txBody>
          <a:bodyPr wrap="square" lIns="0" tIns="0" rIns="0" bIns="0" rtlCol="0" anchor="ctr"/>
          <a:lstStyle/>
          <a:p>
            <a:pPr rtl="1" algn="r" indent="0" marL="0">
              <a:buNone/>
            </a:pPr>
            <a:r>
              <a:rPr lang="ar-SA" altLang="en-US" sz="1300" b="1" dirty="0">
                <a:solidFill>
                  <a:srgbClr val="E5177B"/>
                </a:solidFill>
                <a:latin typeface="Arial" pitchFamily="34" charset="0"/>
                <a:ea typeface="Arial" pitchFamily="34" charset="-122"/>
                <a:cs typeface="Arial" pitchFamily="34" charset="-120"/>
              </a:rPr>
              <a:t>الخدمة 01 / 08</a:t>
            </a:r>
            <a:endParaRPr lang="ar-SA" sz="1300" dirty="0"/>
          </a:p>
        </p:txBody>
      </p:sp>
      <p:sp>
        <p:nvSpPr>
          <p:cNvPr id="5" name="Text 2"/>
          <p:cNvSpPr txBox="1"/>
          <p:nvPr/>
        </p:nvSpPr>
        <p:spPr>
          <a:xfrm>
            <a:off x="548640" y="896112"/>
            <a:ext cx="7299655" cy="685800"/>
          </a:xfrm>
          <a:prstGeom prst="rect">
            <a:avLst/>
          </a:prstGeom>
          <a:noFill/>
          <a:ln/>
        </p:spPr>
        <p:txBody>
          <a:bodyPr wrap="square" lIns="0" tIns="0" rIns="0" bIns="0" rtlCol="0" anchor="t"/>
          <a:lstStyle/>
          <a:p>
            <a:pPr rtl="1" algn="r" indent="0" marL="0">
              <a:buNone/>
            </a:pPr>
            <a:r>
              <a:rPr lang="ar-SA" altLang="en-US" sz="3600" b="1" dirty="0">
                <a:solidFill>
                  <a:srgbClr val="0E1420"/>
                </a:solidFill>
                <a:latin typeface="Arial" pitchFamily="34" charset="0"/>
                <a:ea typeface="Arial" pitchFamily="34" charset="-122"/>
                <a:cs typeface="Arial" pitchFamily="34" charset="-120"/>
              </a:rPr>
              <a:t>الهندسة والتخطيط</a:t>
            </a:r>
            <a:endParaRPr lang="ar-SA" sz="3600" dirty="0"/>
          </a:p>
        </p:txBody>
      </p:sp>
      <p:sp>
        <p:nvSpPr>
          <p:cNvPr id="6" name="Text 3"/>
          <p:cNvSpPr txBox="1"/>
          <p:nvPr/>
        </p:nvSpPr>
        <p:spPr>
          <a:xfrm>
            <a:off x="548640" y="1627632"/>
            <a:ext cx="7299655" cy="457200"/>
          </a:xfrm>
          <a:prstGeom prst="rect">
            <a:avLst/>
          </a:prstGeom>
          <a:noFill/>
          <a:ln/>
        </p:spPr>
        <p:txBody>
          <a:bodyPr wrap="square" lIns="0" tIns="0" rIns="0" bIns="0" rtlCol="0" anchor="t"/>
          <a:lstStyle/>
          <a:p>
            <a:pPr rtl="1" algn="r" indent="0" marL="0">
              <a:buNone/>
            </a:pPr>
            <a:r>
              <a:rPr lang="ar-SA" altLang="en-US" sz="1500" dirty="0">
                <a:solidFill>
                  <a:srgbClr val="3F4856"/>
                </a:solidFill>
                <a:latin typeface="Arial" pitchFamily="34" charset="0"/>
                <a:ea typeface="Arial" pitchFamily="34" charset="-122"/>
                <a:cs typeface="Arial" pitchFamily="34" charset="-120"/>
              </a:rPr>
              <a:t>إدارة مشاريع منضبطة في كل المراحل، من دراسة الجدوى وحتى التسليم.</a:t>
            </a:r>
            <a:endParaRPr lang="ar-SA" sz="1500" dirty="0"/>
          </a:p>
        </p:txBody>
      </p:sp>
      <p:sp>
        <p:nvSpPr>
          <p:cNvPr id="7" name="Shape 4"/>
          <p:cNvSpPr/>
          <p:nvPr/>
        </p:nvSpPr>
        <p:spPr>
          <a:xfrm>
            <a:off x="4312768" y="2286000"/>
            <a:ext cx="3535528" cy="1938528"/>
          </a:xfrm>
          <a:prstGeom prst="rect">
            <a:avLst/>
          </a:prstGeom>
          <a:solidFill>
            <a:srgbClr val="F2F4F7"/>
          </a:solidFill>
          <a:ln w="12700">
            <a:solidFill>
              <a:srgbClr val="F2F4F7"/>
            </a:solidFill>
            <a:prstDash val="solid"/>
          </a:ln>
        </p:spPr>
      </p:sp>
      <p:sp>
        <p:nvSpPr>
          <p:cNvPr id="8" name="Text 5"/>
          <p:cNvSpPr txBox="1"/>
          <p:nvPr/>
        </p:nvSpPr>
        <p:spPr>
          <a:xfrm>
            <a:off x="6979615" y="2468880"/>
            <a:ext cx="640080" cy="457200"/>
          </a:xfrm>
          <a:prstGeom prst="rect">
            <a:avLst/>
          </a:prstGeom>
          <a:noFill/>
          <a:ln/>
        </p:spPr>
        <p:txBody>
          <a:bodyPr wrap="square" lIns="0" tIns="0" rIns="0" bIns="0" rtlCol="0" anchor="ctr"/>
          <a:lstStyle/>
          <a:p>
            <a:pPr rtl="1" algn="r" indent="0" marL="0">
              <a:buNone/>
            </a:pPr>
            <a:r>
              <a:rPr lang="ar-SA" altLang="en-US" sz="2600" b="1" dirty="0">
                <a:solidFill>
                  <a:srgbClr val="E5177B"/>
                </a:solidFill>
                <a:latin typeface="Arial" pitchFamily="34" charset="0"/>
                <a:ea typeface="Arial" pitchFamily="34" charset="-122"/>
                <a:cs typeface="Arial" pitchFamily="34" charset="-120"/>
              </a:rPr>
              <a:t>01</a:t>
            </a:r>
            <a:endParaRPr lang="ar-SA" sz="2600" dirty="0"/>
          </a:p>
        </p:txBody>
      </p:sp>
      <p:sp>
        <p:nvSpPr>
          <p:cNvPr id="9" name="Text 6"/>
          <p:cNvSpPr txBox="1"/>
          <p:nvPr/>
        </p:nvSpPr>
        <p:spPr>
          <a:xfrm>
            <a:off x="4495648" y="2450592"/>
            <a:ext cx="2438248" cy="502920"/>
          </a:xfrm>
          <a:prstGeom prst="rect">
            <a:avLst/>
          </a:prstGeom>
          <a:noFill/>
          <a:ln/>
        </p:spPr>
        <p:txBody>
          <a:bodyPr wrap="square" lIns="0" tIns="0" rIns="0" bIns="0" rtlCol="0" anchor="ctr"/>
          <a:lstStyle/>
          <a:p>
            <a:pPr rtl="1" algn="r" indent="0" marL="0">
              <a:buNone/>
            </a:pPr>
            <a:r>
              <a:rPr lang="ar-SA" altLang="en-US" sz="1060" b="1" dirty="0">
                <a:solidFill>
                  <a:srgbClr val="667080"/>
                </a:solidFill>
                <a:latin typeface="Arial" pitchFamily="34" charset="0"/>
                <a:ea typeface="Arial" pitchFamily="34" charset="-122"/>
                <a:cs typeface="Arial" pitchFamily="34" charset="-120"/>
              </a:rPr>
              <a:t>المرحلة 1</a:t>
            </a:r>
            <a:endParaRPr lang="ar-SA" sz="1060" dirty="0"/>
          </a:p>
          <a:p>
            <a:pPr rtl="1" algn="r" indent="0" marL="0">
              <a:buNone/>
            </a:pPr>
            <a:r>
              <a:rPr lang="ar-SA" altLang="en-US" sz="1500" b="1" dirty="0">
                <a:solidFill>
                  <a:srgbClr val="0E1420"/>
                </a:solidFill>
                <a:latin typeface="Arial" pitchFamily="34" charset="0"/>
                <a:ea typeface="Arial" pitchFamily="34" charset="-122"/>
                <a:cs typeface="Arial" pitchFamily="34" charset="-120"/>
              </a:rPr>
              <a:t>التعريف والتقييم</a:t>
            </a:r>
            <a:endParaRPr lang="ar-SA" sz="1060" dirty="0"/>
          </a:p>
        </p:txBody>
      </p:sp>
      <p:sp>
        <p:nvSpPr>
          <p:cNvPr id="10" name="Text 7"/>
          <p:cNvSpPr txBox="1"/>
          <p:nvPr/>
        </p:nvSpPr>
        <p:spPr>
          <a:xfrm>
            <a:off x="4495648" y="3063240"/>
            <a:ext cx="3124048" cy="1069848"/>
          </a:xfrm>
          <a:prstGeom prst="rect">
            <a:avLst/>
          </a:prstGeom>
          <a:noFill/>
          <a:ln/>
        </p:spPr>
        <p:txBody>
          <a:bodyPr wrap="square" lIns="0" tIns="0" rIns="0" bIns="0" rtlCol="0" anchor="t"/>
          <a:lstStyle/>
          <a:p>
            <a:pPr rtl="1" algn="r" marL="152400" indent="-152400">
              <a:spcAft>
                <a:spcPts val="300"/>
              </a:spcAft>
              <a:buSzPct val="100000"/>
              <a:buChar char="•"/>
            </a:pPr>
            <a:r>
              <a:rPr lang="ar-SA" altLang="en-US" sz="1240" dirty="0">
                <a:solidFill>
                  <a:srgbClr val="3F4856"/>
                </a:solidFill>
                <a:latin typeface="Arial" pitchFamily="34" charset="0"/>
                <a:ea typeface="Arial" pitchFamily="34" charset="-122"/>
                <a:cs typeface="Arial" pitchFamily="34" charset="-120"/>
              </a:rPr>
              <a:t>تعريف المشروع وخصائصه</a:t>
            </a:r>
            <a:endParaRPr lang="ar-SA" sz="1240" dirty="0"/>
          </a:p>
          <a:p>
            <a:pPr rtl="1" algn="r" marL="152400" indent="-152400">
              <a:spcAft>
                <a:spcPts val="300"/>
              </a:spcAft>
              <a:buSzPct val="100000"/>
              <a:buChar char="•"/>
            </a:pPr>
            <a:r>
              <a:rPr lang="ar-SA" altLang="en-US" sz="1240" dirty="0">
                <a:solidFill>
                  <a:srgbClr val="3F4856"/>
                </a:solidFill>
                <a:latin typeface="Arial" pitchFamily="34" charset="0"/>
                <a:ea typeface="Arial" pitchFamily="34" charset="-122"/>
                <a:cs typeface="Arial" pitchFamily="34" charset="-120"/>
              </a:rPr>
              <a:t>العلاقة بين المحافظ والبرامج والمشاريع والعمليات</a:t>
            </a:r>
            <a:endParaRPr lang="ar-SA" sz="1240" dirty="0"/>
          </a:p>
          <a:p>
            <a:pPr rtl="1" algn="r" marL="152400" indent="-152400">
              <a:spcAft>
                <a:spcPts val="300"/>
              </a:spcAft>
              <a:buSzPct val="100000"/>
              <a:buChar char="•"/>
            </a:pPr>
            <a:r>
              <a:rPr lang="ar-SA" altLang="en-US" sz="1240" dirty="0">
                <a:solidFill>
                  <a:srgbClr val="3F4856"/>
                </a:solidFill>
                <a:latin typeface="Arial" pitchFamily="34" charset="0"/>
                <a:ea typeface="Arial" pitchFamily="34" charset="-122"/>
                <a:cs typeface="Arial" pitchFamily="34" charset="-120"/>
              </a:rPr>
              <a:t>أداء الأعمال والتخطيط الاستراتيجي</a:t>
            </a:r>
            <a:endParaRPr lang="ar-SA" sz="1240" dirty="0"/>
          </a:p>
          <a:p>
            <a:pPr rtl="1" algn="r" marL="152400" indent="-152400">
              <a:spcAft>
                <a:spcPts val="300"/>
              </a:spcAft>
              <a:buSzPct val="100000"/>
              <a:buChar char="•"/>
            </a:pPr>
            <a:r>
              <a:rPr lang="ar-SA" altLang="en-US" sz="1240" dirty="0">
                <a:solidFill>
                  <a:srgbClr val="3F4856"/>
                </a:solidFill>
                <a:latin typeface="Arial" pitchFamily="34" charset="0"/>
                <a:ea typeface="Arial" pitchFamily="34" charset="-122"/>
                <a:cs typeface="Arial" pitchFamily="34" charset="-120"/>
              </a:rPr>
              <a:t>دراسة الجدوى وتقييم المشروع</a:t>
            </a:r>
            <a:endParaRPr lang="ar-SA" sz="1240" dirty="0"/>
          </a:p>
        </p:txBody>
      </p:sp>
      <p:sp>
        <p:nvSpPr>
          <p:cNvPr id="11" name="Shape 8"/>
          <p:cNvSpPr/>
          <p:nvPr/>
        </p:nvSpPr>
        <p:spPr>
          <a:xfrm>
            <a:off x="548640" y="2286000"/>
            <a:ext cx="3535528" cy="1938528"/>
          </a:xfrm>
          <a:prstGeom prst="rect">
            <a:avLst/>
          </a:prstGeom>
          <a:solidFill>
            <a:srgbClr val="F2F4F7"/>
          </a:solidFill>
          <a:ln w="12700">
            <a:solidFill>
              <a:srgbClr val="F2F4F7"/>
            </a:solidFill>
            <a:prstDash val="solid"/>
          </a:ln>
        </p:spPr>
      </p:sp>
      <p:sp>
        <p:nvSpPr>
          <p:cNvPr id="12" name="Text 9"/>
          <p:cNvSpPr txBox="1"/>
          <p:nvPr/>
        </p:nvSpPr>
        <p:spPr>
          <a:xfrm>
            <a:off x="3215488" y="2468880"/>
            <a:ext cx="640080" cy="457200"/>
          </a:xfrm>
          <a:prstGeom prst="rect">
            <a:avLst/>
          </a:prstGeom>
          <a:noFill/>
          <a:ln/>
        </p:spPr>
        <p:txBody>
          <a:bodyPr wrap="square" lIns="0" tIns="0" rIns="0" bIns="0" rtlCol="0" anchor="ctr"/>
          <a:lstStyle/>
          <a:p>
            <a:pPr rtl="1" algn="r" indent="0" marL="0">
              <a:buNone/>
            </a:pPr>
            <a:r>
              <a:rPr lang="ar-SA" altLang="en-US" sz="2600" b="1" dirty="0">
                <a:solidFill>
                  <a:srgbClr val="1A93B8"/>
                </a:solidFill>
                <a:latin typeface="Arial" pitchFamily="34" charset="0"/>
                <a:ea typeface="Arial" pitchFamily="34" charset="-122"/>
                <a:cs typeface="Arial" pitchFamily="34" charset="-120"/>
              </a:rPr>
              <a:t>02</a:t>
            </a:r>
            <a:endParaRPr lang="ar-SA" sz="2600" dirty="0"/>
          </a:p>
        </p:txBody>
      </p:sp>
      <p:sp>
        <p:nvSpPr>
          <p:cNvPr id="13" name="Text 10"/>
          <p:cNvSpPr txBox="1"/>
          <p:nvPr/>
        </p:nvSpPr>
        <p:spPr>
          <a:xfrm>
            <a:off x="731520" y="2450592"/>
            <a:ext cx="2438248" cy="502920"/>
          </a:xfrm>
          <a:prstGeom prst="rect">
            <a:avLst/>
          </a:prstGeom>
          <a:noFill/>
          <a:ln/>
        </p:spPr>
        <p:txBody>
          <a:bodyPr wrap="square" lIns="0" tIns="0" rIns="0" bIns="0" rtlCol="0" anchor="ctr"/>
          <a:lstStyle/>
          <a:p>
            <a:pPr rtl="1" algn="r" indent="0" marL="0">
              <a:buNone/>
            </a:pPr>
            <a:r>
              <a:rPr lang="ar-SA" altLang="en-US" sz="1060" b="1" dirty="0">
                <a:solidFill>
                  <a:srgbClr val="667080"/>
                </a:solidFill>
                <a:latin typeface="Arial" pitchFamily="34" charset="0"/>
                <a:ea typeface="Arial" pitchFamily="34" charset="-122"/>
                <a:cs typeface="Arial" pitchFamily="34" charset="-120"/>
              </a:rPr>
              <a:t>المرحلة 2</a:t>
            </a:r>
            <a:endParaRPr lang="ar-SA" sz="1060" dirty="0"/>
          </a:p>
          <a:p>
            <a:pPr rtl="1" algn="r" indent="0" marL="0">
              <a:buNone/>
            </a:pPr>
            <a:r>
              <a:rPr lang="ar-SA" altLang="en-US" sz="1500" b="1" dirty="0">
                <a:solidFill>
                  <a:srgbClr val="0E1420"/>
                </a:solidFill>
                <a:latin typeface="Arial" pitchFamily="34" charset="0"/>
                <a:ea typeface="Arial" pitchFamily="34" charset="-122"/>
                <a:cs typeface="Arial" pitchFamily="34" charset="-120"/>
              </a:rPr>
              <a:t>الاختيار والتخطيط</a:t>
            </a:r>
            <a:endParaRPr lang="ar-SA" sz="1060" dirty="0"/>
          </a:p>
        </p:txBody>
      </p:sp>
      <p:sp>
        <p:nvSpPr>
          <p:cNvPr id="14" name="Text 11"/>
          <p:cNvSpPr txBox="1"/>
          <p:nvPr/>
        </p:nvSpPr>
        <p:spPr>
          <a:xfrm>
            <a:off x="731520" y="3063240"/>
            <a:ext cx="3124048" cy="1069848"/>
          </a:xfrm>
          <a:prstGeom prst="rect">
            <a:avLst/>
          </a:prstGeom>
          <a:noFill/>
          <a:ln/>
        </p:spPr>
        <p:txBody>
          <a:bodyPr wrap="square" lIns="0" tIns="0" rIns="0" bIns="0" rtlCol="0" anchor="t"/>
          <a:lstStyle/>
          <a:p>
            <a:pPr rtl="1" algn="r" marL="152400" indent="-152400">
              <a:spcAft>
                <a:spcPts val="300"/>
              </a:spcAft>
              <a:buSzPct val="100000"/>
              <a:buChar char="•"/>
            </a:pPr>
            <a:r>
              <a:rPr lang="ar-SA" altLang="en-US" sz="1240" dirty="0">
                <a:solidFill>
                  <a:srgbClr val="3F4856"/>
                </a:solidFill>
                <a:latin typeface="Arial" pitchFamily="34" charset="0"/>
                <a:ea typeface="Arial" pitchFamily="34" charset="-122"/>
                <a:cs typeface="Arial" pitchFamily="34" charset="-120"/>
              </a:rPr>
              <a:t>التمييز بين معايير الربحية التجارية والحكومية</a:t>
            </a:r>
            <a:endParaRPr lang="ar-SA" sz="1240" dirty="0"/>
          </a:p>
          <a:p>
            <a:pPr rtl="1" algn="r" marL="152400" indent="-152400">
              <a:spcAft>
                <a:spcPts val="300"/>
              </a:spcAft>
              <a:buSzPct val="100000"/>
              <a:buChar char="•"/>
            </a:pPr>
            <a:r>
              <a:rPr lang="ar-SA" altLang="en-US" sz="1240" dirty="0">
                <a:solidFill>
                  <a:srgbClr val="3F4856"/>
                </a:solidFill>
                <a:latin typeface="Arial" pitchFamily="34" charset="0"/>
                <a:ea typeface="Arial" pitchFamily="34" charset="-122"/>
                <a:cs typeface="Arial" pitchFamily="34" charset="-120"/>
              </a:rPr>
              <a:t>اختيار المشروع وميثاق المشروع</a:t>
            </a:r>
            <a:endParaRPr lang="ar-SA" sz="1240" dirty="0"/>
          </a:p>
          <a:p>
            <a:pPr rtl="1" algn="r" marL="152400" indent="-152400">
              <a:spcAft>
                <a:spcPts val="300"/>
              </a:spcAft>
              <a:buSzPct val="100000"/>
              <a:buChar char="•"/>
            </a:pPr>
            <a:r>
              <a:rPr lang="ar-SA" altLang="en-US" sz="1240" dirty="0">
                <a:solidFill>
                  <a:srgbClr val="3F4856"/>
                </a:solidFill>
                <a:latin typeface="Arial" pitchFamily="34" charset="0"/>
                <a:ea typeface="Arial" pitchFamily="34" charset="-122"/>
                <a:cs typeface="Arial" pitchFamily="34" charset="-120"/>
              </a:rPr>
              <a:t>تخطيط نطاق العمل والجدول العام</a:t>
            </a:r>
            <a:endParaRPr lang="ar-SA" sz="1240" dirty="0"/>
          </a:p>
          <a:p>
            <a:pPr rtl="1" algn="r" marL="152400" indent="-152400">
              <a:spcAft>
                <a:spcPts val="300"/>
              </a:spcAft>
              <a:buSzPct val="100000"/>
              <a:buChar char="•"/>
            </a:pPr>
            <a:r>
              <a:rPr lang="ar-SA" altLang="en-US" sz="1240" dirty="0">
                <a:solidFill>
                  <a:srgbClr val="3F4856"/>
                </a:solidFill>
                <a:latin typeface="Arial" pitchFamily="34" charset="0"/>
                <a:ea typeface="Arial" pitchFamily="34" charset="-122"/>
                <a:cs typeface="Arial" pitchFamily="34" charset="-120"/>
              </a:rPr>
              <a:t>تخطيط التكلفة والجودة والموارد البشرية</a:t>
            </a:r>
            <a:endParaRPr lang="ar-SA" sz="1240" dirty="0"/>
          </a:p>
        </p:txBody>
      </p:sp>
      <p:sp>
        <p:nvSpPr>
          <p:cNvPr id="15" name="Shape 12"/>
          <p:cNvSpPr/>
          <p:nvPr/>
        </p:nvSpPr>
        <p:spPr>
          <a:xfrm>
            <a:off x="4312768" y="4407408"/>
            <a:ext cx="3535528" cy="1938528"/>
          </a:xfrm>
          <a:prstGeom prst="rect">
            <a:avLst/>
          </a:prstGeom>
          <a:solidFill>
            <a:srgbClr val="F2F4F7"/>
          </a:solidFill>
          <a:ln w="12700">
            <a:solidFill>
              <a:srgbClr val="F2F4F7"/>
            </a:solidFill>
            <a:prstDash val="solid"/>
          </a:ln>
        </p:spPr>
      </p:sp>
      <p:sp>
        <p:nvSpPr>
          <p:cNvPr id="16" name="Text 13"/>
          <p:cNvSpPr txBox="1"/>
          <p:nvPr/>
        </p:nvSpPr>
        <p:spPr>
          <a:xfrm>
            <a:off x="6979615" y="4590288"/>
            <a:ext cx="640080" cy="457200"/>
          </a:xfrm>
          <a:prstGeom prst="rect">
            <a:avLst/>
          </a:prstGeom>
          <a:noFill/>
          <a:ln/>
        </p:spPr>
        <p:txBody>
          <a:bodyPr wrap="square" lIns="0" tIns="0" rIns="0" bIns="0" rtlCol="0" anchor="ctr"/>
          <a:lstStyle/>
          <a:p>
            <a:pPr rtl="1" algn="r" indent="0" marL="0">
              <a:buNone/>
            </a:pPr>
            <a:r>
              <a:rPr lang="ar-SA" altLang="en-US" sz="2600" b="1" dirty="0">
                <a:solidFill>
                  <a:srgbClr val="C98F00"/>
                </a:solidFill>
                <a:latin typeface="Arial" pitchFamily="34" charset="0"/>
                <a:ea typeface="Arial" pitchFamily="34" charset="-122"/>
                <a:cs typeface="Arial" pitchFamily="34" charset="-120"/>
              </a:rPr>
              <a:t>03</a:t>
            </a:r>
            <a:endParaRPr lang="ar-SA" sz="2600" dirty="0"/>
          </a:p>
        </p:txBody>
      </p:sp>
      <p:sp>
        <p:nvSpPr>
          <p:cNvPr id="17" name="Text 14"/>
          <p:cNvSpPr txBox="1"/>
          <p:nvPr/>
        </p:nvSpPr>
        <p:spPr>
          <a:xfrm>
            <a:off x="4495648" y="4572000"/>
            <a:ext cx="2438248" cy="502920"/>
          </a:xfrm>
          <a:prstGeom prst="rect">
            <a:avLst/>
          </a:prstGeom>
          <a:noFill/>
          <a:ln/>
        </p:spPr>
        <p:txBody>
          <a:bodyPr wrap="square" lIns="0" tIns="0" rIns="0" bIns="0" rtlCol="0" anchor="ctr"/>
          <a:lstStyle/>
          <a:p>
            <a:pPr rtl="1" algn="r" indent="0" marL="0">
              <a:buNone/>
            </a:pPr>
            <a:r>
              <a:rPr lang="ar-SA" altLang="en-US" sz="1060" b="1" dirty="0">
                <a:solidFill>
                  <a:srgbClr val="667080"/>
                </a:solidFill>
                <a:latin typeface="Arial" pitchFamily="34" charset="0"/>
                <a:ea typeface="Arial" pitchFamily="34" charset="-122"/>
                <a:cs typeface="Arial" pitchFamily="34" charset="-120"/>
              </a:rPr>
              <a:t>المرحلة 3</a:t>
            </a:r>
            <a:endParaRPr lang="ar-SA" sz="1060" dirty="0"/>
          </a:p>
          <a:p>
            <a:pPr rtl="1" algn="r" indent="0" marL="0">
              <a:buNone/>
            </a:pPr>
            <a:r>
              <a:rPr lang="ar-SA" altLang="en-US" sz="1500" b="1" dirty="0">
                <a:solidFill>
                  <a:srgbClr val="0E1420"/>
                </a:solidFill>
                <a:latin typeface="Arial" pitchFamily="34" charset="0"/>
                <a:ea typeface="Arial" pitchFamily="34" charset="-122"/>
                <a:cs typeface="Arial" pitchFamily="34" charset="-120"/>
              </a:rPr>
              <a:t>الضبط والمتابعة</a:t>
            </a:r>
            <a:endParaRPr lang="ar-SA" sz="1060" dirty="0"/>
          </a:p>
        </p:txBody>
      </p:sp>
      <p:sp>
        <p:nvSpPr>
          <p:cNvPr id="18" name="Text 15"/>
          <p:cNvSpPr txBox="1"/>
          <p:nvPr/>
        </p:nvSpPr>
        <p:spPr>
          <a:xfrm>
            <a:off x="4495648" y="5184648"/>
            <a:ext cx="3124048" cy="1069848"/>
          </a:xfrm>
          <a:prstGeom prst="rect">
            <a:avLst/>
          </a:prstGeom>
          <a:noFill/>
          <a:ln/>
        </p:spPr>
        <p:txBody>
          <a:bodyPr wrap="square" lIns="0" tIns="0" rIns="0" bIns="0" rtlCol="0" anchor="t"/>
          <a:lstStyle/>
          <a:p>
            <a:pPr rtl="1" algn="r" marL="152400" indent="-152400">
              <a:spcAft>
                <a:spcPts val="300"/>
              </a:spcAft>
              <a:buSzPct val="100000"/>
              <a:buChar char="•"/>
            </a:pPr>
            <a:r>
              <a:rPr lang="ar-SA" altLang="en-US" sz="1240" dirty="0">
                <a:solidFill>
                  <a:srgbClr val="3F4856"/>
                </a:solidFill>
                <a:latin typeface="Arial" pitchFamily="34" charset="0"/>
                <a:ea typeface="Arial" pitchFamily="34" charset="-122"/>
                <a:cs typeface="Arial" pitchFamily="34" charset="-120"/>
              </a:rPr>
              <a:t>تخطيط الاتصالات وإدارة المخاطر والفرص</a:t>
            </a:r>
            <a:endParaRPr lang="ar-SA" sz="1240" dirty="0"/>
          </a:p>
          <a:p>
            <a:pPr rtl="1" algn="r" marL="152400" indent="-152400">
              <a:spcAft>
                <a:spcPts val="300"/>
              </a:spcAft>
              <a:buSzPct val="100000"/>
              <a:buChar char="•"/>
            </a:pPr>
            <a:r>
              <a:rPr lang="ar-SA" altLang="en-US" sz="1240" dirty="0">
                <a:solidFill>
                  <a:srgbClr val="3F4856"/>
                </a:solidFill>
                <a:latin typeface="Arial" pitchFamily="34" charset="0"/>
                <a:ea typeface="Arial" pitchFamily="34" charset="-122"/>
                <a:cs typeface="Arial" pitchFamily="34" charset="-120"/>
              </a:rPr>
              <a:t>تخطيط الاحتياجات والإمدادات</a:t>
            </a:r>
            <a:endParaRPr lang="ar-SA" sz="1240" dirty="0"/>
          </a:p>
          <a:p>
            <a:pPr rtl="1" algn="r" marL="152400" indent="-152400">
              <a:spcAft>
                <a:spcPts val="300"/>
              </a:spcAft>
              <a:buSzPct val="100000"/>
              <a:buChar char="•"/>
            </a:pPr>
            <a:r>
              <a:rPr lang="ar-SA" altLang="en-US" sz="1240" dirty="0">
                <a:solidFill>
                  <a:srgbClr val="3F4856"/>
                </a:solidFill>
                <a:latin typeface="Arial" pitchFamily="34" charset="0"/>
                <a:ea typeface="Arial" pitchFamily="34" charset="-122"/>
                <a:cs typeface="Arial" pitchFamily="34" charset="-120"/>
              </a:rPr>
              <a:t>طرق التحليل وطلبات التغيير</a:t>
            </a:r>
            <a:endParaRPr lang="ar-SA" sz="1240" dirty="0"/>
          </a:p>
        </p:txBody>
      </p:sp>
      <p:sp>
        <p:nvSpPr>
          <p:cNvPr id="19" name="Shape 16"/>
          <p:cNvSpPr/>
          <p:nvPr/>
        </p:nvSpPr>
        <p:spPr>
          <a:xfrm>
            <a:off x="548640" y="4407408"/>
            <a:ext cx="3535528" cy="1938528"/>
          </a:xfrm>
          <a:prstGeom prst="rect">
            <a:avLst/>
          </a:prstGeom>
          <a:solidFill>
            <a:srgbClr val="F2F4F7"/>
          </a:solidFill>
          <a:ln w="12700">
            <a:solidFill>
              <a:srgbClr val="F2F4F7"/>
            </a:solidFill>
            <a:prstDash val="solid"/>
          </a:ln>
        </p:spPr>
      </p:sp>
      <p:sp>
        <p:nvSpPr>
          <p:cNvPr id="20" name="Text 17"/>
          <p:cNvSpPr txBox="1"/>
          <p:nvPr/>
        </p:nvSpPr>
        <p:spPr>
          <a:xfrm>
            <a:off x="3215488" y="4590288"/>
            <a:ext cx="640080" cy="457200"/>
          </a:xfrm>
          <a:prstGeom prst="rect">
            <a:avLst/>
          </a:prstGeom>
          <a:noFill/>
          <a:ln/>
        </p:spPr>
        <p:txBody>
          <a:bodyPr wrap="square" lIns="0" tIns="0" rIns="0" bIns="0" rtlCol="0" anchor="ctr"/>
          <a:lstStyle/>
          <a:p>
            <a:pPr rtl="1" algn="r" indent="0" marL="0">
              <a:buNone/>
            </a:pPr>
            <a:r>
              <a:rPr lang="ar-SA" altLang="en-US" sz="2600" b="1" dirty="0">
                <a:solidFill>
                  <a:srgbClr val="5B54A4"/>
                </a:solidFill>
                <a:latin typeface="Arial" pitchFamily="34" charset="0"/>
                <a:ea typeface="Arial" pitchFamily="34" charset="-122"/>
                <a:cs typeface="Arial" pitchFamily="34" charset="-120"/>
              </a:rPr>
              <a:t>04</a:t>
            </a:r>
            <a:endParaRPr lang="ar-SA" sz="2600" dirty="0"/>
          </a:p>
        </p:txBody>
      </p:sp>
      <p:sp>
        <p:nvSpPr>
          <p:cNvPr id="21" name="Text 18"/>
          <p:cNvSpPr txBox="1"/>
          <p:nvPr/>
        </p:nvSpPr>
        <p:spPr>
          <a:xfrm>
            <a:off x="731520" y="4572000"/>
            <a:ext cx="2438248" cy="502920"/>
          </a:xfrm>
          <a:prstGeom prst="rect">
            <a:avLst/>
          </a:prstGeom>
          <a:noFill/>
          <a:ln/>
        </p:spPr>
        <p:txBody>
          <a:bodyPr wrap="square" lIns="0" tIns="0" rIns="0" bIns="0" rtlCol="0" anchor="ctr"/>
          <a:lstStyle/>
          <a:p>
            <a:pPr rtl="1" algn="r" indent="0" marL="0">
              <a:buNone/>
            </a:pPr>
            <a:r>
              <a:rPr lang="ar-SA" altLang="en-US" sz="1060" b="1" dirty="0">
                <a:solidFill>
                  <a:srgbClr val="667080"/>
                </a:solidFill>
                <a:latin typeface="Arial" pitchFamily="34" charset="0"/>
                <a:ea typeface="Arial" pitchFamily="34" charset="-122"/>
                <a:cs typeface="Arial" pitchFamily="34" charset="-120"/>
              </a:rPr>
              <a:t>المرحلة 4</a:t>
            </a:r>
            <a:endParaRPr lang="ar-SA" sz="1060" dirty="0"/>
          </a:p>
          <a:p>
            <a:pPr rtl="1" algn="r" indent="0" marL="0">
              <a:buNone/>
            </a:pPr>
            <a:r>
              <a:rPr lang="ar-SA" altLang="en-US" sz="1500" b="1" dirty="0">
                <a:solidFill>
                  <a:srgbClr val="0E1420"/>
                </a:solidFill>
                <a:latin typeface="Arial" pitchFamily="34" charset="0"/>
                <a:ea typeface="Arial" pitchFamily="34" charset="-122"/>
                <a:cs typeface="Arial" pitchFamily="34" charset="-120"/>
              </a:rPr>
              <a:t>التنفيذ والإغلاق</a:t>
            </a:r>
            <a:endParaRPr lang="ar-SA" sz="1060" dirty="0"/>
          </a:p>
        </p:txBody>
      </p:sp>
      <p:sp>
        <p:nvSpPr>
          <p:cNvPr id="22" name="Text 19"/>
          <p:cNvSpPr txBox="1"/>
          <p:nvPr/>
        </p:nvSpPr>
        <p:spPr>
          <a:xfrm>
            <a:off x="731520" y="5184648"/>
            <a:ext cx="3124048" cy="1069848"/>
          </a:xfrm>
          <a:prstGeom prst="rect">
            <a:avLst/>
          </a:prstGeom>
          <a:noFill/>
          <a:ln/>
        </p:spPr>
        <p:txBody>
          <a:bodyPr wrap="square" lIns="0" tIns="0" rIns="0" bIns="0" rtlCol="0" anchor="t"/>
          <a:lstStyle/>
          <a:p>
            <a:pPr rtl="1" algn="r" marL="152400" indent="-152400">
              <a:spcAft>
                <a:spcPts val="300"/>
              </a:spcAft>
              <a:buSzPct val="100000"/>
              <a:buChar char="•"/>
            </a:pPr>
            <a:r>
              <a:rPr lang="ar-SA" altLang="en-US" sz="1240" dirty="0">
                <a:solidFill>
                  <a:srgbClr val="3F4856"/>
                </a:solidFill>
                <a:latin typeface="Arial" pitchFamily="34" charset="0"/>
                <a:ea typeface="Arial" pitchFamily="34" charset="-122"/>
                <a:cs typeface="Arial" pitchFamily="34" charset="-120"/>
              </a:rPr>
              <a:t>مراحل المشروع وإدارتها</a:t>
            </a:r>
            <a:endParaRPr lang="ar-SA" sz="1240" dirty="0"/>
          </a:p>
          <a:p>
            <a:pPr rtl="1" algn="r" marL="152400" indent="-152400">
              <a:spcAft>
                <a:spcPts val="300"/>
              </a:spcAft>
              <a:buSzPct val="100000"/>
              <a:buChar char="•"/>
            </a:pPr>
            <a:r>
              <a:rPr lang="ar-SA" altLang="en-US" sz="1240" dirty="0">
                <a:solidFill>
                  <a:srgbClr val="3F4856"/>
                </a:solidFill>
                <a:latin typeface="Arial" pitchFamily="34" charset="0"/>
                <a:ea typeface="Arial" pitchFamily="34" charset="-122"/>
                <a:cs typeface="Arial" pitchFamily="34" charset="-120"/>
              </a:rPr>
              <a:t>مرحلة التنظيم والتنفيذ</a:t>
            </a:r>
            <a:endParaRPr lang="ar-SA" sz="1240" dirty="0"/>
          </a:p>
          <a:p>
            <a:pPr rtl="1" algn="r" marL="152400" indent="-152400">
              <a:spcAft>
                <a:spcPts val="300"/>
              </a:spcAft>
              <a:buSzPct val="100000"/>
              <a:buChar char="•"/>
            </a:pPr>
            <a:r>
              <a:rPr lang="ar-SA" altLang="en-US" sz="1240" dirty="0">
                <a:solidFill>
                  <a:srgbClr val="3F4856"/>
                </a:solidFill>
                <a:latin typeface="Arial" pitchFamily="34" charset="0"/>
                <a:ea typeface="Arial" pitchFamily="34" charset="-122"/>
                <a:cs typeface="Arial" pitchFamily="34" charset="-120"/>
              </a:rPr>
              <a:t>إغلاق المشروع وتسليمه</a:t>
            </a:r>
            <a:endParaRPr lang="ar-SA" sz="1240" dirty="0"/>
          </a:p>
        </p:txBody>
      </p:sp>
      <p:sp>
        <p:nvSpPr>
          <p:cNvPr id="23" name="Text 20"/>
          <p:cNvSpPr txBox="1"/>
          <p:nvPr/>
        </p:nvSpPr>
        <p:spPr>
          <a:xfrm>
            <a:off x="1097280" y="6446520"/>
            <a:ext cx="6751015" cy="228600"/>
          </a:xfrm>
          <a:prstGeom prst="rect">
            <a:avLst/>
          </a:prstGeom>
          <a:noFill/>
          <a:ln/>
        </p:spPr>
        <p:txBody>
          <a:bodyPr wrap="square" lIns="0" tIns="0" rIns="0" bIns="0" rtlCol="0" anchor="ctr"/>
          <a:lstStyle/>
          <a:p>
            <a:pPr rtl="1" algn="r" indent="0" marL="0">
              <a:buNone/>
            </a:pPr>
            <a:r>
              <a:rPr lang="ar-SA" altLang="en-US" sz="1000" dirty="0">
                <a:solidFill>
                  <a:srgbClr val="667080"/>
                </a:solidFill>
                <a:latin typeface="Arial" pitchFamily="34" charset="0"/>
                <a:ea typeface="Arial" pitchFamily="34" charset="-122"/>
                <a:cs typeface="Arial" pitchFamily="34" charset="-120"/>
              </a:rPr>
              <a:t>الرؤية الجديدة التكاملية  ·  ملف الشركة</a:t>
            </a:r>
            <a:endParaRPr lang="ar-SA" sz="1000" dirty="0"/>
          </a:p>
        </p:txBody>
      </p:sp>
      <p:sp>
        <p:nvSpPr>
          <p:cNvPr id="24" name="Text 21"/>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1060" b="1" dirty="0">
                <a:solidFill>
                  <a:srgbClr val="667080"/>
                </a:solidFill>
                <a:latin typeface="Arial" pitchFamily="34" charset="0"/>
                <a:ea typeface="Arial" pitchFamily="34" charset="-122"/>
                <a:cs typeface="Arial" pitchFamily="34" charset="-120"/>
              </a:rPr>
              <a:t>06</a:t>
            </a:r>
            <a:endParaRPr lang="ar-SA" sz="10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420"/>
        </a:solidFill>
      </p:bgPr>
    </p:bg>
    <p:spTree>
      <p:nvGrpSpPr>
        <p:cNvPr id="1" name=""/>
        <p:cNvGrpSpPr/>
        <p:nvPr/>
      </p:nvGrpSpPr>
      <p:grpSpPr>
        <a:xfrm>
          <a:off x="0" y="0"/>
          <a:ext cx="0" cy="0"/>
          <a:chOff x="0" y="0"/>
          <a:chExt cx="0" cy="0"/>
        </a:xfrm>
      </p:grpSpPr>
      <p:sp>
        <p:nvSpPr>
          <p:cNvPr id="2" name="Shape 0"/>
          <p:cNvSpPr/>
          <p:nvPr/>
        </p:nvSpPr>
        <p:spPr>
          <a:xfrm>
            <a:off x="11332159" y="649224"/>
            <a:ext cx="310896" cy="146304"/>
          </a:xfrm>
          <a:prstGeom prst="parallelogram">
            <a:avLst/>
          </a:prstGeom>
          <a:solidFill>
            <a:srgbClr val="2DB8E0"/>
          </a:solidFill>
          <a:ln w="12700">
            <a:solidFill>
              <a:srgbClr val="2DB8E0"/>
            </a:solidFill>
            <a:prstDash val="solid"/>
          </a:ln>
        </p:spPr>
      </p:sp>
      <p:sp>
        <p:nvSpPr>
          <p:cNvPr id="3" name="Text 1"/>
          <p:cNvSpPr txBox="1"/>
          <p:nvPr/>
        </p:nvSpPr>
        <p:spPr>
          <a:xfrm>
            <a:off x="8031175" y="594360"/>
            <a:ext cx="3154680" cy="256032"/>
          </a:xfrm>
          <a:prstGeom prst="rect">
            <a:avLst/>
          </a:prstGeom>
          <a:noFill/>
          <a:ln/>
        </p:spPr>
        <p:txBody>
          <a:bodyPr wrap="square" lIns="0" tIns="0" rIns="0" bIns="0" rtlCol="0" anchor="ctr"/>
          <a:lstStyle/>
          <a:p>
            <a:pPr rtl="1" algn="r" indent="0" marL="0">
              <a:buNone/>
            </a:pPr>
            <a:r>
              <a:rPr lang="ar-SA" altLang="en-US" sz="1300" b="1" dirty="0">
                <a:solidFill>
                  <a:srgbClr val="2DB8E0"/>
                </a:solidFill>
                <a:latin typeface="Arial" pitchFamily="34" charset="0"/>
                <a:ea typeface="Arial" pitchFamily="34" charset="-122"/>
                <a:cs typeface="Arial" pitchFamily="34" charset="-120"/>
              </a:rPr>
              <a:t>الخدمة 02 / 08</a:t>
            </a:r>
            <a:endParaRPr lang="ar-SA" sz="1300" dirty="0"/>
          </a:p>
        </p:txBody>
      </p:sp>
      <p:sp>
        <p:nvSpPr>
          <p:cNvPr id="4" name="Text 2"/>
          <p:cNvSpPr txBox="1"/>
          <p:nvPr/>
        </p:nvSpPr>
        <p:spPr>
          <a:xfrm>
            <a:off x="8031175" y="941832"/>
            <a:ext cx="3611880" cy="1554480"/>
          </a:xfrm>
          <a:prstGeom prst="rect">
            <a:avLst/>
          </a:prstGeom>
          <a:noFill/>
          <a:ln/>
        </p:spPr>
        <p:txBody>
          <a:bodyPr wrap="square" lIns="0" tIns="0" rIns="0" bIns="0" rtlCol="0" anchor="t"/>
          <a:lstStyle/>
          <a:p>
            <a:pPr rtl="1" algn="r" indent="0" marL="0">
              <a:buNone/>
            </a:pPr>
            <a:r>
              <a:rPr lang="ar-SA" altLang="en-US" sz="3400" b="1" dirty="0">
                <a:solidFill>
                  <a:srgbClr val="FFFFFF"/>
                </a:solidFill>
                <a:latin typeface="Arial" pitchFamily="34" charset="0"/>
                <a:ea typeface="Arial" pitchFamily="34" charset="-122"/>
                <a:cs typeface="Arial" pitchFamily="34" charset="-120"/>
              </a:rPr>
              <a:t>المقاولات والأعمال الإنشائية</a:t>
            </a:r>
            <a:endParaRPr lang="ar-SA" sz="3400" dirty="0"/>
          </a:p>
        </p:txBody>
      </p:sp>
      <p:sp>
        <p:nvSpPr>
          <p:cNvPr id="5" name="Text 3"/>
          <p:cNvSpPr txBox="1"/>
          <p:nvPr/>
        </p:nvSpPr>
        <p:spPr>
          <a:xfrm>
            <a:off x="8031175" y="2606040"/>
            <a:ext cx="3611880" cy="1280160"/>
          </a:xfrm>
          <a:prstGeom prst="rect">
            <a:avLst/>
          </a:prstGeom>
          <a:noFill/>
          <a:ln/>
        </p:spPr>
        <p:txBody>
          <a:bodyPr wrap="square" lIns="0" tIns="0" rIns="0" bIns="0" rtlCol="0" anchor="t"/>
          <a:lstStyle/>
          <a:p>
            <a:pPr rtl="1" algn="r" indent="0" marL="0">
              <a:lnSpc>
                <a:spcPct val="115000"/>
              </a:lnSpc>
              <a:buNone/>
            </a:pPr>
            <a:r>
              <a:rPr lang="ar-SA" altLang="en-US" sz="1450" dirty="0">
                <a:solidFill>
                  <a:srgbClr val="C3CBD6"/>
                </a:solidFill>
                <a:latin typeface="Arial" pitchFamily="34" charset="0"/>
                <a:ea typeface="Arial" pitchFamily="34" charset="-122"/>
                <a:cs typeface="Arial" pitchFamily="34" charset="-120"/>
              </a:rPr>
              <a:t>أعمال المقاولات الإنشائية الأساسية بقيادة مهندس مدني بخبرة 35 عامًا، من بينها العمل مع مجموعة بن لادن السعودية.</a:t>
            </a:r>
            <a:endParaRPr lang="ar-SA" sz="1450" dirty="0"/>
          </a:p>
        </p:txBody>
      </p:sp>
      <p:sp>
        <p:nvSpPr>
          <p:cNvPr id="6" name="Text 4"/>
          <p:cNvSpPr txBox="1"/>
          <p:nvPr/>
        </p:nvSpPr>
        <p:spPr>
          <a:xfrm>
            <a:off x="8031175" y="4206240"/>
            <a:ext cx="3611880" cy="1005840"/>
          </a:xfrm>
          <a:prstGeom prst="rect">
            <a:avLst/>
          </a:prstGeom>
          <a:noFill/>
          <a:ln/>
        </p:spPr>
        <p:txBody>
          <a:bodyPr wrap="square" lIns="0" tIns="0" rIns="0" bIns="0" rtlCol="0" anchor="ctr"/>
          <a:lstStyle/>
          <a:p>
            <a:pPr rtl="1" algn="r" indent="0" marL="0">
              <a:buNone/>
            </a:pPr>
            <a:r>
              <a:rPr lang="ar-SA" altLang="en-US" sz="7200" b="1" dirty="0">
                <a:solidFill>
                  <a:srgbClr val="FBBA16"/>
                </a:solidFill>
                <a:latin typeface="Arial" pitchFamily="34" charset="0"/>
                <a:ea typeface="Arial" pitchFamily="34" charset="-122"/>
                <a:cs typeface="Arial" pitchFamily="34" charset="-120"/>
              </a:rPr>
              <a:t>35</a:t>
            </a:r>
            <a:endParaRPr lang="ar-SA" sz="7200" dirty="0"/>
          </a:p>
        </p:txBody>
      </p:sp>
      <p:sp>
        <p:nvSpPr>
          <p:cNvPr id="7" name="Text 5"/>
          <p:cNvSpPr txBox="1"/>
          <p:nvPr/>
        </p:nvSpPr>
        <p:spPr>
          <a:xfrm>
            <a:off x="8031175" y="5257800"/>
            <a:ext cx="3611880" cy="548640"/>
          </a:xfrm>
          <a:prstGeom prst="rect">
            <a:avLst/>
          </a:prstGeom>
          <a:noFill/>
          <a:ln/>
        </p:spPr>
        <p:txBody>
          <a:bodyPr wrap="square" lIns="0" tIns="0" rIns="0" bIns="0" rtlCol="0" anchor="t"/>
          <a:lstStyle/>
          <a:p>
            <a:pPr rtl="1" algn="r" indent="0" marL="0">
              <a:buNone/>
            </a:pPr>
            <a:r>
              <a:rPr lang="ar-SA" altLang="en-US" sz="1300" dirty="0">
                <a:solidFill>
                  <a:srgbClr val="FFFFFF"/>
                </a:solidFill>
                <a:latin typeface="Arial" pitchFamily="34" charset="0"/>
                <a:ea typeface="Arial" pitchFamily="34" charset="-122"/>
                <a:cs typeface="Arial" pitchFamily="34" charset="-120"/>
              </a:rPr>
              <a:t>عامًا من الخبرة في الهندسة المدنية</a:t>
            </a:r>
            <a:endParaRPr lang="ar-SA" sz="1300" dirty="0"/>
          </a:p>
        </p:txBody>
      </p:sp>
      <p:pic>
        <p:nvPicPr>
          <p:cNvPr id="8" name="Image 0" descr="/home/user/NVIConsult/build/assets/s_str_a.jpg">    </p:cNvPr>
          <p:cNvPicPr>
            <a:picLocks noChangeAspect="1"/>
          </p:cNvPicPr>
          <p:nvPr/>
        </p:nvPicPr>
        <p:blipFill>
          <a:blip r:embed="rId1"/>
          <a:stretch>
            <a:fillRect/>
          </a:stretch>
        </p:blipFill>
        <p:spPr>
          <a:xfrm>
            <a:off x="4190695" y="548640"/>
            <a:ext cx="3429000" cy="5760720"/>
          </a:xfrm>
          <a:prstGeom prst="rect">
            <a:avLst/>
          </a:prstGeom>
        </p:spPr>
      </p:pic>
      <p:sp>
        <p:nvSpPr>
          <p:cNvPr id="9" name="Shape 6"/>
          <p:cNvSpPr/>
          <p:nvPr/>
        </p:nvSpPr>
        <p:spPr>
          <a:xfrm>
            <a:off x="4190695" y="5349240"/>
            <a:ext cx="3429000" cy="960120"/>
          </a:xfrm>
          <a:prstGeom prst="rect">
            <a:avLst/>
          </a:prstGeom>
          <a:solidFill>
            <a:srgbClr val="0E1420">
              <a:alpha val="88000"/>
            </a:srgbClr>
          </a:solidFill>
          <a:ln w="12700">
            <a:solidFill>
              <a:srgbClr val="0E1420"/>
            </a:solidFill>
            <a:prstDash val="solid"/>
          </a:ln>
        </p:spPr>
      </p:sp>
      <p:sp>
        <p:nvSpPr>
          <p:cNvPr id="10" name="Shape 7"/>
          <p:cNvSpPr/>
          <p:nvPr/>
        </p:nvSpPr>
        <p:spPr>
          <a:xfrm>
            <a:off x="6961327" y="5577840"/>
            <a:ext cx="384048" cy="128016"/>
          </a:xfrm>
          <a:prstGeom prst="parallelogram">
            <a:avLst/>
          </a:prstGeom>
          <a:solidFill>
            <a:srgbClr val="FBBA16"/>
          </a:solidFill>
          <a:ln w="12700">
            <a:solidFill>
              <a:srgbClr val="FBBA16"/>
            </a:solidFill>
            <a:prstDash val="solid"/>
          </a:ln>
        </p:spPr>
      </p:sp>
      <p:sp>
        <p:nvSpPr>
          <p:cNvPr id="11" name="Text 8"/>
          <p:cNvSpPr txBox="1"/>
          <p:nvPr/>
        </p:nvSpPr>
        <p:spPr>
          <a:xfrm>
            <a:off x="4465015" y="5760720"/>
            <a:ext cx="2880360" cy="411480"/>
          </a:xfrm>
          <a:prstGeom prst="rect">
            <a:avLst/>
          </a:prstGeom>
          <a:noFill/>
          <a:ln/>
        </p:spPr>
        <p:txBody>
          <a:bodyPr wrap="square" lIns="0" tIns="0" rIns="0" bIns="0" rtlCol="0" anchor="ctr"/>
          <a:lstStyle/>
          <a:p>
            <a:pPr rtl="1" algn="r" indent="0" marL="0">
              <a:buNone/>
            </a:pPr>
            <a:r>
              <a:rPr lang="ar-SA" altLang="en-US" sz="2000" b="1" dirty="0">
                <a:solidFill>
                  <a:srgbClr val="FFFFFF"/>
                </a:solidFill>
                <a:latin typeface="Arial" pitchFamily="34" charset="0"/>
                <a:ea typeface="Arial" pitchFamily="34" charset="-122"/>
                <a:cs typeface="Arial" pitchFamily="34" charset="-120"/>
              </a:rPr>
              <a:t>أعمال الخرسانة</a:t>
            </a:r>
            <a:endParaRPr lang="ar-SA" sz="2000" dirty="0"/>
          </a:p>
        </p:txBody>
      </p:sp>
      <p:pic>
        <p:nvPicPr>
          <p:cNvPr id="12" name="Image 1" descr="/home/user/NVIConsult/build/assets/s_str_b.jpg">    </p:cNvPr>
          <p:cNvPicPr>
            <a:picLocks noChangeAspect="1"/>
          </p:cNvPicPr>
          <p:nvPr/>
        </p:nvPicPr>
        <p:blipFill>
          <a:blip r:embed="rId2"/>
          <a:stretch>
            <a:fillRect/>
          </a:stretch>
        </p:blipFill>
        <p:spPr>
          <a:xfrm>
            <a:off x="551383" y="548640"/>
            <a:ext cx="3429000" cy="5760720"/>
          </a:xfrm>
          <a:prstGeom prst="rect">
            <a:avLst/>
          </a:prstGeom>
        </p:spPr>
      </p:pic>
      <p:sp>
        <p:nvSpPr>
          <p:cNvPr id="13" name="Shape 9"/>
          <p:cNvSpPr/>
          <p:nvPr/>
        </p:nvSpPr>
        <p:spPr>
          <a:xfrm>
            <a:off x="551383" y="5349240"/>
            <a:ext cx="3429000" cy="960120"/>
          </a:xfrm>
          <a:prstGeom prst="rect">
            <a:avLst/>
          </a:prstGeom>
          <a:solidFill>
            <a:srgbClr val="0E1420">
              <a:alpha val="88000"/>
            </a:srgbClr>
          </a:solidFill>
          <a:ln w="12700">
            <a:solidFill>
              <a:srgbClr val="0E1420"/>
            </a:solidFill>
            <a:prstDash val="solid"/>
          </a:ln>
        </p:spPr>
      </p:sp>
      <p:sp>
        <p:nvSpPr>
          <p:cNvPr id="14" name="Shape 10"/>
          <p:cNvSpPr/>
          <p:nvPr/>
        </p:nvSpPr>
        <p:spPr>
          <a:xfrm>
            <a:off x="3322015" y="5577840"/>
            <a:ext cx="384048" cy="128016"/>
          </a:xfrm>
          <a:prstGeom prst="parallelogram">
            <a:avLst/>
          </a:prstGeom>
          <a:solidFill>
            <a:srgbClr val="2DB8E0"/>
          </a:solidFill>
          <a:ln w="12700">
            <a:solidFill>
              <a:srgbClr val="2DB8E0"/>
            </a:solidFill>
            <a:prstDash val="solid"/>
          </a:ln>
        </p:spPr>
      </p:sp>
      <p:sp>
        <p:nvSpPr>
          <p:cNvPr id="15" name="Text 11"/>
          <p:cNvSpPr txBox="1"/>
          <p:nvPr/>
        </p:nvSpPr>
        <p:spPr>
          <a:xfrm>
            <a:off x="825703" y="5760720"/>
            <a:ext cx="2880360" cy="411480"/>
          </a:xfrm>
          <a:prstGeom prst="rect">
            <a:avLst/>
          </a:prstGeom>
          <a:noFill/>
          <a:ln/>
        </p:spPr>
        <p:txBody>
          <a:bodyPr wrap="square" lIns="0" tIns="0" rIns="0" bIns="0" rtlCol="0" anchor="ctr"/>
          <a:lstStyle/>
          <a:p>
            <a:pPr rtl="1" algn="r" indent="0" marL="0">
              <a:buNone/>
            </a:pPr>
            <a:r>
              <a:rPr lang="ar-SA" altLang="en-US" sz="2000" b="1" dirty="0">
                <a:solidFill>
                  <a:srgbClr val="FFFFFF"/>
                </a:solidFill>
                <a:latin typeface="Arial" pitchFamily="34" charset="0"/>
                <a:ea typeface="Arial" pitchFamily="34" charset="-122"/>
                <a:cs typeface="Arial" pitchFamily="34" charset="-120"/>
              </a:rPr>
              <a:t>أعمال الحديد والصلب</a:t>
            </a:r>
            <a:endParaRPr lang="ar-SA" sz="2000" dirty="0"/>
          </a:p>
        </p:txBody>
      </p:sp>
      <p:sp>
        <p:nvSpPr>
          <p:cNvPr id="16" name="Text 12"/>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1000" dirty="0">
                <a:solidFill>
                  <a:srgbClr val="8D97A5"/>
                </a:solidFill>
                <a:latin typeface="Arial" pitchFamily="34" charset="0"/>
                <a:ea typeface="Arial" pitchFamily="34" charset="-122"/>
                <a:cs typeface="Arial" pitchFamily="34" charset="-120"/>
              </a:rPr>
              <a:t>الرؤية الجديدة التكاملية  ·  ملف الشركة</a:t>
            </a:r>
            <a:endParaRPr lang="ar-SA" sz="1000" dirty="0"/>
          </a:p>
        </p:txBody>
      </p:sp>
      <p:sp>
        <p:nvSpPr>
          <p:cNvPr id="17" name="Text 13"/>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1060" b="1" dirty="0">
                <a:solidFill>
                  <a:srgbClr val="8D97A5"/>
                </a:solidFill>
                <a:latin typeface="Arial" pitchFamily="34" charset="0"/>
                <a:ea typeface="Arial" pitchFamily="34" charset="-122"/>
                <a:cs typeface="Arial" pitchFamily="34" charset="-120"/>
              </a:rPr>
              <a:t>07</a:t>
            </a:r>
            <a:endParaRPr lang="ar-SA" sz="10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332159" y="603504"/>
            <a:ext cx="310896" cy="146304"/>
          </a:xfrm>
          <a:prstGeom prst="parallelogram">
            <a:avLst/>
          </a:prstGeom>
          <a:solidFill>
            <a:srgbClr val="FBBA16"/>
          </a:solidFill>
          <a:ln w="12700">
            <a:solidFill>
              <a:srgbClr val="FBBA16"/>
            </a:solidFill>
            <a:prstDash val="solid"/>
          </a:ln>
        </p:spPr>
      </p:sp>
      <p:sp>
        <p:nvSpPr>
          <p:cNvPr id="3" name="Text 1"/>
          <p:cNvSpPr txBox="1"/>
          <p:nvPr/>
        </p:nvSpPr>
        <p:spPr>
          <a:xfrm>
            <a:off x="6065215" y="548640"/>
            <a:ext cx="5120640" cy="256032"/>
          </a:xfrm>
          <a:prstGeom prst="rect">
            <a:avLst/>
          </a:prstGeom>
          <a:noFill/>
          <a:ln/>
        </p:spPr>
        <p:txBody>
          <a:bodyPr wrap="square" lIns="0" tIns="0" rIns="0" bIns="0" rtlCol="0" anchor="ctr"/>
          <a:lstStyle/>
          <a:p>
            <a:pPr rtl="1" algn="r" indent="0" marL="0">
              <a:buNone/>
            </a:pPr>
            <a:r>
              <a:rPr lang="ar-SA" altLang="en-US" sz="1300" b="1" dirty="0">
                <a:solidFill>
                  <a:srgbClr val="C98F00"/>
                </a:solidFill>
                <a:latin typeface="Arial" pitchFamily="34" charset="0"/>
                <a:ea typeface="Arial" pitchFamily="34" charset="-122"/>
                <a:cs typeface="Arial" pitchFamily="34" charset="-120"/>
              </a:rPr>
              <a:t>الخدمة 03 / 08</a:t>
            </a:r>
            <a:endParaRPr lang="ar-SA" sz="1300" dirty="0"/>
          </a:p>
        </p:txBody>
      </p:sp>
      <p:sp>
        <p:nvSpPr>
          <p:cNvPr id="4" name="Text 2"/>
          <p:cNvSpPr txBox="1"/>
          <p:nvPr/>
        </p:nvSpPr>
        <p:spPr>
          <a:xfrm>
            <a:off x="6065215" y="896112"/>
            <a:ext cx="5577840" cy="685800"/>
          </a:xfrm>
          <a:prstGeom prst="rect">
            <a:avLst/>
          </a:prstGeom>
          <a:noFill/>
          <a:ln/>
        </p:spPr>
        <p:txBody>
          <a:bodyPr wrap="square" lIns="0" tIns="0" rIns="0" bIns="0" rtlCol="0" anchor="t"/>
          <a:lstStyle/>
          <a:p>
            <a:pPr rtl="1" algn="r" indent="0" marL="0">
              <a:buNone/>
            </a:pPr>
            <a:r>
              <a:rPr lang="ar-SA" altLang="en-US" sz="3200" b="1" dirty="0">
                <a:solidFill>
                  <a:srgbClr val="0E1420"/>
                </a:solidFill>
                <a:latin typeface="Arial" pitchFamily="34" charset="0"/>
                <a:ea typeface="Arial" pitchFamily="34" charset="-122"/>
                <a:cs typeface="Arial" pitchFamily="34" charset="-120"/>
              </a:rPr>
              <a:t>أعمال التجهيز والتشطيبات</a:t>
            </a:r>
            <a:endParaRPr lang="ar-SA" sz="3200" dirty="0"/>
          </a:p>
        </p:txBody>
      </p:sp>
      <p:sp>
        <p:nvSpPr>
          <p:cNvPr id="5" name="Text 3"/>
          <p:cNvSpPr txBox="1"/>
          <p:nvPr/>
        </p:nvSpPr>
        <p:spPr>
          <a:xfrm>
            <a:off x="6065215" y="1627632"/>
            <a:ext cx="5577840" cy="457200"/>
          </a:xfrm>
          <a:prstGeom prst="rect">
            <a:avLst/>
          </a:prstGeom>
          <a:noFill/>
          <a:ln/>
        </p:spPr>
        <p:txBody>
          <a:bodyPr wrap="square" lIns="0" tIns="0" rIns="0" bIns="0" rtlCol="0" anchor="t"/>
          <a:lstStyle/>
          <a:p>
            <a:pPr rtl="1" algn="r" indent="0" marL="0">
              <a:buNone/>
            </a:pPr>
            <a:r>
              <a:rPr lang="ar-SA" altLang="en-US" sz="1500" dirty="0">
                <a:solidFill>
                  <a:srgbClr val="3F4856"/>
                </a:solidFill>
                <a:latin typeface="Arial" pitchFamily="34" charset="0"/>
                <a:ea typeface="Arial" pitchFamily="34" charset="-122"/>
                <a:cs typeface="Arial" pitchFamily="34" charset="-120"/>
              </a:rPr>
              <a:t>التصميم الداخلي وجميع أعمال التشطيب تحت سقف واحد.</a:t>
            </a:r>
            <a:endParaRPr lang="ar-SA" sz="1500" dirty="0"/>
          </a:p>
        </p:txBody>
      </p:sp>
      <p:sp>
        <p:nvSpPr>
          <p:cNvPr id="6" name="Shape 4"/>
          <p:cNvSpPr/>
          <p:nvPr/>
        </p:nvSpPr>
        <p:spPr>
          <a:xfrm>
            <a:off x="11387023" y="2514600"/>
            <a:ext cx="256032" cy="109728"/>
          </a:xfrm>
          <a:prstGeom prst="parallelogram">
            <a:avLst/>
          </a:prstGeom>
          <a:solidFill>
            <a:srgbClr val="E5177B"/>
          </a:solidFill>
          <a:ln w="12700">
            <a:solidFill>
              <a:srgbClr val="E5177B"/>
            </a:solidFill>
            <a:prstDash val="solid"/>
          </a:ln>
        </p:spPr>
      </p:sp>
      <p:sp>
        <p:nvSpPr>
          <p:cNvPr id="7" name="Text 5"/>
          <p:cNvSpPr txBox="1"/>
          <p:nvPr/>
        </p:nvSpPr>
        <p:spPr>
          <a:xfrm>
            <a:off x="8991295" y="24231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التصميم الداخلي والتجهيز</a:t>
            </a:r>
            <a:endParaRPr lang="ar-SA" sz="1500" dirty="0"/>
          </a:p>
        </p:txBody>
      </p:sp>
      <p:sp>
        <p:nvSpPr>
          <p:cNvPr id="8" name="Shape 6"/>
          <p:cNvSpPr/>
          <p:nvPr/>
        </p:nvSpPr>
        <p:spPr>
          <a:xfrm>
            <a:off x="8991295" y="3172968"/>
            <a:ext cx="2651760" cy="0"/>
          </a:xfrm>
          <a:prstGeom prst="line">
            <a:avLst/>
          </a:prstGeom>
          <a:noFill/>
          <a:ln w="9525">
            <a:solidFill>
              <a:srgbClr val="DDE1E6"/>
            </a:solidFill>
            <a:prstDash val="solid"/>
          </a:ln>
        </p:spPr>
      </p:sp>
      <p:sp>
        <p:nvSpPr>
          <p:cNvPr id="9" name="Shape 7"/>
          <p:cNvSpPr/>
          <p:nvPr/>
        </p:nvSpPr>
        <p:spPr>
          <a:xfrm>
            <a:off x="11387023" y="3429000"/>
            <a:ext cx="256032" cy="109728"/>
          </a:xfrm>
          <a:prstGeom prst="parallelogram">
            <a:avLst/>
          </a:prstGeom>
          <a:solidFill>
            <a:srgbClr val="2DB8E0"/>
          </a:solidFill>
          <a:ln w="12700">
            <a:solidFill>
              <a:srgbClr val="2DB8E0"/>
            </a:solidFill>
            <a:prstDash val="solid"/>
          </a:ln>
        </p:spPr>
      </p:sp>
      <p:sp>
        <p:nvSpPr>
          <p:cNvPr id="10" name="Text 8"/>
          <p:cNvSpPr txBox="1"/>
          <p:nvPr/>
        </p:nvSpPr>
        <p:spPr>
          <a:xfrm>
            <a:off x="8991295" y="33375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أعمال تنسيق الحدائق</a:t>
            </a:r>
            <a:endParaRPr lang="ar-SA" sz="1500" dirty="0"/>
          </a:p>
        </p:txBody>
      </p:sp>
      <p:sp>
        <p:nvSpPr>
          <p:cNvPr id="11" name="Shape 9"/>
          <p:cNvSpPr/>
          <p:nvPr/>
        </p:nvSpPr>
        <p:spPr>
          <a:xfrm>
            <a:off x="8991295" y="4087368"/>
            <a:ext cx="2651760" cy="0"/>
          </a:xfrm>
          <a:prstGeom prst="line">
            <a:avLst/>
          </a:prstGeom>
          <a:noFill/>
          <a:ln w="9525">
            <a:solidFill>
              <a:srgbClr val="DDE1E6"/>
            </a:solidFill>
            <a:prstDash val="solid"/>
          </a:ln>
        </p:spPr>
      </p:sp>
      <p:sp>
        <p:nvSpPr>
          <p:cNvPr id="12" name="Shape 10"/>
          <p:cNvSpPr/>
          <p:nvPr/>
        </p:nvSpPr>
        <p:spPr>
          <a:xfrm>
            <a:off x="11387023" y="4343400"/>
            <a:ext cx="256032" cy="109728"/>
          </a:xfrm>
          <a:prstGeom prst="parallelogram">
            <a:avLst/>
          </a:prstGeom>
          <a:solidFill>
            <a:srgbClr val="FBBA16"/>
          </a:solidFill>
          <a:ln w="12700">
            <a:solidFill>
              <a:srgbClr val="FBBA16"/>
            </a:solidFill>
            <a:prstDash val="solid"/>
          </a:ln>
        </p:spPr>
      </p:sp>
      <p:sp>
        <p:nvSpPr>
          <p:cNvPr id="13" name="Text 11"/>
          <p:cNvSpPr txBox="1"/>
          <p:nvPr/>
        </p:nvSpPr>
        <p:spPr>
          <a:xfrm>
            <a:off x="8991295" y="42519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أعمال البلاط</a:t>
            </a:r>
            <a:endParaRPr lang="ar-SA" sz="1500" dirty="0"/>
          </a:p>
        </p:txBody>
      </p:sp>
      <p:sp>
        <p:nvSpPr>
          <p:cNvPr id="14" name="Shape 12"/>
          <p:cNvSpPr/>
          <p:nvPr/>
        </p:nvSpPr>
        <p:spPr>
          <a:xfrm>
            <a:off x="8991295" y="5001768"/>
            <a:ext cx="2651760" cy="0"/>
          </a:xfrm>
          <a:prstGeom prst="line">
            <a:avLst/>
          </a:prstGeom>
          <a:noFill/>
          <a:ln w="9525">
            <a:solidFill>
              <a:srgbClr val="DDE1E6"/>
            </a:solidFill>
            <a:prstDash val="solid"/>
          </a:ln>
        </p:spPr>
      </p:sp>
      <p:sp>
        <p:nvSpPr>
          <p:cNvPr id="15" name="Shape 13"/>
          <p:cNvSpPr/>
          <p:nvPr/>
        </p:nvSpPr>
        <p:spPr>
          <a:xfrm>
            <a:off x="11387023" y="5257800"/>
            <a:ext cx="256032" cy="109728"/>
          </a:xfrm>
          <a:prstGeom prst="parallelogram">
            <a:avLst/>
          </a:prstGeom>
          <a:solidFill>
            <a:srgbClr val="5B54A4"/>
          </a:solidFill>
          <a:ln w="12700">
            <a:solidFill>
              <a:srgbClr val="5B54A4"/>
            </a:solidFill>
            <a:prstDash val="solid"/>
          </a:ln>
        </p:spPr>
      </p:sp>
      <p:sp>
        <p:nvSpPr>
          <p:cNvPr id="16" name="Text 14"/>
          <p:cNvSpPr txBox="1"/>
          <p:nvPr/>
        </p:nvSpPr>
        <p:spPr>
          <a:xfrm>
            <a:off x="8991295" y="51663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أعمال النجارة</a:t>
            </a:r>
            <a:endParaRPr lang="ar-SA" sz="1500" dirty="0"/>
          </a:p>
        </p:txBody>
      </p:sp>
      <p:sp>
        <p:nvSpPr>
          <p:cNvPr id="17" name="Shape 15"/>
          <p:cNvSpPr/>
          <p:nvPr/>
        </p:nvSpPr>
        <p:spPr>
          <a:xfrm>
            <a:off x="8991295" y="5916168"/>
            <a:ext cx="2651760" cy="0"/>
          </a:xfrm>
          <a:prstGeom prst="line">
            <a:avLst/>
          </a:prstGeom>
          <a:noFill/>
          <a:ln w="9525">
            <a:solidFill>
              <a:srgbClr val="DDE1E6"/>
            </a:solidFill>
            <a:prstDash val="solid"/>
          </a:ln>
        </p:spPr>
      </p:sp>
      <p:sp>
        <p:nvSpPr>
          <p:cNvPr id="18" name="Shape 16"/>
          <p:cNvSpPr/>
          <p:nvPr/>
        </p:nvSpPr>
        <p:spPr>
          <a:xfrm>
            <a:off x="8460943" y="2514600"/>
            <a:ext cx="256032" cy="109728"/>
          </a:xfrm>
          <a:prstGeom prst="parallelogram">
            <a:avLst/>
          </a:prstGeom>
          <a:solidFill>
            <a:srgbClr val="E5177B"/>
          </a:solidFill>
          <a:ln w="12700">
            <a:solidFill>
              <a:srgbClr val="E5177B"/>
            </a:solidFill>
            <a:prstDash val="solid"/>
          </a:ln>
        </p:spPr>
      </p:sp>
      <p:sp>
        <p:nvSpPr>
          <p:cNvPr id="19" name="Text 17"/>
          <p:cNvSpPr txBox="1"/>
          <p:nvPr/>
        </p:nvSpPr>
        <p:spPr>
          <a:xfrm>
            <a:off x="6065215" y="24231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أعمال الزجاج</a:t>
            </a:r>
            <a:endParaRPr lang="ar-SA" sz="1500" dirty="0"/>
          </a:p>
        </p:txBody>
      </p:sp>
      <p:sp>
        <p:nvSpPr>
          <p:cNvPr id="20" name="Shape 18"/>
          <p:cNvSpPr/>
          <p:nvPr/>
        </p:nvSpPr>
        <p:spPr>
          <a:xfrm>
            <a:off x="6065215" y="3172968"/>
            <a:ext cx="2651760" cy="0"/>
          </a:xfrm>
          <a:prstGeom prst="line">
            <a:avLst/>
          </a:prstGeom>
          <a:noFill/>
          <a:ln w="9525">
            <a:solidFill>
              <a:srgbClr val="DDE1E6"/>
            </a:solidFill>
            <a:prstDash val="solid"/>
          </a:ln>
        </p:spPr>
      </p:sp>
      <p:sp>
        <p:nvSpPr>
          <p:cNvPr id="21" name="Shape 19"/>
          <p:cNvSpPr/>
          <p:nvPr/>
        </p:nvSpPr>
        <p:spPr>
          <a:xfrm>
            <a:off x="8460943" y="3429000"/>
            <a:ext cx="256032" cy="109728"/>
          </a:xfrm>
          <a:prstGeom prst="parallelogram">
            <a:avLst/>
          </a:prstGeom>
          <a:solidFill>
            <a:srgbClr val="2DB8E0"/>
          </a:solidFill>
          <a:ln w="12700">
            <a:solidFill>
              <a:srgbClr val="2DB8E0"/>
            </a:solidFill>
            <a:prstDash val="solid"/>
          </a:ln>
        </p:spPr>
      </p:sp>
      <p:sp>
        <p:nvSpPr>
          <p:cNvPr id="22" name="Text 20"/>
          <p:cNvSpPr txBox="1"/>
          <p:nvPr/>
        </p:nvSpPr>
        <p:spPr>
          <a:xfrm>
            <a:off x="6065215" y="33375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أعمال الدهانات</a:t>
            </a:r>
            <a:endParaRPr lang="ar-SA" sz="1500" dirty="0"/>
          </a:p>
        </p:txBody>
      </p:sp>
      <p:sp>
        <p:nvSpPr>
          <p:cNvPr id="23" name="Shape 21"/>
          <p:cNvSpPr/>
          <p:nvPr/>
        </p:nvSpPr>
        <p:spPr>
          <a:xfrm>
            <a:off x="6065215" y="4087368"/>
            <a:ext cx="2651760" cy="0"/>
          </a:xfrm>
          <a:prstGeom prst="line">
            <a:avLst/>
          </a:prstGeom>
          <a:noFill/>
          <a:ln w="9525">
            <a:solidFill>
              <a:srgbClr val="DDE1E6"/>
            </a:solidFill>
            <a:prstDash val="solid"/>
          </a:ln>
        </p:spPr>
      </p:sp>
      <p:sp>
        <p:nvSpPr>
          <p:cNvPr id="24" name="Shape 22"/>
          <p:cNvSpPr/>
          <p:nvPr/>
        </p:nvSpPr>
        <p:spPr>
          <a:xfrm>
            <a:off x="8460943" y="4343400"/>
            <a:ext cx="256032" cy="109728"/>
          </a:xfrm>
          <a:prstGeom prst="parallelogram">
            <a:avLst/>
          </a:prstGeom>
          <a:solidFill>
            <a:srgbClr val="FBBA16"/>
          </a:solidFill>
          <a:ln w="12700">
            <a:solidFill>
              <a:srgbClr val="FBBA16"/>
            </a:solidFill>
            <a:prstDash val="solid"/>
          </a:ln>
        </p:spPr>
      </p:sp>
      <p:sp>
        <p:nvSpPr>
          <p:cNvPr id="25" name="Text 23"/>
          <p:cNvSpPr txBox="1"/>
          <p:nvPr/>
        </p:nvSpPr>
        <p:spPr>
          <a:xfrm>
            <a:off x="6065215" y="42519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أعمال الجبس</a:t>
            </a:r>
            <a:endParaRPr lang="ar-SA" sz="1500" dirty="0"/>
          </a:p>
        </p:txBody>
      </p:sp>
      <p:sp>
        <p:nvSpPr>
          <p:cNvPr id="26" name="Shape 24"/>
          <p:cNvSpPr/>
          <p:nvPr/>
        </p:nvSpPr>
        <p:spPr>
          <a:xfrm>
            <a:off x="6065215" y="5001768"/>
            <a:ext cx="2651760" cy="0"/>
          </a:xfrm>
          <a:prstGeom prst="line">
            <a:avLst/>
          </a:prstGeom>
          <a:noFill/>
          <a:ln w="9525">
            <a:solidFill>
              <a:srgbClr val="DDE1E6"/>
            </a:solidFill>
            <a:prstDash val="solid"/>
          </a:ln>
        </p:spPr>
      </p:sp>
      <p:sp>
        <p:nvSpPr>
          <p:cNvPr id="27" name="Shape 25"/>
          <p:cNvSpPr/>
          <p:nvPr/>
        </p:nvSpPr>
        <p:spPr>
          <a:xfrm>
            <a:off x="8460943" y="5257800"/>
            <a:ext cx="256032" cy="109728"/>
          </a:xfrm>
          <a:prstGeom prst="parallelogram">
            <a:avLst/>
          </a:prstGeom>
          <a:solidFill>
            <a:srgbClr val="5B54A4"/>
          </a:solidFill>
          <a:ln w="12700">
            <a:solidFill>
              <a:srgbClr val="5B54A4"/>
            </a:solidFill>
            <a:prstDash val="solid"/>
          </a:ln>
        </p:spPr>
      </p:sp>
      <p:sp>
        <p:nvSpPr>
          <p:cNvPr id="28" name="Text 26"/>
          <p:cNvSpPr txBox="1"/>
          <p:nvPr/>
        </p:nvSpPr>
        <p:spPr>
          <a:xfrm>
            <a:off x="6065215" y="5166360"/>
            <a:ext cx="2240280" cy="50292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أعمال الألمنيوم والهياكل المعدنية</a:t>
            </a:r>
            <a:endParaRPr lang="ar-SA" sz="1500" dirty="0"/>
          </a:p>
        </p:txBody>
      </p:sp>
      <p:sp>
        <p:nvSpPr>
          <p:cNvPr id="29" name="Shape 27"/>
          <p:cNvSpPr/>
          <p:nvPr/>
        </p:nvSpPr>
        <p:spPr>
          <a:xfrm>
            <a:off x="6065215" y="5916168"/>
            <a:ext cx="2651760" cy="0"/>
          </a:xfrm>
          <a:prstGeom prst="line">
            <a:avLst/>
          </a:prstGeom>
          <a:noFill/>
          <a:ln w="9525">
            <a:solidFill>
              <a:srgbClr val="DDE1E6"/>
            </a:solidFill>
            <a:prstDash val="solid"/>
          </a:ln>
        </p:spPr>
      </p:sp>
      <p:pic>
        <p:nvPicPr>
          <p:cNvPr id="30" name="Image 0" descr="/home/user/NVIConsult/build/assets/s_fit_a.jpg">    </p:cNvPr>
          <p:cNvPicPr>
            <a:picLocks noChangeAspect="1"/>
          </p:cNvPicPr>
          <p:nvPr/>
        </p:nvPicPr>
        <p:blipFill>
          <a:blip r:embed="rId1"/>
          <a:stretch>
            <a:fillRect/>
          </a:stretch>
        </p:blipFill>
        <p:spPr>
          <a:xfrm>
            <a:off x="551383" y="548640"/>
            <a:ext cx="5056632" cy="2926080"/>
          </a:xfrm>
          <a:prstGeom prst="rect">
            <a:avLst/>
          </a:prstGeom>
        </p:spPr>
      </p:pic>
      <p:pic>
        <p:nvPicPr>
          <p:cNvPr id="31" name="Image 1" descr="/home/user/NVIConsult/build/assets/s_fit_b.jpg">    </p:cNvPr>
          <p:cNvPicPr>
            <a:picLocks noChangeAspect="1"/>
          </p:cNvPicPr>
          <p:nvPr/>
        </p:nvPicPr>
        <p:blipFill>
          <a:blip r:embed="rId2"/>
          <a:stretch>
            <a:fillRect/>
          </a:stretch>
        </p:blipFill>
        <p:spPr>
          <a:xfrm>
            <a:off x="3171139" y="3657600"/>
            <a:ext cx="2436876" cy="2651760"/>
          </a:xfrm>
          <a:prstGeom prst="rect">
            <a:avLst/>
          </a:prstGeom>
        </p:spPr>
      </p:pic>
      <p:pic>
        <p:nvPicPr>
          <p:cNvPr id="32" name="Image 2" descr="/home/user/NVIConsult/build/assets/s_fit_c.jpg">    </p:cNvPr>
          <p:cNvPicPr>
            <a:picLocks noChangeAspect="1"/>
          </p:cNvPicPr>
          <p:nvPr/>
        </p:nvPicPr>
        <p:blipFill>
          <a:blip r:embed="rId3"/>
          <a:stretch>
            <a:fillRect/>
          </a:stretch>
        </p:blipFill>
        <p:spPr>
          <a:xfrm>
            <a:off x="551383" y="3657600"/>
            <a:ext cx="2436876" cy="2651760"/>
          </a:xfrm>
          <a:prstGeom prst="rect">
            <a:avLst/>
          </a:prstGeom>
        </p:spPr>
      </p:pic>
      <p:sp>
        <p:nvSpPr>
          <p:cNvPr id="33" name="Text 28"/>
          <p:cNvSpPr txBox="1"/>
          <p:nvPr/>
        </p:nvSpPr>
        <p:spPr>
          <a:xfrm>
            <a:off x="6613855" y="6446520"/>
            <a:ext cx="5029200" cy="228600"/>
          </a:xfrm>
          <a:prstGeom prst="rect">
            <a:avLst/>
          </a:prstGeom>
          <a:noFill/>
          <a:ln/>
        </p:spPr>
        <p:txBody>
          <a:bodyPr wrap="square" lIns="0" tIns="0" rIns="0" bIns="0" rtlCol="0" anchor="ctr"/>
          <a:lstStyle/>
          <a:p>
            <a:pPr rtl="1" algn="r" indent="0" marL="0">
              <a:buNone/>
            </a:pPr>
            <a:r>
              <a:rPr lang="ar-SA" altLang="en-US" sz="1000" dirty="0">
                <a:solidFill>
                  <a:srgbClr val="667080"/>
                </a:solidFill>
                <a:latin typeface="Arial" pitchFamily="34" charset="0"/>
                <a:ea typeface="Arial" pitchFamily="34" charset="-122"/>
                <a:cs typeface="Arial" pitchFamily="34" charset="-120"/>
              </a:rPr>
              <a:t>الرؤية الجديدة التكاملية  ·  ملف الشركة</a:t>
            </a:r>
            <a:endParaRPr lang="ar-SA" sz="1000" dirty="0"/>
          </a:p>
        </p:txBody>
      </p:sp>
      <p:sp>
        <p:nvSpPr>
          <p:cNvPr id="34" name="Text 29"/>
          <p:cNvSpPr txBox="1"/>
          <p:nvPr/>
        </p:nvSpPr>
        <p:spPr>
          <a:xfrm>
            <a:off x="6065215" y="6446520"/>
            <a:ext cx="548640" cy="228600"/>
          </a:xfrm>
          <a:prstGeom prst="rect">
            <a:avLst/>
          </a:prstGeom>
          <a:noFill/>
          <a:ln/>
        </p:spPr>
        <p:txBody>
          <a:bodyPr wrap="square" lIns="0" tIns="0" rIns="0" bIns="0" rtlCol="0" anchor="ctr"/>
          <a:lstStyle/>
          <a:p>
            <a:pPr rtl="1" algn="l" indent="0" marL="0">
              <a:buNone/>
            </a:pPr>
            <a:r>
              <a:rPr lang="ar-SA" altLang="en-US" sz="1060" b="1" dirty="0">
                <a:solidFill>
                  <a:srgbClr val="667080"/>
                </a:solidFill>
                <a:latin typeface="Arial" pitchFamily="34" charset="0"/>
                <a:ea typeface="Arial" pitchFamily="34" charset="-122"/>
                <a:cs typeface="Arial" pitchFamily="34" charset="-120"/>
              </a:rPr>
              <a:t>08</a:t>
            </a:r>
            <a:endParaRPr lang="ar-SA" sz="10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user/NVIConsult/build/assets/s_ele.jpg">    </p:cNvPr>
          <p:cNvPicPr>
            <a:picLocks noChangeAspect="1"/>
          </p:cNvPicPr>
          <p:nvPr/>
        </p:nvPicPr>
        <p:blipFill>
          <a:blip r:embed="rId1"/>
          <a:stretch>
            <a:fillRect/>
          </a:stretch>
        </p:blipFill>
        <p:spPr>
          <a:xfrm>
            <a:off x="0" y="0"/>
            <a:ext cx="4754880" cy="3383280"/>
          </a:xfrm>
          <a:prstGeom prst="rect">
            <a:avLst/>
          </a:prstGeom>
        </p:spPr>
      </p:pic>
      <p:pic>
        <p:nvPicPr>
          <p:cNvPr id="3" name="Image 1" descr="/home/user/NVIConsult/build/assets/s_ele_b.jpg">    </p:cNvPr>
          <p:cNvPicPr>
            <a:picLocks noChangeAspect="1"/>
          </p:cNvPicPr>
          <p:nvPr/>
        </p:nvPicPr>
        <p:blipFill>
          <a:blip r:embed="rId2"/>
          <a:stretch>
            <a:fillRect/>
          </a:stretch>
        </p:blipFill>
        <p:spPr>
          <a:xfrm>
            <a:off x="0" y="3474720"/>
            <a:ext cx="4754880" cy="3383280"/>
          </a:xfrm>
          <a:prstGeom prst="rect">
            <a:avLst/>
          </a:prstGeom>
        </p:spPr>
      </p:pic>
      <p:sp>
        <p:nvSpPr>
          <p:cNvPr id="4" name="Shape 0"/>
          <p:cNvSpPr/>
          <p:nvPr/>
        </p:nvSpPr>
        <p:spPr>
          <a:xfrm>
            <a:off x="11332159" y="603504"/>
            <a:ext cx="310896" cy="146304"/>
          </a:xfrm>
          <a:prstGeom prst="parallelogram">
            <a:avLst/>
          </a:prstGeom>
          <a:solidFill>
            <a:srgbClr val="5B54A4"/>
          </a:solidFill>
          <a:ln w="12700">
            <a:solidFill>
              <a:srgbClr val="5B54A4"/>
            </a:solidFill>
            <a:prstDash val="solid"/>
          </a:ln>
        </p:spPr>
      </p:sp>
      <p:sp>
        <p:nvSpPr>
          <p:cNvPr id="5" name="Text 1"/>
          <p:cNvSpPr txBox="1"/>
          <p:nvPr/>
        </p:nvSpPr>
        <p:spPr>
          <a:xfrm>
            <a:off x="5333695" y="548640"/>
            <a:ext cx="5852160" cy="256032"/>
          </a:xfrm>
          <a:prstGeom prst="rect">
            <a:avLst/>
          </a:prstGeom>
          <a:noFill/>
          <a:ln/>
        </p:spPr>
        <p:txBody>
          <a:bodyPr wrap="square" lIns="0" tIns="0" rIns="0" bIns="0" rtlCol="0" anchor="ctr"/>
          <a:lstStyle/>
          <a:p>
            <a:pPr rtl="1" algn="r" indent="0" marL="0">
              <a:buNone/>
            </a:pPr>
            <a:r>
              <a:rPr lang="ar-SA" altLang="en-US" sz="1300" b="1" dirty="0">
                <a:solidFill>
                  <a:srgbClr val="5B54A4"/>
                </a:solidFill>
                <a:latin typeface="Arial" pitchFamily="34" charset="0"/>
                <a:ea typeface="Arial" pitchFamily="34" charset="-122"/>
                <a:cs typeface="Arial" pitchFamily="34" charset="-120"/>
              </a:rPr>
              <a:t>الخدمة 04 / 08</a:t>
            </a:r>
            <a:endParaRPr lang="ar-SA" sz="1300" dirty="0"/>
          </a:p>
        </p:txBody>
      </p:sp>
      <p:sp>
        <p:nvSpPr>
          <p:cNvPr id="6" name="Text 2"/>
          <p:cNvSpPr txBox="1"/>
          <p:nvPr/>
        </p:nvSpPr>
        <p:spPr>
          <a:xfrm>
            <a:off x="5333695" y="896112"/>
            <a:ext cx="6309360" cy="685800"/>
          </a:xfrm>
          <a:prstGeom prst="rect">
            <a:avLst/>
          </a:prstGeom>
          <a:noFill/>
          <a:ln/>
        </p:spPr>
        <p:txBody>
          <a:bodyPr wrap="square" lIns="0" tIns="0" rIns="0" bIns="0" rtlCol="0" anchor="t"/>
          <a:lstStyle/>
          <a:p>
            <a:pPr rtl="1" algn="r" indent="0" marL="0">
              <a:buNone/>
            </a:pPr>
            <a:r>
              <a:rPr lang="ar-SA" altLang="en-US" sz="3600" b="1" dirty="0">
                <a:solidFill>
                  <a:srgbClr val="0E1420"/>
                </a:solidFill>
                <a:latin typeface="Arial" pitchFamily="34" charset="0"/>
                <a:ea typeface="Arial" pitchFamily="34" charset="-122"/>
                <a:cs typeface="Arial" pitchFamily="34" charset="-120"/>
              </a:rPr>
              <a:t>الأعمال الكهربائية</a:t>
            </a:r>
            <a:endParaRPr lang="ar-SA" sz="3600" dirty="0"/>
          </a:p>
        </p:txBody>
      </p:sp>
      <p:sp>
        <p:nvSpPr>
          <p:cNvPr id="7" name="Text 3"/>
          <p:cNvSpPr txBox="1"/>
          <p:nvPr/>
        </p:nvSpPr>
        <p:spPr>
          <a:xfrm>
            <a:off x="5333695" y="1627632"/>
            <a:ext cx="6309360" cy="457200"/>
          </a:xfrm>
          <a:prstGeom prst="rect">
            <a:avLst/>
          </a:prstGeom>
          <a:noFill/>
          <a:ln/>
        </p:spPr>
        <p:txBody>
          <a:bodyPr wrap="square" lIns="0" tIns="0" rIns="0" bIns="0" rtlCol="0" anchor="t"/>
          <a:lstStyle/>
          <a:p>
            <a:pPr rtl="1" algn="r" indent="0" marL="0">
              <a:buNone/>
            </a:pPr>
            <a:r>
              <a:rPr lang="ar-SA" altLang="en-US" sz="1500" dirty="0">
                <a:solidFill>
                  <a:srgbClr val="3F4856"/>
                </a:solidFill>
                <a:latin typeface="Arial" pitchFamily="34" charset="0"/>
                <a:ea typeface="Arial" pitchFamily="34" charset="-122"/>
                <a:cs typeface="Arial" pitchFamily="34" charset="-120"/>
              </a:rPr>
              <a:t>تنفيذ متكامل للأعمال الكهربائية، من الكابلات الرئيسية وحتى نقاط الاستخدام.</a:t>
            </a:r>
            <a:endParaRPr lang="ar-SA" sz="1500" dirty="0"/>
          </a:p>
        </p:txBody>
      </p:sp>
      <p:sp>
        <p:nvSpPr>
          <p:cNvPr id="8" name="Text 4"/>
          <p:cNvSpPr txBox="1"/>
          <p:nvPr/>
        </p:nvSpPr>
        <p:spPr>
          <a:xfrm>
            <a:off x="11094415" y="2286000"/>
            <a:ext cx="548640" cy="457200"/>
          </a:xfrm>
          <a:prstGeom prst="rect">
            <a:avLst/>
          </a:prstGeom>
          <a:noFill/>
          <a:ln/>
        </p:spPr>
        <p:txBody>
          <a:bodyPr wrap="square" lIns="0" tIns="0" rIns="0" bIns="0" rtlCol="0" anchor="ctr"/>
          <a:lstStyle/>
          <a:p>
            <a:pPr rtl="1" algn="r" indent="0" marL="0">
              <a:buNone/>
            </a:pPr>
            <a:r>
              <a:rPr lang="ar-SA" altLang="en-US" sz="1300" b="1" dirty="0">
                <a:solidFill>
                  <a:srgbClr val="5B54A4"/>
                </a:solidFill>
                <a:latin typeface="Arial" pitchFamily="34" charset="0"/>
                <a:ea typeface="Arial" pitchFamily="34" charset="-122"/>
                <a:cs typeface="Arial" pitchFamily="34" charset="-120"/>
              </a:rPr>
              <a:t>01</a:t>
            </a:r>
            <a:endParaRPr lang="ar-SA" sz="1300" dirty="0"/>
          </a:p>
        </p:txBody>
      </p:sp>
      <p:sp>
        <p:nvSpPr>
          <p:cNvPr id="9" name="Text 5"/>
          <p:cNvSpPr txBox="1"/>
          <p:nvPr/>
        </p:nvSpPr>
        <p:spPr>
          <a:xfrm>
            <a:off x="5333695" y="2286000"/>
            <a:ext cx="5623560" cy="457200"/>
          </a:xfrm>
          <a:prstGeom prst="rect">
            <a:avLst/>
          </a:prstGeom>
          <a:noFill/>
          <a:ln/>
        </p:spPr>
        <p:txBody>
          <a:bodyPr wrap="square" lIns="0" tIns="0" rIns="0" bIns="0" rtlCol="0" anchor="ctr"/>
          <a:lstStyle/>
          <a:p>
            <a:pPr rtl="1" algn="r" indent="0" marL="0">
              <a:buNone/>
            </a:pPr>
            <a:r>
              <a:rPr lang="ar-SA" altLang="en-US" sz="1600" dirty="0">
                <a:solidFill>
                  <a:srgbClr val="0E1420"/>
                </a:solidFill>
                <a:latin typeface="Arial" pitchFamily="34" charset="0"/>
                <a:ea typeface="Arial" pitchFamily="34" charset="-122"/>
                <a:cs typeface="Arial" pitchFamily="34" charset="-120"/>
              </a:rPr>
              <a:t>تركيبات الإضاءة ونقاطها</a:t>
            </a:r>
            <a:endParaRPr lang="ar-SA" sz="1600" dirty="0"/>
          </a:p>
        </p:txBody>
      </p:sp>
      <p:sp>
        <p:nvSpPr>
          <p:cNvPr id="10" name="Shape 6"/>
          <p:cNvSpPr/>
          <p:nvPr/>
        </p:nvSpPr>
        <p:spPr>
          <a:xfrm>
            <a:off x="5333695" y="2807208"/>
            <a:ext cx="6309360" cy="0"/>
          </a:xfrm>
          <a:prstGeom prst="line">
            <a:avLst/>
          </a:prstGeom>
          <a:noFill/>
          <a:ln w="9525">
            <a:solidFill>
              <a:srgbClr val="DDE1E6"/>
            </a:solidFill>
            <a:prstDash val="solid"/>
          </a:ln>
        </p:spPr>
      </p:sp>
      <p:sp>
        <p:nvSpPr>
          <p:cNvPr id="11" name="Text 7"/>
          <p:cNvSpPr txBox="1"/>
          <p:nvPr/>
        </p:nvSpPr>
        <p:spPr>
          <a:xfrm>
            <a:off x="11094415" y="2871216"/>
            <a:ext cx="548640" cy="457200"/>
          </a:xfrm>
          <a:prstGeom prst="rect">
            <a:avLst/>
          </a:prstGeom>
          <a:noFill/>
          <a:ln/>
        </p:spPr>
        <p:txBody>
          <a:bodyPr wrap="square" lIns="0" tIns="0" rIns="0" bIns="0" rtlCol="0" anchor="ctr"/>
          <a:lstStyle/>
          <a:p>
            <a:pPr rtl="1" algn="r" indent="0" marL="0">
              <a:buNone/>
            </a:pPr>
            <a:r>
              <a:rPr lang="ar-SA" altLang="en-US" sz="1300" b="1" dirty="0">
                <a:solidFill>
                  <a:srgbClr val="5B54A4"/>
                </a:solidFill>
                <a:latin typeface="Arial" pitchFamily="34" charset="0"/>
                <a:ea typeface="Arial" pitchFamily="34" charset="-122"/>
                <a:cs typeface="Arial" pitchFamily="34" charset="-120"/>
              </a:rPr>
              <a:t>02</a:t>
            </a:r>
            <a:endParaRPr lang="ar-SA" sz="1300" dirty="0"/>
          </a:p>
        </p:txBody>
      </p:sp>
      <p:sp>
        <p:nvSpPr>
          <p:cNvPr id="12" name="Text 8"/>
          <p:cNvSpPr txBox="1"/>
          <p:nvPr/>
        </p:nvSpPr>
        <p:spPr>
          <a:xfrm>
            <a:off x="5333695" y="2871216"/>
            <a:ext cx="5623560" cy="457200"/>
          </a:xfrm>
          <a:prstGeom prst="rect">
            <a:avLst/>
          </a:prstGeom>
          <a:noFill/>
          <a:ln/>
        </p:spPr>
        <p:txBody>
          <a:bodyPr wrap="square" lIns="0" tIns="0" rIns="0" bIns="0" rtlCol="0" anchor="ctr"/>
          <a:lstStyle/>
          <a:p>
            <a:pPr rtl="1" algn="r" indent="0" marL="0">
              <a:buNone/>
            </a:pPr>
            <a:r>
              <a:rPr lang="ar-SA" altLang="en-US" sz="1600" dirty="0">
                <a:solidFill>
                  <a:srgbClr val="0E1420"/>
                </a:solidFill>
                <a:latin typeface="Arial" pitchFamily="34" charset="0"/>
                <a:ea typeface="Arial" pitchFamily="34" charset="-122"/>
                <a:cs typeface="Arial" pitchFamily="34" charset="-120"/>
              </a:rPr>
              <a:t>مسارات الكابلات</a:t>
            </a:r>
            <a:endParaRPr lang="ar-SA" sz="1600" dirty="0"/>
          </a:p>
        </p:txBody>
      </p:sp>
      <p:sp>
        <p:nvSpPr>
          <p:cNvPr id="13" name="Shape 9"/>
          <p:cNvSpPr/>
          <p:nvPr/>
        </p:nvSpPr>
        <p:spPr>
          <a:xfrm>
            <a:off x="5333695" y="3392424"/>
            <a:ext cx="6309360" cy="0"/>
          </a:xfrm>
          <a:prstGeom prst="line">
            <a:avLst/>
          </a:prstGeom>
          <a:noFill/>
          <a:ln w="9525">
            <a:solidFill>
              <a:srgbClr val="DDE1E6"/>
            </a:solidFill>
            <a:prstDash val="solid"/>
          </a:ln>
        </p:spPr>
      </p:sp>
      <p:sp>
        <p:nvSpPr>
          <p:cNvPr id="14" name="Text 10"/>
          <p:cNvSpPr txBox="1"/>
          <p:nvPr/>
        </p:nvSpPr>
        <p:spPr>
          <a:xfrm>
            <a:off x="11094415" y="3456432"/>
            <a:ext cx="548640" cy="457200"/>
          </a:xfrm>
          <a:prstGeom prst="rect">
            <a:avLst/>
          </a:prstGeom>
          <a:noFill/>
          <a:ln/>
        </p:spPr>
        <p:txBody>
          <a:bodyPr wrap="square" lIns="0" tIns="0" rIns="0" bIns="0" rtlCol="0" anchor="ctr"/>
          <a:lstStyle/>
          <a:p>
            <a:pPr rtl="1" algn="r" indent="0" marL="0">
              <a:buNone/>
            </a:pPr>
            <a:r>
              <a:rPr lang="ar-SA" altLang="en-US" sz="1300" b="1" dirty="0">
                <a:solidFill>
                  <a:srgbClr val="5B54A4"/>
                </a:solidFill>
                <a:latin typeface="Arial" pitchFamily="34" charset="0"/>
                <a:ea typeface="Arial" pitchFamily="34" charset="-122"/>
                <a:cs typeface="Arial" pitchFamily="34" charset="-120"/>
              </a:rPr>
              <a:t>03</a:t>
            </a:r>
            <a:endParaRPr lang="ar-SA" sz="1300" dirty="0"/>
          </a:p>
        </p:txBody>
      </p:sp>
      <p:sp>
        <p:nvSpPr>
          <p:cNvPr id="15" name="Text 11"/>
          <p:cNvSpPr txBox="1"/>
          <p:nvPr/>
        </p:nvSpPr>
        <p:spPr>
          <a:xfrm>
            <a:off x="5333695" y="3456432"/>
            <a:ext cx="5623560" cy="457200"/>
          </a:xfrm>
          <a:prstGeom prst="rect">
            <a:avLst/>
          </a:prstGeom>
          <a:noFill/>
          <a:ln/>
        </p:spPr>
        <p:txBody>
          <a:bodyPr wrap="square" lIns="0" tIns="0" rIns="0" bIns="0" rtlCol="0" anchor="ctr"/>
          <a:lstStyle/>
          <a:p>
            <a:pPr rtl="1" algn="r" indent="0" marL="0">
              <a:buNone/>
            </a:pPr>
            <a:r>
              <a:rPr lang="ar-SA" altLang="en-US" sz="1600" dirty="0">
                <a:solidFill>
                  <a:srgbClr val="0E1420"/>
                </a:solidFill>
                <a:latin typeface="Arial" pitchFamily="34" charset="0"/>
                <a:ea typeface="Arial" pitchFamily="34" charset="-122"/>
                <a:cs typeface="Arial" pitchFamily="34" charset="-120"/>
              </a:rPr>
              <a:t>منافذ الطاقة</a:t>
            </a:r>
            <a:endParaRPr lang="ar-SA" sz="1600" dirty="0"/>
          </a:p>
        </p:txBody>
      </p:sp>
      <p:sp>
        <p:nvSpPr>
          <p:cNvPr id="16" name="Shape 12"/>
          <p:cNvSpPr/>
          <p:nvPr/>
        </p:nvSpPr>
        <p:spPr>
          <a:xfrm>
            <a:off x="5333695" y="3977640"/>
            <a:ext cx="6309360" cy="0"/>
          </a:xfrm>
          <a:prstGeom prst="line">
            <a:avLst/>
          </a:prstGeom>
          <a:noFill/>
          <a:ln w="9525">
            <a:solidFill>
              <a:srgbClr val="DDE1E6"/>
            </a:solidFill>
            <a:prstDash val="solid"/>
          </a:ln>
        </p:spPr>
      </p:sp>
      <p:sp>
        <p:nvSpPr>
          <p:cNvPr id="17" name="Text 13"/>
          <p:cNvSpPr txBox="1"/>
          <p:nvPr/>
        </p:nvSpPr>
        <p:spPr>
          <a:xfrm>
            <a:off x="11094415" y="4041648"/>
            <a:ext cx="548640" cy="457200"/>
          </a:xfrm>
          <a:prstGeom prst="rect">
            <a:avLst/>
          </a:prstGeom>
          <a:noFill/>
          <a:ln/>
        </p:spPr>
        <p:txBody>
          <a:bodyPr wrap="square" lIns="0" tIns="0" rIns="0" bIns="0" rtlCol="0" anchor="ctr"/>
          <a:lstStyle/>
          <a:p>
            <a:pPr rtl="1" algn="r" indent="0" marL="0">
              <a:buNone/>
            </a:pPr>
            <a:r>
              <a:rPr lang="ar-SA" altLang="en-US" sz="1300" b="1" dirty="0">
                <a:solidFill>
                  <a:srgbClr val="5B54A4"/>
                </a:solidFill>
                <a:latin typeface="Arial" pitchFamily="34" charset="0"/>
                <a:ea typeface="Arial" pitchFamily="34" charset="-122"/>
                <a:cs typeface="Arial" pitchFamily="34" charset="-120"/>
              </a:rPr>
              <a:t>04</a:t>
            </a:r>
            <a:endParaRPr lang="ar-SA" sz="1300" dirty="0"/>
          </a:p>
        </p:txBody>
      </p:sp>
      <p:sp>
        <p:nvSpPr>
          <p:cNvPr id="18" name="Text 14"/>
          <p:cNvSpPr txBox="1"/>
          <p:nvPr/>
        </p:nvSpPr>
        <p:spPr>
          <a:xfrm>
            <a:off x="5333695" y="4041648"/>
            <a:ext cx="5623560" cy="457200"/>
          </a:xfrm>
          <a:prstGeom prst="rect">
            <a:avLst/>
          </a:prstGeom>
          <a:noFill/>
          <a:ln/>
        </p:spPr>
        <p:txBody>
          <a:bodyPr wrap="square" lIns="0" tIns="0" rIns="0" bIns="0" rtlCol="0" anchor="ctr"/>
          <a:lstStyle/>
          <a:p>
            <a:pPr rtl="1" algn="r" indent="0" marL="0">
              <a:buNone/>
            </a:pPr>
            <a:r>
              <a:rPr lang="ar-SA" altLang="en-US" sz="1600" dirty="0">
                <a:solidFill>
                  <a:srgbClr val="0E1420"/>
                </a:solidFill>
                <a:latin typeface="Arial" pitchFamily="34" charset="0"/>
                <a:ea typeface="Arial" pitchFamily="34" charset="-122"/>
                <a:cs typeface="Arial" pitchFamily="34" charset="-120"/>
              </a:rPr>
              <a:t>لوحات الكهرباء</a:t>
            </a:r>
            <a:endParaRPr lang="ar-SA" sz="1600" dirty="0"/>
          </a:p>
        </p:txBody>
      </p:sp>
      <p:sp>
        <p:nvSpPr>
          <p:cNvPr id="19" name="Shape 15"/>
          <p:cNvSpPr/>
          <p:nvPr/>
        </p:nvSpPr>
        <p:spPr>
          <a:xfrm>
            <a:off x="5333695" y="4562856"/>
            <a:ext cx="6309360" cy="0"/>
          </a:xfrm>
          <a:prstGeom prst="line">
            <a:avLst/>
          </a:prstGeom>
          <a:noFill/>
          <a:ln w="9525">
            <a:solidFill>
              <a:srgbClr val="DDE1E6"/>
            </a:solidFill>
            <a:prstDash val="solid"/>
          </a:ln>
        </p:spPr>
      </p:sp>
      <p:sp>
        <p:nvSpPr>
          <p:cNvPr id="20" name="Text 16"/>
          <p:cNvSpPr txBox="1"/>
          <p:nvPr/>
        </p:nvSpPr>
        <p:spPr>
          <a:xfrm>
            <a:off x="11094415" y="4626864"/>
            <a:ext cx="548640" cy="457200"/>
          </a:xfrm>
          <a:prstGeom prst="rect">
            <a:avLst/>
          </a:prstGeom>
          <a:noFill/>
          <a:ln/>
        </p:spPr>
        <p:txBody>
          <a:bodyPr wrap="square" lIns="0" tIns="0" rIns="0" bIns="0" rtlCol="0" anchor="ctr"/>
          <a:lstStyle/>
          <a:p>
            <a:pPr rtl="1" algn="r" indent="0" marL="0">
              <a:buNone/>
            </a:pPr>
            <a:r>
              <a:rPr lang="ar-SA" altLang="en-US" sz="1300" b="1" dirty="0">
                <a:solidFill>
                  <a:srgbClr val="5B54A4"/>
                </a:solidFill>
                <a:latin typeface="Arial" pitchFamily="34" charset="0"/>
                <a:ea typeface="Arial" pitchFamily="34" charset="-122"/>
                <a:cs typeface="Arial" pitchFamily="34" charset="-120"/>
              </a:rPr>
              <a:t>05</a:t>
            </a:r>
            <a:endParaRPr lang="ar-SA" sz="1300" dirty="0"/>
          </a:p>
        </p:txBody>
      </p:sp>
      <p:sp>
        <p:nvSpPr>
          <p:cNvPr id="21" name="Text 17"/>
          <p:cNvSpPr txBox="1"/>
          <p:nvPr/>
        </p:nvSpPr>
        <p:spPr>
          <a:xfrm>
            <a:off x="5333695" y="4626864"/>
            <a:ext cx="5623560" cy="457200"/>
          </a:xfrm>
          <a:prstGeom prst="rect">
            <a:avLst/>
          </a:prstGeom>
          <a:noFill/>
          <a:ln/>
        </p:spPr>
        <p:txBody>
          <a:bodyPr wrap="square" lIns="0" tIns="0" rIns="0" bIns="0" rtlCol="0" anchor="ctr"/>
          <a:lstStyle/>
          <a:p>
            <a:pPr rtl="1" algn="r" indent="0" marL="0">
              <a:buNone/>
            </a:pPr>
            <a:r>
              <a:rPr lang="ar-SA" altLang="en-US" sz="1600" dirty="0">
                <a:solidFill>
                  <a:srgbClr val="0E1420"/>
                </a:solidFill>
                <a:latin typeface="Arial" pitchFamily="34" charset="0"/>
                <a:ea typeface="Arial" pitchFamily="34" charset="-122"/>
                <a:cs typeface="Arial" pitchFamily="34" charset="-120"/>
              </a:rPr>
              <a:t>الكابلات الرئيسية</a:t>
            </a:r>
            <a:endParaRPr lang="ar-SA" sz="1600" dirty="0"/>
          </a:p>
        </p:txBody>
      </p:sp>
      <p:sp>
        <p:nvSpPr>
          <p:cNvPr id="22" name="Shape 18"/>
          <p:cNvSpPr/>
          <p:nvPr/>
        </p:nvSpPr>
        <p:spPr>
          <a:xfrm>
            <a:off x="5333695" y="5148072"/>
            <a:ext cx="6309360" cy="0"/>
          </a:xfrm>
          <a:prstGeom prst="line">
            <a:avLst/>
          </a:prstGeom>
          <a:noFill/>
          <a:ln w="9525">
            <a:solidFill>
              <a:srgbClr val="DDE1E6"/>
            </a:solidFill>
            <a:prstDash val="solid"/>
          </a:ln>
        </p:spPr>
      </p:sp>
      <p:sp>
        <p:nvSpPr>
          <p:cNvPr id="23" name="Text 19"/>
          <p:cNvSpPr txBox="1"/>
          <p:nvPr/>
        </p:nvSpPr>
        <p:spPr>
          <a:xfrm>
            <a:off x="11094415" y="5212080"/>
            <a:ext cx="548640" cy="457200"/>
          </a:xfrm>
          <a:prstGeom prst="rect">
            <a:avLst/>
          </a:prstGeom>
          <a:noFill/>
          <a:ln/>
        </p:spPr>
        <p:txBody>
          <a:bodyPr wrap="square" lIns="0" tIns="0" rIns="0" bIns="0" rtlCol="0" anchor="ctr"/>
          <a:lstStyle/>
          <a:p>
            <a:pPr rtl="1" algn="r" indent="0" marL="0">
              <a:buNone/>
            </a:pPr>
            <a:r>
              <a:rPr lang="ar-SA" altLang="en-US" sz="1300" b="1" dirty="0">
                <a:solidFill>
                  <a:srgbClr val="5B54A4"/>
                </a:solidFill>
                <a:latin typeface="Arial" pitchFamily="34" charset="0"/>
                <a:ea typeface="Arial" pitchFamily="34" charset="-122"/>
                <a:cs typeface="Arial" pitchFamily="34" charset="-120"/>
              </a:rPr>
              <a:t>06</a:t>
            </a:r>
            <a:endParaRPr lang="ar-SA" sz="1300" dirty="0"/>
          </a:p>
        </p:txBody>
      </p:sp>
      <p:sp>
        <p:nvSpPr>
          <p:cNvPr id="24" name="Text 20"/>
          <p:cNvSpPr txBox="1"/>
          <p:nvPr/>
        </p:nvSpPr>
        <p:spPr>
          <a:xfrm>
            <a:off x="5333695" y="5212080"/>
            <a:ext cx="5623560" cy="457200"/>
          </a:xfrm>
          <a:prstGeom prst="rect">
            <a:avLst/>
          </a:prstGeom>
          <a:noFill/>
          <a:ln/>
        </p:spPr>
        <p:txBody>
          <a:bodyPr wrap="square" lIns="0" tIns="0" rIns="0" bIns="0" rtlCol="0" anchor="ctr"/>
          <a:lstStyle/>
          <a:p>
            <a:pPr rtl="1" algn="r" indent="0" marL="0">
              <a:buNone/>
            </a:pPr>
            <a:r>
              <a:rPr lang="ar-SA" altLang="en-US" sz="1600" dirty="0">
                <a:solidFill>
                  <a:srgbClr val="0E1420"/>
                </a:solidFill>
                <a:latin typeface="Arial" pitchFamily="34" charset="0"/>
                <a:ea typeface="Arial" pitchFamily="34" charset="-122"/>
                <a:cs typeface="Arial" pitchFamily="34" charset="-120"/>
              </a:rPr>
              <a:t>أنظمة التأريض</a:t>
            </a:r>
            <a:endParaRPr lang="ar-SA" sz="1600" dirty="0"/>
          </a:p>
        </p:txBody>
      </p:sp>
      <p:sp>
        <p:nvSpPr>
          <p:cNvPr id="25" name="Shape 21"/>
          <p:cNvSpPr/>
          <p:nvPr/>
        </p:nvSpPr>
        <p:spPr>
          <a:xfrm>
            <a:off x="5333695" y="5733288"/>
            <a:ext cx="6309360" cy="0"/>
          </a:xfrm>
          <a:prstGeom prst="line">
            <a:avLst/>
          </a:prstGeom>
          <a:noFill/>
          <a:ln w="9525">
            <a:solidFill>
              <a:srgbClr val="DDE1E6"/>
            </a:solidFill>
            <a:prstDash val="solid"/>
          </a:ln>
        </p:spPr>
      </p:sp>
      <p:sp>
        <p:nvSpPr>
          <p:cNvPr id="26" name="Text 22"/>
          <p:cNvSpPr txBox="1"/>
          <p:nvPr/>
        </p:nvSpPr>
        <p:spPr>
          <a:xfrm>
            <a:off x="11094415" y="5797296"/>
            <a:ext cx="548640" cy="457200"/>
          </a:xfrm>
          <a:prstGeom prst="rect">
            <a:avLst/>
          </a:prstGeom>
          <a:noFill/>
          <a:ln/>
        </p:spPr>
        <p:txBody>
          <a:bodyPr wrap="square" lIns="0" tIns="0" rIns="0" bIns="0" rtlCol="0" anchor="ctr"/>
          <a:lstStyle/>
          <a:p>
            <a:pPr rtl="1" algn="r" indent="0" marL="0">
              <a:buNone/>
            </a:pPr>
            <a:r>
              <a:rPr lang="ar-SA" altLang="en-US" sz="1300" b="1" dirty="0">
                <a:solidFill>
                  <a:srgbClr val="5B54A4"/>
                </a:solidFill>
                <a:latin typeface="Arial" pitchFamily="34" charset="0"/>
                <a:ea typeface="Arial" pitchFamily="34" charset="-122"/>
                <a:cs typeface="Arial" pitchFamily="34" charset="-120"/>
              </a:rPr>
              <a:t>07</a:t>
            </a:r>
            <a:endParaRPr lang="ar-SA" sz="1300" dirty="0"/>
          </a:p>
        </p:txBody>
      </p:sp>
      <p:sp>
        <p:nvSpPr>
          <p:cNvPr id="27" name="Text 23"/>
          <p:cNvSpPr txBox="1"/>
          <p:nvPr/>
        </p:nvSpPr>
        <p:spPr>
          <a:xfrm>
            <a:off x="5333695" y="5797296"/>
            <a:ext cx="5623560" cy="457200"/>
          </a:xfrm>
          <a:prstGeom prst="rect">
            <a:avLst/>
          </a:prstGeom>
          <a:noFill/>
          <a:ln/>
        </p:spPr>
        <p:txBody>
          <a:bodyPr wrap="square" lIns="0" tIns="0" rIns="0" bIns="0" rtlCol="0" anchor="ctr"/>
          <a:lstStyle/>
          <a:p>
            <a:pPr rtl="1" algn="r" indent="0" marL="0">
              <a:buNone/>
            </a:pPr>
            <a:r>
              <a:rPr lang="ar-SA" altLang="en-US" sz="1600" dirty="0">
                <a:solidFill>
                  <a:srgbClr val="0E1420"/>
                </a:solidFill>
                <a:latin typeface="Arial" pitchFamily="34" charset="0"/>
                <a:ea typeface="Arial" pitchFamily="34" charset="-122"/>
                <a:cs typeface="Arial" pitchFamily="34" charset="-120"/>
              </a:rPr>
              <a:t>أنظمة الحماية من الصواعق</a:t>
            </a:r>
            <a:endParaRPr lang="ar-SA" sz="1600" dirty="0"/>
          </a:p>
        </p:txBody>
      </p:sp>
      <p:sp>
        <p:nvSpPr>
          <p:cNvPr id="28" name="Shape 24"/>
          <p:cNvSpPr/>
          <p:nvPr/>
        </p:nvSpPr>
        <p:spPr>
          <a:xfrm>
            <a:off x="5333695" y="6318504"/>
            <a:ext cx="6309360" cy="0"/>
          </a:xfrm>
          <a:prstGeom prst="line">
            <a:avLst/>
          </a:prstGeom>
          <a:noFill/>
          <a:ln w="9525">
            <a:solidFill>
              <a:srgbClr val="DDE1E6"/>
            </a:solidFill>
            <a:prstDash val="solid"/>
          </a:ln>
        </p:spPr>
      </p:sp>
      <p:sp>
        <p:nvSpPr>
          <p:cNvPr id="29" name="Text 25"/>
          <p:cNvSpPr txBox="1"/>
          <p:nvPr/>
        </p:nvSpPr>
        <p:spPr>
          <a:xfrm>
            <a:off x="5882335" y="6446520"/>
            <a:ext cx="5760720" cy="228600"/>
          </a:xfrm>
          <a:prstGeom prst="rect">
            <a:avLst/>
          </a:prstGeom>
          <a:noFill/>
          <a:ln/>
        </p:spPr>
        <p:txBody>
          <a:bodyPr wrap="square" lIns="0" tIns="0" rIns="0" bIns="0" rtlCol="0" anchor="ctr"/>
          <a:lstStyle/>
          <a:p>
            <a:pPr rtl="1" algn="r" indent="0" marL="0">
              <a:buNone/>
            </a:pPr>
            <a:r>
              <a:rPr lang="ar-SA" altLang="en-US" sz="1000" dirty="0">
                <a:solidFill>
                  <a:srgbClr val="667080"/>
                </a:solidFill>
                <a:latin typeface="Arial" pitchFamily="34" charset="0"/>
                <a:ea typeface="Arial" pitchFamily="34" charset="-122"/>
                <a:cs typeface="Arial" pitchFamily="34" charset="-120"/>
              </a:rPr>
              <a:t>الرؤية الجديدة التكاملية  ·  ملف الشركة</a:t>
            </a:r>
            <a:endParaRPr lang="ar-SA" sz="1000" dirty="0"/>
          </a:p>
        </p:txBody>
      </p:sp>
      <p:sp>
        <p:nvSpPr>
          <p:cNvPr id="30" name="Text 26"/>
          <p:cNvSpPr txBox="1"/>
          <p:nvPr/>
        </p:nvSpPr>
        <p:spPr>
          <a:xfrm>
            <a:off x="5333695" y="6446520"/>
            <a:ext cx="548640" cy="228600"/>
          </a:xfrm>
          <a:prstGeom prst="rect">
            <a:avLst/>
          </a:prstGeom>
          <a:noFill/>
          <a:ln/>
        </p:spPr>
        <p:txBody>
          <a:bodyPr wrap="square" lIns="0" tIns="0" rIns="0" bIns="0" rtlCol="0" anchor="ctr"/>
          <a:lstStyle/>
          <a:p>
            <a:pPr rtl="1" algn="l" indent="0" marL="0">
              <a:buNone/>
            </a:pPr>
            <a:r>
              <a:rPr lang="ar-SA" altLang="en-US" sz="1060" b="1" dirty="0">
                <a:solidFill>
                  <a:srgbClr val="667080"/>
                </a:solidFill>
                <a:latin typeface="Arial" pitchFamily="34" charset="0"/>
                <a:ea typeface="Arial" pitchFamily="34" charset="-122"/>
                <a:cs typeface="Arial" pitchFamily="34" charset="-120"/>
              </a:rPr>
              <a:t>09</a:t>
            </a:r>
            <a:endParaRPr lang="ar-SA" sz="10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420"/>
        </a:solidFill>
      </p:bgPr>
    </p:bg>
    <p:spTree>
      <p:nvGrpSpPr>
        <p:cNvPr id="1" name=""/>
        <p:cNvGrpSpPr/>
        <p:nvPr/>
      </p:nvGrpSpPr>
      <p:grpSpPr>
        <a:xfrm>
          <a:off x="0" y="0"/>
          <a:ext cx="0" cy="0"/>
          <a:chOff x="0" y="0"/>
          <a:chExt cx="0" cy="0"/>
        </a:xfrm>
      </p:grpSpPr>
      <p:pic>
        <p:nvPicPr>
          <p:cNvPr id="2" name="Image 0" descr="/home/user/NVIConsult/build/assets/s_low.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420">
              <a:alpha val="88000"/>
            </a:srgbClr>
          </a:solidFill>
          <a:ln w="12700">
            <a:solidFill>
              <a:srgbClr val="0E1420"/>
            </a:solidFill>
            <a:prstDash val="solid"/>
          </a:ln>
        </p:spPr>
      </p:sp>
      <p:sp>
        <p:nvSpPr>
          <p:cNvPr id="4" name="Shape 1"/>
          <p:cNvSpPr/>
          <p:nvPr/>
        </p:nvSpPr>
        <p:spPr>
          <a:xfrm>
            <a:off x="11332159" y="649224"/>
            <a:ext cx="310896" cy="146304"/>
          </a:xfrm>
          <a:prstGeom prst="parallelogram">
            <a:avLst/>
          </a:prstGeom>
          <a:solidFill>
            <a:srgbClr val="98207E"/>
          </a:solidFill>
          <a:ln w="12700">
            <a:solidFill>
              <a:srgbClr val="98207E"/>
            </a:solidFill>
            <a:prstDash val="solid"/>
          </a:ln>
        </p:spPr>
      </p:sp>
      <p:sp>
        <p:nvSpPr>
          <p:cNvPr id="5" name="Text 2"/>
          <p:cNvSpPr txBox="1"/>
          <p:nvPr/>
        </p:nvSpPr>
        <p:spPr>
          <a:xfrm>
            <a:off x="8259775" y="594360"/>
            <a:ext cx="2926080" cy="256032"/>
          </a:xfrm>
          <a:prstGeom prst="rect">
            <a:avLst/>
          </a:prstGeom>
          <a:noFill/>
          <a:ln/>
        </p:spPr>
        <p:txBody>
          <a:bodyPr wrap="square" lIns="0" tIns="0" rIns="0" bIns="0" rtlCol="0" anchor="ctr"/>
          <a:lstStyle/>
          <a:p>
            <a:pPr rtl="1" algn="r" indent="0" marL="0">
              <a:buNone/>
            </a:pPr>
            <a:r>
              <a:rPr lang="ar-SA" altLang="en-US" sz="1300" b="1" dirty="0">
                <a:solidFill>
                  <a:srgbClr val="2DB8E0"/>
                </a:solidFill>
                <a:latin typeface="Arial" pitchFamily="34" charset="0"/>
                <a:ea typeface="Arial" pitchFamily="34" charset="-122"/>
                <a:cs typeface="Arial" pitchFamily="34" charset="-120"/>
              </a:rPr>
              <a:t>الخدمة 05 / 08</a:t>
            </a:r>
            <a:endParaRPr lang="ar-SA" sz="1300" dirty="0"/>
          </a:p>
        </p:txBody>
      </p:sp>
      <p:sp>
        <p:nvSpPr>
          <p:cNvPr id="6" name="Text 3"/>
          <p:cNvSpPr txBox="1"/>
          <p:nvPr/>
        </p:nvSpPr>
        <p:spPr>
          <a:xfrm>
            <a:off x="8259775" y="941832"/>
            <a:ext cx="3383280" cy="1188720"/>
          </a:xfrm>
          <a:prstGeom prst="rect">
            <a:avLst/>
          </a:prstGeom>
          <a:noFill/>
          <a:ln/>
        </p:spPr>
        <p:txBody>
          <a:bodyPr wrap="square" lIns="0" tIns="0" rIns="0" bIns="0" rtlCol="0" anchor="t"/>
          <a:lstStyle/>
          <a:p>
            <a:pPr rtl="1" algn="r" indent="0" marL="0">
              <a:buNone/>
            </a:pPr>
            <a:r>
              <a:rPr lang="ar-SA" altLang="en-US" sz="3400" b="1" dirty="0">
                <a:solidFill>
                  <a:srgbClr val="FFFFFF"/>
                </a:solidFill>
                <a:latin typeface="Arial" pitchFamily="34" charset="0"/>
                <a:ea typeface="Arial" pitchFamily="34" charset="-122"/>
                <a:cs typeface="Arial" pitchFamily="34" charset="-120"/>
              </a:rPr>
              <a:t>أنظمة التيار المنخفض</a:t>
            </a:r>
            <a:endParaRPr lang="ar-SA" sz="3400" dirty="0"/>
          </a:p>
        </p:txBody>
      </p:sp>
      <p:sp>
        <p:nvSpPr>
          <p:cNvPr id="7" name="Text 4"/>
          <p:cNvSpPr txBox="1"/>
          <p:nvPr/>
        </p:nvSpPr>
        <p:spPr>
          <a:xfrm>
            <a:off x="8259775" y="2286000"/>
            <a:ext cx="3383280" cy="1280160"/>
          </a:xfrm>
          <a:prstGeom prst="rect">
            <a:avLst/>
          </a:prstGeom>
          <a:noFill/>
          <a:ln/>
        </p:spPr>
        <p:txBody>
          <a:bodyPr wrap="square" lIns="0" tIns="0" rIns="0" bIns="0" rtlCol="0" anchor="t"/>
          <a:lstStyle/>
          <a:p>
            <a:pPr rtl="1" algn="r" indent="0" marL="0">
              <a:lnSpc>
                <a:spcPct val="115000"/>
              </a:lnSpc>
              <a:buNone/>
            </a:pPr>
            <a:r>
              <a:rPr lang="ar-SA" altLang="en-US" sz="1450" dirty="0">
                <a:solidFill>
                  <a:srgbClr val="C3CBD6"/>
                </a:solidFill>
                <a:latin typeface="Arial" pitchFamily="34" charset="0"/>
                <a:ea typeface="Arial" pitchFamily="34" charset="-122"/>
                <a:cs typeface="Arial" pitchFamily="34" charset="-120"/>
              </a:rPr>
              <a:t>أنظمة مباني متكاملة للبيانات والسلامة والأمن والاتصالات.</a:t>
            </a:r>
            <a:endParaRPr lang="ar-SA" sz="1450" dirty="0"/>
          </a:p>
        </p:txBody>
      </p:sp>
      <p:sp>
        <p:nvSpPr>
          <p:cNvPr id="8" name="Shape 5"/>
          <p:cNvSpPr/>
          <p:nvPr/>
        </p:nvSpPr>
        <p:spPr>
          <a:xfrm>
            <a:off x="6160541" y="594360"/>
            <a:ext cx="1687754" cy="1783080"/>
          </a:xfrm>
          <a:prstGeom prst="rect">
            <a:avLst/>
          </a:prstGeom>
          <a:solidFill>
            <a:srgbClr val="182131">
              <a:alpha val="92000"/>
            </a:srgbClr>
          </a:solidFill>
          <a:ln w="9525">
            <a:solidFill>
              <a:srgbClr val="2A3547"/>
            </a:solidFill>
            <a:prstDash val="solid"/>
          </a:ln>
        </p:spPr>
      </p:sp>
      <p:pic>
        <p:nvPicPr>
          <p:cNvPr id="9" name="Image 1" descr="preencoded.png">    </p:cNvPr>
          <p:cNvPicPr>
            <a:picLocks noChangeAspect="1"/>
          </p:cNvPicPr>
          <p:nvPr/>
        </p:nvPicPr>
        <p:blipFill>
          <a:blip r:embed="rId2"/>
          <a:stretch>
            <a:fillRect/>
          </a:stretch>
        </p:blipFill>
        <p:spPr>
          <a:xfrm>
            <a:off x="7162495" y="868680"/>
            <a:ext cx="457200" cy="457200"/>
          </a:xfrm>
          <a:prstGeom prst="rect">
            <a:avLst/>
          </a:prstGeom>
        </p:spPr>
      </p:pic>
      <p:sp>
        <p:nvSpPr>
          <p:cNvPr id="10" name="Text 6"/>
          <p:cNvSpPr txBox="1"/>
          <p:nvPr/>
        </p:nvSpPr>
        <p:spPr>
          <a:xfrm>
            <a:off x="6343421" y="150876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أنظمة البيانات</a:t>
            </a:r>
            <a:endParaRPr lang="ar-SA" sz="1300" dirty="0"/>
          </a:p>
        </p:txBody>
      </p:sp>
      <p:sp>
        <p:nvSpPr>
          <p:cNvPr id="11" name="Shape 7"/>
          <p:cNvSpPr/>
          <p:nvPr/>
        </p:nvSpPr>
        <p:spPr>
          <a:xfrm>
            <a:off x="4289908" y="594360"/>
            <a:ext cx="1687754" cy="1783080"/>
          </a:xfrm>
          <a:prstGeom prst="rect">
            <a:avLst/>
          </a:prstGeom>
          <a:solidFill>
            <a:srgbClr val="182131">
              <a:alpha val="92000"/>
            </a:srgbClr>
          </a:solidFill>
          <a:ln w="9525">
            <a:solidFill>
              <a:srgbClr val="2A3547"/>
            </a:solidFill>
            <a:prstDash val="solid"/>
          </a:ln>
        </p:spPr>
      </p:sp>
      <p:pic>
        <p:nvPicPr>
          <p:cNvPr id="12" name="Image 2" descr="preencoded.png">    </p:cNvPr>
          <p:cNvPicPr>
            <a:picLocks noChangeAspect="1"/>
          </p:cNvPicPr>
          <p:nvPr/>
        </p:nvPicPr>
        <p:blipFill>
          <a:blip r:embed="rId3"/>
          <a:stretch>
            <a:fillRect/>
          </a:stretch>
        </p:blipFill>
        <p:spPr>
          <a:xfrm>
            <a:off x="5291861" y="868680"/>
            <a:ext cx="457200" cy="457200"/>
          </a:xfrm>
          <a:prstGeom prst="rect">
            <a:avLst/>
          </a:prstGeom>
        </p:spPr>
      </p:pic>
      <p:sp>
        <p:nvSpPr>
          <p:cNvPr id="13" name="Text 8"/>
          <p:cNvSpPr txBox="1"/>
          <p:nvPr/>
        </p:nvSpPr>
        <p:spPr>
          <a:xfrm>
            <a:off x="4472788" y="150876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أنظمة الهاتف الشبكي (IP)</a:t>
            </a:r>
            <a:endParaRPr lang="ar-SA" sz="1300" dirty="0"/>
          </a:p>
        </p:txBody>
      </p:sp>
      <p:sp>
        <p:nvSpPr>
          <p:cNvPr id="14" name="Shape 9"/>
          <p:cNvSpPr/>
          <p:nvPr/>
        </p:nvSpPr>
        <p:spPr>
          <a:xfrm>
            <a:off x="2419274" y="594360"/>
            <a:ext cx="1687754" cy="1783080"/>
          </a:xfrm>
          <a:prstGeom prst="rect">
            <a:avLst/>
          </a:prstGeom>
          <a:solidFill>
            <a:srgbClr val="182131">
              <a:alpha val="92000"/>
            </a:srgbClr>
          </a:solidFill>
          <a:ln w="9525">
            <a:solidFill>
              <a:srgbClr val="2A3547"/>
            </a:solidFill>
            <a:prstDash val="solid"/>
          </a:ln>
        </p:spPr>
      </p:sp>
      <p:pic>
        <p:nvPicPr>
          <p:cNvPr id="15" name="Image 3" descr="preencoded.png">    </p:cNvPr>
          <p:cNvPicPr>
            <a:picLocks noChangeAspect="1"/>
          </p:cNvPicPr>
          <p:nvPr/>
        </p:nvPicPr>
        <p:blipFill>
          <a:blip r:embed="rId4"/>
          <a:stretch>
            <a:fillRect/>
          </a:stretch>
        </p:blipFill>
        <p:spPr>
          <a:xfrm>
            <a:off x="3421228" y="868680"/>
            <a:ext cx="457200" cy="457200"/>
          </a:xfrm>
          <a:prstGeom prst="rect">
            <a:avLst/>
          </a:prstGeom>
        </p:spPr>
      </p:pic>
      <p:sp>
        <p:nvSpPr>
          <p:cNvPr id="16" name="Text 10"/>
          <p:cNvSpPr txBox="1"/>
          <p:nvPr/>
        </p:nvSpPr>
        <p:spPr>
          <a:xfrm>
            <a:off x="2602154" y="150876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أنظمة إنذار الحريق</a:t>
            </a:r>
            <a:endParaRPr lang="ar-SA" sz="1300" dirty="0"/>
          </a:p>
        </p:txBody>
      </p:sp>
      <p:sp>
        <p:nvSpPr>
          <p:cNvPr id="17" name="Shape 11"/>
          <p:cNvSpPr/>
          <p:nvPr/>
        </p:nvSpPr>
        <p:spPr>
          <a:xfrm>
            <a:off x="548640" y="594360"/>
            <a:ext cx="1687754" cy="1783080"/>
          </a:xfrm>
          <a:prstGeom prst="rect">
            <a:avLst/>
          </a:prstGeom>
          <a:solidFill>
            <a:srgbClr val="182131">
              <a:alpha val="92000"/>
            </a:srgbClr>
          </a:solidFill>
          <a:ln w="9525">
            <a:solidFill>
              <a:srgbClr val="2A3547"/>
            </a:solidFill>
            <a:prstDash val="solid"/>
          </a:ln>
        </p:spPr>
      </p:sp>
      <p:pic>
        <p:nvPicPr>
          <p:cNvPr id="18" name="Image 4" descr="preencoded.png">    </p:cNvPr>
          <p:cNvPicPr>
            <a:picLocks noChangeAspect="1"/>
          </p:cNvPicPr>
          <p:nvPr/>
        </p:nvPicPr>
        <p:blipFill>
          <a:blip r:embed="rId5"/>
          <a:stretch>
            <a:fillRect/>
          </a:stretch>
        </p:blipFill>
        <p:spPr>
          <a:xfrm>
            <a:off x="1550594" y="868680"/>
            <a:ext cx="457200" cy="457200"/>
          </a:xfrm>
          <a:prstGeom prst="rect">
            <a:avLst/>
          </a:prstGeom>
        </p:spPr>
      </p:pic>
      <p:sp>
        <p:nvSpPr>
          <p:cNvPr id="19" name="Text 12"/>
          <p:cNvSpPr txBox="1"/>
          <p:nvPr/>
        </p:nvSpPr>
        <p:spPr>
          <a:xfrm>
            <a:off x="731520" y="150876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أنظمة كاميرات المراقبة</a:t>
            </a:r>
            <a:endParaRPr lang="ar-SA" sz="1300" dirty="0"/>
          </a:p>
        </p:txBody>
      </p:sp>
      <p:sp>
        <p:nvSpPr>
          <p:cNvPr id="20" name="Shape 13"/>
          <p:cNvSpPr/>
          <p:nvPr/>
        </p:nvSpPr>
        <p:spPr>
          <a:xfrm>
            <a:off x="6160541" y="2560320"/>
            <a:ext cx="1687754" cy="1783080"/>
          </a:xfrm>
          <a:prstGeom prst="rect">
            <a:avLst/>
          </a:prstGeom>
          <a:solidFill>
            <a:srgbClr val="182131">
              <a:alpha val="92000"/>
            </a:srgbClr>
          </a:solidFill>
          <a:ln w="9525">
            <a:solidFill>
              <a:srgbClr val="2A3547"/>
            </a:solidFill>
            <a:prstDash val="solid"/>
          </a:ln>
        </p:spPr>
      </p:sp>
      <p:pic>
        <p:nvPicPr>
          <p:cNvPr id="21" name="Image 5" descr="preencoded.png">    </p:cNvPr>
          <p:cNvPicPr>
            <a:picLocks noChangeAspect="1"/>
          </p:cNvPicPr>
          <p:nvPr/>
        </p:nvPicPr>
        <p:blipFill>
          <a:blip r:embed="rId6"/>
          <a:stretch>
            <a:fillRect/>
          </a:stretch>
        </p:blipFill>
        <p:spPr>
          <a:xfrm>
            <a:off x="7162495" y="2834640"/>
            <a:ext cx="457200" cy="457200"/>
          </a:xfrm>
          <a:prstGeom prst="rect">
            <a:avLst/>
          </a:prstGeom>
        </p:spPr>
      </p:pic>
      <p:sp>
        <p:nvSpPr>
          <p:cNvPr id="22" name="Text 14"/>
          <p:cNvSpPr txBox="1"/>
          <p:nvPr/>
        </p:nvSpPr>
        <p:spPr>
          <a:xfrm>
            <a:off x="6343421" y="347472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أنظمة الإذاعة الداخلية</a:t>
            </a:r>
            <a:endParaRPr lang="ar-SA" sz="1300" dirty="0"/>
          </a:p>
        </p:txBody>
      </p:sp>
      <p:sp>
        <p:nvSpPr>
          <p:cNvPr id="23" name="Shape 15"/>
          <p:cNvSpPr/>
          <p:nvPr/>
        </p:nvSpPr>
        <p:spPr>
          <a:xfrm>
            <a:off x="4289908" y="2560320"/>
            <a:ext cx="1687754" cy="1783080"/>
          </a:xfrm>
          <a:prstGeom prst="rect">
            <a:avLst/>
          </a:prstGeom>
          <a:solidFill>
            <a:srgbClr val="182131">
              <a:alpha val="92000"/>
            </a:srgbClr>
          </a:solidFill>
          <a:ln w="9525">
            <a:solidFill>
              <a:srgbClr val="2A3547"/>
            </a:solidFill>
            <a:prstDash val="solid"/>
          </a:ln>
        </p:spPr>
      </p:sp>
      <p:pic>
        <p:nvPicPr>
          <p:cNvPr id="24" name="Image 6" descr="preencoded.png">    </p:cNvPr>
          <p:cNvPicPr>
            <a:picLocks noChangeAspect="1"/>
          </p:cNvPicPr>
          <p:nvPr/>
        </p:nvPicPr>
        <p:blipFill>
          <a:blip r:embed="rId7"/>
          <a:stretch>
            <a:fillRect/>
          </a:stretch>
        </p:blipFill>
        <p:spPr>
          <a:xfrm>
            <a:off x="5291861" y="2834640"/>
            <a:ext cx="457200" cy="457200"/>
          </a:xfrm>
          <a:prstGeom prst="rect">
            <a:avLst/>
          </a:prstGeom>
        </p:spPr>
      </p:pic>
      <p:sp>
        <p:nvSpPr>
          <p:cNvPr id="25" name="Text 16"/>
          <p:cNvSpPr txBox="1"/>
          <p:nvPr/>
        </p:nvSpPr>
        <p:spPr>
          <a:xfrm>
            <a:off x="4472788" y="347472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أنظمة استدعاء التمريض</a:t>
            </a:r>
            <a:endParaRPr lang="ar-SA" sz="1300" dirty="0"/>
          </a:p>
        </p:txBody>
      </p:sp>
      <p:sp>
        <p:nvSpPr>
          <p:cNvPr id="26" name="Shape 17"/>
          <p:cNvSpPr/>
          <p:nvPr/>
        </p:nvSpPr>
        <p:spPr>
          <a:xfrm>
            <a:off x="2419274" y="2560320"/>
            <a:ext cx="1687754" cy="1783080"/>
          </a:xfrm>
          <a:prstGeom prst="rect">
            <a:avLst/>
          </a:prstGeom>
          <a:solidFill>
            <a:srgbClr val="182131">
              <a:alpha val="92000"/>
            </a:srgbClr>
          </a:solidFill>
          <a:ln w="9525">
            <a:solidFill>
              <a:srgbClr val="2A3547"/>
            </a:solidFill>
            <a:prstDash val="solid"/>
          </a:ln>
        </p:spPr>
      </p:sp>
      <p:pic>
        <p:nvPicPr>
          <p:cNvPr id="27" name="Image 7" descr="preencoded.png">    </p:cNvPr>
          <p:cNvPicPr>
            <a:picLocks noChangeAspect="1"/>
          </p:cNvPicPr>
          <p:nvPr/>
        </p:nvPicPr>
        <p:blipFill>
          <a:blip r:embed="rId8"/>
          <a:stretch>
            <a:fillRect/>
          </a:stretch>
        </p:blipFill>
        <p:spPr>
          <a:xfrm>
            <a:off x="3421228" y="2834640"/>
            <a:ext cx="457200" cy="457200"/>
          </a:xfrm>
          <a:prstGeom prst="rect">
            <a:avLst/>
          </a:prstGeom>
        </p:spPr>
      </p:pic>
      <p:sp>
        <p:nvSpPr>
          <p:cNvPr id="28" name="Text 18"/>
          <p:cNvSpPr txBox="1"/>
          <p:nvPr/>
        </p:nvSpPr>
        <p:spPr>
          <a:xfrm>
            <a:off x="2602154" y="347472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أنظمة التحكم في الدخول</a:t>
            </a:r>
            <a:endParaRPr lang="ar-SA" sz="1300" dirty="0"/>
          </a:p>
        </p:txBody>
      </p:sp>
      <p:sp>
        <p:nvSpPr>
          <p:cNvPr id="29" name="Shape 19"/>
          <p:cNvSpPr/>
          <p:nvPr/>
        </p:nvSpPr>
        <p:spPr>
          <a:xfrm>
            <a:off x="548640" y="2560320"/>
            <a:ext cx="1687754" cy="1783080"/>
          </a:xfrm>
          <a:prstGeom prst="rect">
            <a:avLst/>
          </a:prstGeom>
          <a:solidFill>
            <a:srgbClr val="182131">
              <a:alpha val="92000"/>
            </a:srgbClr>
          </a:solidFill>
          <a:ln w="9525">
            <a:solidFill>
              <a:srgbClr val="2A3547"/>
            </a:solidFill>
            <a:prstDash val="solid"/>
          </a:ln>
        </p:spPr>
      </p:sp>
      <p:pic>
        <p:nvPicPr>
          <p:cNvPr id="30" name="Image 8" descr="preencoded.png">    </p:cNvPr>
          <p:cNvPicPr>
            <a:picLocks noChangeAspect="1"/>
          </p:cNvPicPr>
          <p:nvPr/>
        </p:nvPicPr>
        <p:blipFill>
          <a:blip r:embed="rId9"/>
          <a:stretch>
            <a:fillRect/>
          </a:stretch>
        </p:blipFill>
        <p:spPr>
          <a:xfrm>
            <a:off x="1550594" y="2834640"/>
            <a:ext cx="457200" cy="457200"/>
          </a:xfrm>
          <a:prstGeom prst="rect">
            <a:avLst/>
          </a:prstGeom>
        </p:spPr>
      </p:pic>
      <p:sp>
        <p:nvSpPr>
          <p:cNvPr id="31" name="Text 20"/>
          <p:cNvSpPr txBox="1"/>
          <p:nvPr/>
        </p:nvSpPr>
        <p:spPr>
          <a:xfrm>
            <a:off x="731520" y="347472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أنظمة الساعة المركزية</a:t>
            </a:r>
            <a:endParaRPr lang="ar-SA" sz="1300" dirty="0"/>
          </a:p>
        </p:txBody>
      </p:sp>
      <p:sp>
        <p:nvSpPr>
          <p:cNvPr id="32" name="Shape 21"/>
          <p:cNvSpPr/>
          <p:nvPr/>
        </p:nvSpPr>
        <p:spPr>
          <a:xfrm>
            <a:off x="6160541" y="4526280"/>
            <a:ext cx="1687754" cy="1783080"/>
          </a:xfrm>
          <a:prstGeom prst="rect">
            <a:avLst/>
          </a:prstGeom>
          <a:solidFill>
            <a:srgbClr val="182131">
              <a:alpha val="92000"/>
            </a:srgbClr>
          </a:solidFill>
          <a:ln w="9525">
            <a:solidFill>
              <a:srgbClr val="2A3547"/>
            </a:solidFill>
            <a:prstDash val="solid"/>
          </a:ln>
        </p:spPr>
      </p:sp>
      <p:pic>
        <p:nvPicPr>
          <p:cNvPr id="33" name="Image 9" descr="preencoded.png">    </p:cNvPr>
          <p:cNvPicPr>
            <a:picLocks noChangeAspect="1"/>
          </p:cNvPicPr>
          <p:nvPr/>
        </p:nvPicPr>
        <p:blipFill>
          <a:blip r:embed="rId10"/>
          <a:stretch>
            <a:fillRect/>
          </a:stretch>
        </p:blipFill>
        <p:spPr>
          <a:xfrm>
            <a:off x="7162495" y="4800600"/>
            <a:ext cx="457200" cy="457200"/>
          </a:xfrm>
          <a:prstGeom prst="rect">
            <a:avLst/>
          </a:prstGeom>
        </p:spPr>
      </p:pic>
      <p:sp>
        <p:nvSpPr>
          <p:cNvPr id="34" name="Text 22"/>
          <p:cNvSpPr txBox="1"/>
          <p:nvPr/>
        </p:nvSpPr>
        <p:spPr>
          <a:xfrm>
            <a:off x="6343421" y="544068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نظام إدارة المباني (BMS)</a:t>
            </a:r>
            <a:endParaRPr lang="ar-SA" sz="1300" dirty="0"/>
          </a:p>
        </p:txBody>
      </p:sp>
      <p:sp>
        <p:nvSpPr>
          <p:cNvPr id="35" name="Shape 23"/>
          <p:cNvSpPr/>
          <p:nvPr/>
        </p:nvSpPr>
        <p:spPr>
          <a:xfrm>
            <a:off x="4289908" y="4526280"/>
            <a:ext cx="1687754" cy="1783080"/>
          </a:xfrm>
          <a:prstGeom prst="rect">
            <a:avLst/>
          </a:prstGeom>
          <a:solidFill>
            <a:srgbClr val="182131">
              <a:alpha val="92000"/>
            </a:srgbClr>
          </a:solidFill>
          <a:ln w="9525">
            <a:solidFill>
              <a:srgbClr val="2A3547"/>
            </a:solidFill>
            <a:prstDash val="solid"/>
          </a:ln>
        </p:spPr>
      </p:sp>
      <p:pic>
        <p:nvPicPr>
          <p:cNvPr id="36" name="Image 10" descr="preencoded.png">    </p:cNvPr>
          <p:cNvPicPr>
            <a:picLocks noChangeAspect="1"/>
          </p:cNvPicPr>
          <p:nvPr/>
        </p:nvPicPr>
        <p:blipFill>
          <a:blip r:embed="rId11"/>
          <a:stretch>
            <a:fillRect/>
          </a:stretch>
        </p:blipFill>
        <p:spPr>
          <a:xfrm>
            <a:off x="5291861" y="4800600"/>
            <a:ext cx="457200" cy="457200"/>
          </a:xfrm>
          <a:prstGeom prst="rect">
            <a:avLst/>
          </a:prstGeom>
        </p:spPr>
      </p:pic>
      <p:sp>
        <p:nvSpPr>
          <p:cNvPr id="37" name="Text 24"/>
          <p:cNvSpPr txBox="1"/>
          <p:nvPr/>
        </p:nvSpPr>
        <p:spPr>
          <a:xfrm>
            <a:off x="4472788" y="544068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أنظمة IPTV والصوت والصورة</a:t>
            </a:r>
            <a:endParaRPr lang="ar-SA" sz="1300" dirty="0"/>
          </a:p>
        </p:txBody>
      </p:sp>
      <p:sp>
        <p:nvSpPr>
          <p:cNvPr id="38" name="Shape 25"/>
          <p:cNvSpPr/>
          <p:nvPr/>
        </p:nvSpPr>
        <p:spPr>
          <a:xfrm>
            <a:off x="2419274" y="4526280"/>
            <a:ext cx="1687754" cy="1783080"/>
          </a:xfrm>
          <a:prstGeom prst="rect">
            <a:avLst/>
          </a:prstGeom>
          <a:solidFill>
            <a:srgbClr val="182131">
              <a:alpha val="92000"/>
            </a:srgbClr>
          </a:solidFill>
          <a:ln w="9525">
            <a:solidFill>
              <a:srgbClr val="2A3547"/>
            </a:solidFill>
            <a:prstDash val="solid"/>
          </a:ln>
        </p:spPr>
      </p:sp>
      <p:pic>
        <p:nvPicPr>
          <p:cNvPr id="39" name="Image 11" descr="preencoded.png">    </p:cNvPr>
          <p:cNvPicPr>
            <a:picLocks noChangeAspect="1"/>
          </p:cNvPicPr>
          <p:nvPr/>
        </p:nvPicPr>
        <p:blipFill>
          <a:blip r:embed="rId12"/>
          <a:stretch>
            <a:fillRect/>
          </a:stretch>
        </p:blipFill>
        <p:spPr>
          <a:xfrm>
            <a:off x="3421228" y="4800600"/>
            <a:ext cx="457200" cy="457200"/>
          </a:xfrm>
          <a:prstGeom prst="rect">
            <a:avLst/>
          </a:prstGeom>
        </p:spPr>
      </p:pic>
      <p:sp>
        <p:nvSpPr>
          <p:cNvPr id="40" name="Text 26"/>
          <p:cNvSpPr txBox="1"/>
          <p:nvPr/>
        </p:nvSpPr>
        <p:spPr>
          <a:xfrm>
            <a:off x="2602154" y="5440680"/>
            <a:ext cx="1276274" cy="685800"/>
          </a:xfrm>
          <a:prstGeom prst="rect">
            <a:avLst/>
          </a:prstGeom>
          <a:noFill/>
          <a:ln/>
        </p:spPr>
        <p:txBody>
          <a:bodyPr wrap="square" lIns="0" tIns="0" rIns="0" bIns="0" rtlCol="0" anchor="t"/>
          <a:lstStyle/>
          <a:p>
            <a:pPr rtl="1" algn="r" indent="0" marL="0">
              <a:buNone/>
            </a:pPr>
            <a:r>
              <a:rPr lang="ar-SA" altLang="en-US" sz="1300" b="1" dirty="0">
                <a:solidFill>
                  <a:srgbClr val="FFFFFF"/>
                </a:solidFill>
                <a:latin typeface="Arial" pitchFamily="34" charset="0"/>
                <a:ea typeface="Arial" pitchFamily="34" charset="-122"/>
                <a:cs typeface="Arial" pitchFamily="34" charset="-120"/>
              </a:rPr>
              <a:t>أنظمة الاتصال الداخلي</a:t>
            </a:r>
            <a:endParaRPr lang="ar-SA" sz="1300" dirty="0"/>
          </a:p>
        </p:txBody>
      </p:sp>
      <p:sp>
        <p:nvSpPr>
          <p:cNvPr id="41" name="Shape 27"/>
          <p:cNvSpPr/>
          <p:nvPr/>
        </p:nvSpPr>
        <p:spPr>
          <a:xfrm>
            <a:off x="548640" y="4526280"/>
            <a:ext cx="1687754" cy="1783080"/>
          </a:xfrm>
          <a:prstGeom prst="rect">
            <a:avLst/>
          </a:prstGeom>
          <a:solidFill>
            <a:srgbClr val="2DB8E0"/>
          </a:solidFill>
          <a:ln w="12700">
            <a:solidFill>
              <a:srgbClr val="2DB8E0"/>
            </a:solidFill>
            <a:prstDash val="solid"/>
          </a:ln>
        </p:spPr>
      </p:sp>
      <p:sp>
        <p:nvSpPr>
          <p:cNvPr id="42" name="Text 28"/>
          <p:cNvSpPr txBox="1"/>
          <p:nvPr/>
        </p:nvSpPr>
        <p:spPr>
          <a:xfrm>
            <a:off x="777240" y="4709160"/>
            <a:ext cx="1230554" cy="822960"/>
          </a:xfrm>
          <a:prstGeom prst="rect">
            <a:avLst/>
          </a:prstGeom>
          <a:noFill/>
          <a:ln/>
        </p:spPr>
        <p:txBody>
          <a:bodyPr wrap="square" lIns="0" tIns="0" rIns="0" bIns="0" rtlCol="0" anchor="ctr"/>
          <a:lstStyle/>
          <a:p>
            <a:pPr rtl="1" algn="r" indent="0" marL="0">
              <a:buNone/>
            </a:pPr>
            <a:r>
              <a:rPr lang="ar-SA" altLang="en-US" sz="4800" b="1" dirty="0">
                <a:solidFill>
                  <a:srgbClr val="0E1420"/>
                </a:solidFill>
                <a:latin typeface="Arial" pitchFamily="34" charset="0"/>
                <a:ea typeface="Arial" pitchFamily="34" charset="-122"/>
                <a:cs typeface="Arial" pitchFamily="34" charset="-120"/>
              </a:rPr>
              <a:t>11</a:t>
            </a:r>
            <a:endParaRPr lang="ar-SA" sz="4800" dirty="0"/>
          </a:p>
        </p:txBody>
      </p:sp>
      <p:sp>
        <p:nvSpPr>
          <p:cNvPr id="43" name="Text 29"/>
          <p:cNvSpPr txBox="1"/>
          <p:nvPr/>
        </p:nvSpPr>
        <p:spPr>
          <a:xfrm>
            <a:off x="777240" y="5532120"/>
            <a:ext cx="1230554" cy="640080"/>
          </a:xfrm>
          <a:prstGeom prst="rect">
            <a:avLst/>
          </a:prstGeom>
          <a:noFill/>
          <a:ln/>
        </p:spPr>
        <p:txBody>
          <a:bodyPr wrap="square" lIns="0" tIns="0" rIns="0" bIns="0" rtlCol="0" anchor="t"/>
          <a:lstStyle/>
          <a:p>
            <a:pPr rtl="1" algn="r" indent="0" marL="0">
              <a:buNone/>
            </a:pPr>
            <a:r>
              <a:rPr lang="ar-SA" altLang="en-US" sz="1420" b="1" dirty="0">
                <a:solidFill>
                  <a:srgbClr val="0E1420"/>
                </a:solidFill>
                <a:latin typeface="Arial" pitchFamily="34" charset="0"/>
                <a:ea typeface="Arial" pitchFamily="34" charset="-122"/>
                <a:cs typeface="Arial" pitchFamily="34" charset="-120"/>
              </a:rPr>
              <a:t>نظامًا متكاملًا، ومنفّذ واحد</a:t>
            </a:r>
            <a:endParaRPr lang="ar-SA" sz="1420" dirty="0"/>
          </a:p>
        </p:txBody>
      </p:sp>
      <p:sp>
        <p:nvSpPr>
          <p:cNvPr id="44" name="Text 30"/>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1000" dirty="0">
                <a:solidFill>
                  <a:srgbClr val="8D97A5"/>
                </a:solidFill>
                <a:latin typeface="Arial" pitchFamily="34" charset="0"/>
                <a:ea typeface="Arial" pitchFamily="34" charset="-122"/>
                <a:cs typeface="Arial" pitchFamily="34" charset="-120"/>
              </a:rPr>
              <a:t>الرؤية الجديدة التكاملية  ·  ملف الشركة</a:t>
            </a:r>
            <a:endParaRPr lang="ar-SA" sz="1000" dirty="0"/>
          </a:p>
        </p:txBody>
      </p:sp>
      <p:sp>
        <p:nvSpPr>
          <p:cNvPr id="45" name="Text 31"/>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1060" b="1" dirty="0">
                <a:solidFill>
                  <a:srgbClr val="8D97A5"/>
                </a:solidFill>
                <a:latin typeface="Arial" pitchFamily="34" charset="0"/>
                <a:ea typeface="Arial" pitchFamily="34" charset="-122"/>
                <a:cs typeface="Arial" pitchFamily="34" charset="-120"/>
              </a:rPr>
              <a:t>10</a:t>
            </a:r>
            <a:endParaRPr lang="ar-SA" sz="10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ome/user/NVIConsult/build/assets/s_mec.jpg">    </p:cNvPr>
          <p:cNvPicPr>
            <a:picLocks noChangeAspect="1"/>
          </p:cNvPicPr>
          <p:nvPr/>
        </p:nvPicPr>
        <p:blipFill>
          <a:blip r:embed="rId1"/>
          <a:stretch>
            <a:fillRect/>
          </a:stretch>
        </p:blipFill>
        <p:spPr>
          <a:xfrm>
            <a:off x="7253935" y="0"/>
            <a:ext cx="4937760" cy="6858000"/>
          </a:xfrm>
          <a:prstGeom prst="rect">
            <a:avLst/>
          </a:prstGeom>
        </p:spPr>
      </p:pic>
      <p:sp>
        <p:nvSpPr>
          <p:cNvPr id="3" name="Shape 0"/>
          <p:cNvSpPr/>
          <p:nvPr/>
        </p:nvSpPr>
        <p:spPr>
          <a:xfrm>
            <a:off x="6394399" y="603504"/>
            <a:ext cx="310896" cy="146304"/>
          </a:xfrm>
          <a:prstGeom prst="parallelogram">
            <a:avLst/>
          </a:prstGeom>
          <a:solidFill>
            <a:srgbClr val="E5177B"/>
          </a:solidFill>
          <a:ln w="12700">
            <a:solidFill>
              <a:srgbClr val="E5177B"/>
            </a:solidFill>
            <a:prstDash val="solid"/>
          </a:ln>
        </p:spPr>
      </p:sp>
      <p:sp>
        <p:nvSpPr>
          <p:cNvPr id="4" name="Text 1"/>
          <p:cNvSpPr txBox="1"/>
          <p:nvPr/>
        </p:nvSpPr>
        <p:spPr>
          <a:xfrm>
            <a:off x="548640" y="548640"/>
            <a:ext cx="5699455" cy="256032"/>
          </a:xfrm>
          <a:prstGeom prst="rect">
            <a:avLst/>
          </a:prstGeom>
          <a:noFill/>
          <a:ln/>
        </p:spPr>
        <p:txBody>
          <a:bodyPr wrap="square" lIns="0" tIns="0" rIns="0" bIns="0" rtlCol="0" anchor="ctr"/>
          <a:lstStyle/>
          <a:p>
            <a:pPr rtl="1" algn="r" indent="0" marL="0">
              <a:buNone/>
            </a:pPr>
            <a:r>
              <a:rPr lang="ar-SA" altLang="en-US" sz="1300" b="1" dirty="0">
                <a:solidFill>
                  <a:srgbClr val="E5177B"/>
                </a:solidFill>
                <a:latin typeface="Arial" pitchFamily="34" charset="0"/>
                <a:ea typeface="Arial" pitchFamily="34" charset="-122"/>
                <a:cs typeface="Arial" pitchFamily="34" charset="-120"/>
              </a:rPr>
              <a:t>الخدمة 06 / 08</a:t>
            </a:r>
            <a:endParaRPr lang="ar-SA" sz="1300" dirty="0"/>
          </a:p>
        </p:txBody>
      </p:sp>
      <p:sp>
        <p:nvSpPr>
          <p:cNvPr id="5" name="Text 2"/>
          <p:cNvSpPr txBox="1"/>
          <p:nvPr/>
        </p:nvSpPr>
        <p:spPr>
          <a:xfrm>
            <a:off x="548640" y="896112"/>
            <a:ext cx="6156655" cy="685800"/>
          </a:xfrm>
          <a:prstGeom prst="rect">
            <a:avLst/>
          </a:prstGeom>
          <a:noFill/>
          <a:ln/>
        </p:spPr>
        <p:txBody>
          <a:bodyPr wrap="square" lIns="0" tIns="0" rIns="0" bIns="0" rtlCol="0" anchor="t"/>
          <a:lstStyle/>
          <a:p>
            <a:pPr rtl="1" algn="r" indent="0" marL="0">
              <a:buNone/>
            </a:pPr>
            <a:r>
              <a:rPr lang="ar-SA" altLang="en-US" sz="3000" b="1" dirty="0">
                <a:solidFill>
                  <a:srgbClr val="0E1420"/>
                </a:solidFill>
                <a:latin typeface="Arial" pitchFamily="34" charset="0"/>
                <a:ea typeface="Arial" pitchFamily="34" charset="-122"/>
                <a:cs typeface="Arial" pitchFamily="34" charset="-120"/>
              </a:rPr>
              <a:t>الأعمال الميكانيكية والتكييف</a:t>
            </a:r>
            <a:endParaRPr lang="ar-SA" sz="3000" dirty="0"/>
          </a:p>
        </p:txBody>
      </p:sp>
      <p:sp>
        <p:nvSpPr>
          <p:cNvPr id="6" name="Text 3"/>
          <p:cNvSpPr txBox="1"/>
          <p:nvPr/>
        </p:nvSpPr>
        <p:spPr>
          <a:xfrm>
            <a:off x="548640" y="1627632"/>
            <a:ext cx="6156655" cy="457200"/>
          </a:xfrm>
          <a:prstGeom prst="rect">
            <a:avLst/>
          </a:prstGeom>
          <a:noFill/>
          <a:ln/>
        </p:spPr>
        <p:txBody>
          <a:bodyPr wrap="square" lIns="0" tIns="0" rIns="0" bIns="0" rtlCol="0" anchor="t"/>
          <a:lstStyle/>
          <a:p>
            <a:pPr rtl="1" algn="r" indent="0" marL="0">
              <a:buNone/>
            </a:pPr>
            <a:r>
              <a:rPr lang="ar-SA" altLang="en-US" sz="1500" dirty="0">
                <a:solidFill>
                  <a:srgbClr val="3F4856"/>
                </a:solidFill>
                <a:latin typeface="Arial" pitchFamily="34" charset="0"/>
                <a:ea typeface="Arial" pitchFamily="34" charset="-122"/>
                <a:cs typeface="Arial" pitchFamily="34" charset="-120"/>
              </a:rPr>
              <a:t>أنظمة التبريد ومعالجة الهواء وتوزيعه.</a:t>
            </a:r>
            <a:endParaRPr lang="ar-SA" sz="1500" dirty="0"/>
          </a:p>
        </p:txBody>
      </p:sp>
      <p:sp>
        <p:nvSpPr>
          <p:cNvPr id="7" name="Shape 4"/>
          <p:cNvSpPr/>
          <p:nvPr/>
        </p:nvSpPr>
        <p:spPr>
          <a:xfrm>
            <a:off x="3741268" y="2331720"/>
            <a:ext cx="2964028" cy="1874520"/>
          </a:xfrm>
          <a:prstGeom prst="rect">
            <a:avLst/>
          </a:prstGeom>
          <a:solidFill>
            <a:srgbClr val="F2F4F7"/>
          </a:solidFill>
          <a:ln w="12700">
            <a:solidFill>
              <a:srgbClr val="F2F4F7"/>
            </a:solidFill>
            <a:prstDash val="solid"/>
          </a:ln>
        </p:spPr>
      </p:sp>
      <p:sp>
        <p:nvSpPr>
          <p:cNvPr id="8" name="Shape 5"/>
          <p:cNvSpPr/>
          <p:nvPr/>
        </p:nvSpPr>
        <p:spPr>
          <a:xfrm>
            <a:off x="5772607" y="2606040"/>
            <a:ext cx="658368" cy="658368"/>
          </a:xfrm>
          <a:prstGeom prst="ellipse">
            <a:avLst/>
          </a:prstGeom>
          <a:solidFill>
            <a:srgbClr val="E5177B"/>
          </a:solidFill>
          <a:ln w="12700">
            <a:solidFill>
              <a:srgbClr val="E5177B"/>
            </a:solidFill>
            <a:prstDash val="solid"/>
          </a:ln>
        </p:spPr>
      </p:sp>
      <p:pic>
        <p:nvPicPr>
          <p:cNvPr id="9" name="Image 1" descr="preencoded.png">    </p:cNvPr>
          <p:cNvPicPr>
            <a:picLocks noChangeAspect="1"/>
          </p:cNvPicPr>
          <p:nvPr/>
        </p:nvPicPr>
        <p:blipFill>
          <a:blip r:embed="rId2"/>
          <a:stretch>
            <a:fillRect/>
          </a:stretch>
        </p:blipFill>
        <p:spPr>
          <a:xfrm>
            <a:off x="5909767" y="2743200"/>
            <a:ext cx="384048" cy="384048"/>
          </a:xfrm>
          <a:prstGeom prst="rect">
            <a:avLst/>
          </a:prstGeom>
        </p:spPr>
      </p:pic>
      <p:sp>
        <p:nvSpPr>
          <p:cNvPr id="10" name="Text 6"/>
          <p:cNvSpPr txBox="1"/>
          <p:nvPr/>
        </p:nvSpPr>
        <p:spPr>
          <a:xfrm>
            <a:off x="4015588" y="3429000"/>
            <a:ext cx="2415388" cy="64008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وحدات التبريد (التشيلر) والوحدات المجمّعة</a:t>
            </a:r>
            <a:endParaRPr lang="ar-SA" sz="1500" dirty="0"/>
          </a:p>
        </p:txBody>
      </p:sp>
      <p:sp>
        <p:nvSpPr>
          <p:cNvPr id="11" name="Shape 7"/>
          <p:cNvSpPr/>
          <p:nvPr/>
        </p:nvSpPr>
        <p:spPr>
          <a:xfrm>
            <a:off x="548640" y="2331720"/>
            <a:ext cx="2964028" cy="1874520"/>
          </a:xfrm>
          <a:prstGeom prst="rect">
            <a:avLst/>
          </a:prstGeom>
          <a:solidFill>
            <a:srgbClr val="F2F4F7"/>
          </a:solidFill>
          <a:ln w="12700">
            <a:solidFill>
              <a:srgbClr val="F2F4F7"/>
            </a:solidFill>
            <a:prstDash val="solid"/>
          </a:ln>
        </p:spPr>
      </p:sp>
      <p:sp>
        <p:nvSpPr>
          <p:cNvPr id="12" name="Shape 8"/>
          <p:cNvSpPr/>
          <p:nvPr/>
        </p:nvSpPr>
        <p:spPr>
          <a:xfrm>
            <a:off x="2579980" y="2606040"/>
            <a:ext cx="658368" cy="658368"/>
          </a:xfrm>
          <a:prstGeom prst="ellipse">
            <a:avLst/>
          </a:prstGeom>
          <a:solidFill>
            <a:srgbClr val="2DB8E0"/>
          </a:solidFill>
          <a:ln w="12700">
            <a:solidFill>
              <a:srgbClr val="2DB8E0"/>
            </a:solidFill>
            <a:prstDash val="solid"/>
          </a:ln>
        </p:spPr>
      </p:sp>
      <p:pic>
        <p:nvPicPr>
          <p:cNvPr id="13" name="Image 2" descr="preencoded.png">    </p:cNvPr>
          <p:cNvPicPr>
            <a:picLocks noChangeAspect="1"/>
          </p:cNvPicPr>
          <p:nvPr/>
        </p:nvPicPr>
        <p:blipFill>
          <a:blip r:embed="rId3"/>
          <a:stretch>
            <a:fillRect/>
          </a:stretch>
        </p:blipFill>
        <p:spPr>
          <a:xfrm>
            <a:off x="2717140" y="2743200"/>
            <a:ext cx="384048" cy="384048"/>
          </a:xfrm>
          <a:prstGeom prst="rect">
            <a:avLst/>
          </a:prstGeom>
        </p:spPr>
      </p:pic>
      <p:sp>
        <p:nvSpPr>
          <p:cNvPr id="14" name="Text 9"/>
          <p:cNvSpPr txBox="1"/>
          <p:nvPr/>
        </p:nvSpPr>
        <p:spPr>
          <a:xfrm>
            <a:off x="822960" y="3429000"/>
            <a:ext cx="2415388" cy="64008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وحدات ملفات المراوح ومناولة الهواء (FCU / AHU)</a:t>
            </a:r>
            <a:endParaRPr lang="ar-SA" sz="1500" dirty="0"/>
          </a:p>
        </p:txBody>
      </p:sp>
      <p:sp>
        <p:nvSpPr>
          <p:cNvPr id="15" name="Shape 10"/>
          <p:cNvSpPr/>
          <p:nvPr/>
        </p:nvSpPr>
        <p:spPr>
          <a:xfrm>
            <a:off x="3741268" y="4434840"/>
            <a:ext cx="2964028" cy="1874520"/>
          </a:xfrm>
          <a:prstGeom prst="rect">
            <a:avLst/>
          </a:prstGeom>
          <a:solidFill>
            <a:srgbClr val="F2F4F7"/>
          </a:solidFill>
          <a:ln w="12700">
            <a:solidFill>
              <a:srgbClr val="F2F4F7"/>
            </a:solidFill>
            <a:prstDash val="solid"/>
          </a:ln>
        </p:spPr>
      </p:sp>
      <p:sp>
        <p:nvSpPr>
          <p:cNvPr id="16" name="Shape 11"/>
          <p:cNvSpPr/>
          <p:nvPr/>
        </p:nvSpPr>
        <p:spPr>
          <a:xfrm>
            <a:off x="5772607" y="4709160"/>
            <a:ext cx="658368" cy="658368"/>
          </a:xfrm>
          <a:prstGeom prst="ellipse">
            <a:avLst/>
          </a:prstGeom>
          <a:solidFill>
            <a:srgbClr val="FBBA16"/>
          </a:solidFill>
          <a:ln w="12700">
            <a:solidFill>
              <a:srgbClr val="FBBA16"/>
            </a:solidFill>
            <a:prstDash val="solid"/>
          </a:ln>
        </p:spPr>
      </p:sp>
      <p:pic>
        <p:nvPicPr>
          <p:cNvPr id="17" name="Image 3" descr="preencoded.png">    </p:cNvPr>
          <p:cNvPicPr>
            <a:picLocks noChangeAspect="1"/>
          </p:cNvPicPr>
          <p:nvPr/>
        </p:nvPicPr>
        <p:blipFill>
          <a:blip r:embed="rId4"/>
          <a:stretch>
            <a:fillRect/>
          </a:stretch>
        </p:blipFill>
        <p:spPr>
          <a:xfrm>
            <a:off x="5909767" y="4846320"/>
            <a:ext cx="384048" cy="384048"/>
          </a:xfrm>
          <a:prstGeom prst="rect">
            <a:avLst/>
          </a:prstGeom>
        </p:spPr>
      </p:pic>
      <p:sp>
        <p:nvSpPr>
          <p:cNvPr id="18" name="Text 12"/>
          <p:cNvSpPr txBox="1"/>
          <p:nvPr/>
        </p:nvSpPr>
        <p:spPr>
          <a:xfrm>
            <a:off x="4015588" y="5532120"/>
            <a:ext cx="2415388" cy="64008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مجاري الهواء والفتحات</a:t>
            </a:r>
            <a:endParaRPr lang="ar-SA" sz="1500" dirty="0"/>
          </a:p>
        </p:txBody>
      </p:sp>
      <p:sp>
        <p:nvSpPr>
          <p:cNvPr id="19" name="Shape 13"/>
          <p:cNvSpPr/>
          <p:nvPr/>
        </p:nvSpPr>
        <p:spPr>
          <a:xfrm>
            <a:off x="548640" y="4434840"/>
            <a:ext cx="2964028" cy="1874520"/>
          </a:xfrm>
          <a:prstGeom prst="rect">
            <a:avLst/>
          </a:prstGeom>
          <a:solidFill>
            <a:srgbClr val="F2F4F7"/>
          </a:solidFill>
          <a:ln w="12700">
            <a:solidFill>
              <a:srgbClr val="F2F4F7"/>
            </a:solidFill>
            <a:prstDash val="solid"/>
          </a:ln>
        </p:spPr>
      </p:sp>
      <p:sp>
        <p:nvSpPr>
          <p:cNvPr id="20" name="Shape 14"/>
          <p:cNvSpPr/>
          <p:nvPr/>
        </p:nvSpPr>
        <p:spPr>
          <a:xfrm>
            <a:off x="2579980" y="4709160"/>
            <a:ext cx="658368" cy="658368"/>
          </a:xfrm>
          <a:prstGeom prst="ellipse">
            <a:avLst/>
          </a:prstGeom>
          <a:solidFill>
            <a:srgbClr val="5B54A4"/>
          </a:solidFill>
          <a:ln w="12700">
            <a:solidFill>
              <a:srgbClr val="5B54A4"/>
            </a:solidFill>
            <a:prstDash val="solid"/>
          </a:ln>
        </p:spPr>
      </p:sp>
      <p:pic>
        <p:nvPicPr>
          <p:cNvPr id="21" name="Image 4" descr="preencoded.png">    </p:cNvPr>
          <p:cNvPicPr>
            <a:picLocks noChangeAspect="1"/>
          </p:cNvPicPr>
          <p:nvPr/>
        </p:nvPicPr>
        <p:blipFill>
          <a:blip r:embed="rId5"/>
          <a:stretch>
            <a:fillRect/>
          </a:stretch>
        </p:blipFill>
        <p:spPr>
          <a:xfrm>
            <a:off x="2717140" y="4846320"/>
            <a:ext cx="384048" cy="384048"/>
          </a:xfrm>
          <a:prstGeom prst="rect">
            <a:avLst/>
          </a:prstGeom>
        </p:spPr>
      </p:pic>
      <p:sp>
        <p:nvSpPr>
          <p:cNvPr id="22" name="Text 15"/>
          <p:cNvSpPr txBox="1"/>
          <p:nvPr/>
        </p:nvSpPr>
        <p:spPr>
          <a:xfrm>
            <a:off x="822960" y="5532120"/>
            <a:ext cx="2415388" cy="64008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أنابيب المياه الباردة والساخنة</a:t>
            </a:r>
            <a:endParaRPr lang="ar-SA" sz="1500" dirty="0"/>
          </a:p>
        </p:txBody>
      </p:sp>
      <p:sp>
        <p:nvSpPr>
          <p:cNvPr id="23" name="Text 16"/>
          <p:cNvSpPr txBox="1"/>
          <p:nvPr/>
        </p:nvSpPr>
        <p:spPr>
          <a:xfrm>
            <a:off x="1097280" y="6446520"/>
            <a:ext cx="5608015" cy="228600"/>
          </a:xfrm>
          <a:prstGeom prst="rect">
            <a:avLst/>
          </a:prstGeom>
          <a:noFill/>
          <a:ln/>
        </p:spPr>
        <p:txBody>
          <a:bodyPr wrap="square" lIns="0" tIns="0" rIns="0" bIns="0" rtlCol="0" anchor="ctr"/>
          <a:lstStyle/>
          <a:p>
            <a:pPr rtl="1" algn="r" indent="0" marL="0">
              <a:buNone/>
            </a:pPr>
            <a:r>
              <a:rPr lang="ar-SA" altLang="en-US" sz="1000" dirty="0">
                <a:solidFill>
                  <a:srgbClr val="667080"/>
                </a:solidFill>
                <a:latin typeface="Arial" pitchFamily="34" charset="0"/>
                <a:ea typeface="Arial" pitchFamily="34" charset="-122"/>
                <a:cs typeface="Arial" pitchFamily="34" charset="-120"/>
              </a:rPr>
              <a:t>الرؤية الجديدة التكاملية  ·  ملف الشركة</a:t>
            </a:r>
            <a:endParaRPr lang="ar-SA" sz="1000" dirty="0"/>
          </a:p>
        </p:txBody>
      </p:sp>
      <p:sp>
        <p:nvSpPr>
          <p:cNvPr id="24" name="Text 17"/>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1060" b="1" dirty="0">
                <a:solidFill>
                  <a:srgbClr val="667080"/>
                </a:solidFill>
                <a:latin typeface="Arial" pitchFamily="34" charset="0"/>
                <a:ea typeface="Arial" pitchFamily="34" charset="-122"/>
                <a:cs typeface="Arial" pitchFamily="34" charset="-120"/>
              </a:rPr>
              <a:t>11</a:t>
            </a:r>
            <a:endParaRPr lang="ar-SA" sz="10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ome/user/NVIConsult/build/assets/s_plu.jpg">    </p:cNvPr>
          <p:cNvPicPr>
            <a:picLocks noChangeAspect="1"/>
          </p:cNvPicPr>
          <p:nvPr/>
        </p:nvPicPr>
        <p:blipFill>
          <a:blip r:embed="rId1"/>
          <a:stretch>
            <a:fillRect/>
          </a:stretch>
        </p:blipFill>
        <p:spPr>
          <a:xfrm>
            <a:off x="0" y="0"/>
            <a:ext cx="4572000" cy="6858000"/>
          </a:xfrm>
          <a:prstGeom prst="rect">
            <a:avLst/>
          </a:prstGeom>
        </p:spPr>
      </p:pic>
      <p:sp>
        <p:nvSpPr>
          <p:cNvPr id="3" name="Shape 0"/>
          <p:cNvSpPr/>
          <p:nvPr/>
        </p:nvSpPr>
        <p:spPr>
          <a:xfrm>
            <a:off x="11332159" y="603504"/>
            <a:ext cx="310896" cy="146304"/>
          </a:xfrm>
          <a:prstGeom prst="parallelogram">
            <a:avLst/>
          </a:prstGeom>
          <a:solidFill>
            <a:srgbClr val="2DB8E0"/>
          </a:solidFill>
          <a:ln w="12700">
            <a:solidFill>
              <a:srgbClr val="2DB8E0"/>
            </a:solidFill>
            <a:prstDash val="solid"/>
          </a:ln>
        </p:spPr>
      </p:sp>
      <p:sp>
        <p:nvSpPr>
          <p:cNvPr id="4" name="Text 1"/>
          <p:cNvSpPr txBox="1"/>
          <p:nvPr/>
        </p:nvSpPr>
        <p:spPr>
          <a:xfrm>
            <a:off x="5150815" y="548640"/>
            <a:ext cx="6035040" cy="256032"/>
          </a:xfrm>
          <a:prstGeom prst="rect">
            <a:avLst/>
          </a:prstGeom>
          <a:noFill/>
          <a:ln/>
        </p:spPr>
        <p:txBody>
          <a:bodyPr wrap="square" lIns="0" tIns="0" rIns="0" bIns="0" rtlCol="0" anchor="ctr"/>
          <a:lstStyle/>
          <a:p>
            <a:pPr rtl="1" algn="r" indent="0" marL="0">
              <a:buNone/>
            </a:pPr>
            <a:r>
              <a:rPr lang="ar-SA" altLang="en-US" sz="1300" b="1" dirty="0">
                <a:solidFill>
                  <a:srgbClr val="1A93B8"/>
                </a:solidFill>
                <a:latin typeface="Arial" pitchFamily="34" charset="0"/>
                <a:ea typeface="Arial" pitchFamily="34" charset="-122"/>
                <a:cs typeface="Arial" pitchFamily="34" charset="-120"/>
              </a:rPr>
              <a:t>الخدمة 07 / 08</a:t>
            </a:r>
            <a:endParaRPr lang="ar-SA" sz="1300" dirty="0"/>
          </a:p>
        </p:txBody>
      </p:sp>
      <p:sp>
        <p:nvSpPr>
          <p:cNvPr id="5" name="Text 2"/>
          <p:cNvSpPr txBox="1"/>
          <p:nvPr/>
        </p:nvSpPr>
        <p:spPr>
          <a:xfrm>
            <a:off x="5150815" y="896112"/>
            <a:ext cx="6492240" cy="685800"/>
          </a:xfrm>
          <a:prstGeom prst="rect">
            <a:avLst/>
          </a:prstGeom>
          <a:noFill/>
          <a:ln/>
        </p:spPr>
        <p:txBody>
          <a:bodyPr wrap="square" lIns="0" tIns="0" rIns="0" bIns="0" rtlCol="0" anchor="t"/>
          <a:lstStyle/>
          <a:p>
            <a:pPr rtl="1" algn="r" indent="0" marL="0">
              <a:buNone/>
            </a:pPr>
            <a:r>
              <a:rPr lang="ar-SA" altLang="en-US" sz="3600" b="1" dirty="0">
                <a:solidFill>
                  <a:srgbClr val="0E1420"/>
                </a:solidFill>
                <a:latin typeface="Arial" pitchFamily="34" charset="0"/>
                <a:ea typeface="Arial" pitchFamily="34" charset="-122"/>
                <a:cs typeface="Arial" pitchFamily="34" charset="-120"/>
              </a:rPr>
              <a:t>السباكة ومكافحة الحريق</a:t>
            </a:r>
            <a:endParaRPr lang="ar-SA" sz="3600" dirty="0"/>
          </a:p>
        </p:txBody>
      </p:sp>
      <p:sp>
        <p:nvSpPr>
          <p:cNvPr id="6" name="Text 3"/>
          <p:cNvSpPr txBox="1"/>
          <p:nvPr/>
        </p:nvSpPr>
        <p:spPr>
          <a:xfrm>
            <a:off x="5150815" y="1627632"/>
            <a:ext cx="6492240" cy="457200"/>
          </a:xfrm>
          <a:prstGeom prst="rect">
            <a:avLst/>
          </a:prstGeom>
          <a:noFill/>
          <a:ln/>
        </p:spPr>
        <p:txBody>
          <a:bodyPr wrap="square" lIns="0" tIns="0" rIns="0" bIns="0" rtlCol="0" anchor="t"/>
          <a:lstStyle/>
          <a:p>
            <a:pPr rtl="1" algn="r" indent="0" marL="0">
              <a:buNone/>
            </a:pPr>
            <a:r>
              <a:rPr lang="ar-SA" altLang="en-US" sz="1500" dirty="0">
                <a:solidFill>
                  <a:srgbClr val="3F4856"/>
                </a:solidFill>
                <a:latin typeface="Arial" pitchFamily="34" charset="0"/>
                <a:ea typeface="Arial" pitchFamily="34" charset="-122"/>
                <a:cs typeface="Arial" pitchFamily="34" charset="-120"/>
              </a:rPr>
              <a:t>شبكات تغذية المياه والصرف الصحي ومكافحة الحريق.</a:t>
            </a:r>
            <a:endParaRPr lang="ar-SA" sz="1500" dirty="0"/>
          </a:p>
        </p:txBody>
      </p:sp>
      <p:sp>
        <p:nvSpPr>
          <p:cNvPr id="7" name="Shape 4"/>
          <p:cNvSpPr/>
          <p:nvPr/>
        </p:nvSpPr>
        <p:spPr>
          <a:xfrm>
            <a:off x="11076127" y="2377440"/>
            <a:ext cx="566928" cy="566928"/>
          </a:xfrm>
          <a:prstGeom prst="ellipse">
            <a:avLst/>
          </a:prstGeom>
          <a:solidFill>
            <a:srgbClr val="2DB8E0"/>
          </a:solidFill>
          <a:ln w="12700">
            <a:solidFill>
              <a:srgbClr val="2DB8E0"/>
            </a:solidFill>
            <a:prstDash val="solid"/>
          </a:ln>
        </p:spPr>
      </p:sp>
      <p:pic>
        <p:nvPicPr>
          <p:cNvPr id="8" name="Image 1" descr="preencoded.png">    </p:cNvPr>
          <p:cNvPicPr>
            <a:picLocks noChangeAspect="1"/>
          </p:cNvPicPr>
          <p:nvPr/>
        </p:nvPicPr>
        <p:blipFill>
          <a:blip r:embed="rId2"/>
          <a:stretch>
            <a:fillRect/>
          </a:stretch>
        </p:blipFill>
        <p:spPr>
          <a:xfrm>
            <a:off x="11194999" y="2496312"/>
            <a:ext cx="329184" cy="329184"/>
          </a:xfrm>
          <a:prstGeom prst="rect">
            <a:avLst/>
          </a:prstGeom>
        </p:spPr>
      </p:pic>
      <p:sp>
        <p:nvSpPr>
          <p:cNvPr id="9" name="Text 5"/>
          <p:cNvSpPr txBox="1"/>
          <p:nvPr/>
        </p:nvSpPr>
        <p:spPr>
          <a:xfrm>
            <a:off x="8579815" y="2377440"/>
            <a:ext cx="2331720" cy="566928"/>
          </a:xfrm>
          <a:prstGeom prst="rect">
            <a:avLst/>
          </a:prstGeom>
          <a:noFill/>
          <a:ln/>
        </p:spPr>
        <p:txBody>
          <a:bodyPr wrap="square" lIns="0" tIns="0" rIns="0" bIns="0" rtlCol="0" anchor="ctr"/>
          <a:lstStyle/>
          <a:p>
            <a:pPr rtl="1" algn="r" indent="0" marL="0">
              <a:buNone/>
            </a:pPr>
            <a:r>
              <a:rPr lang="ar-SA" altLang="en-US" sz="1900" b="1" dirty="0">
                <a:solidFill>
                  <a:srgbClr val="0E1420"/>
                </a:solidFill>
                <a:latin typeface="Arial" pitchFamily="34" charset="0"/>
                <a:ea typeface="Arial" pitchFamily="34" charset="-122"/>
                <a:cs typeface="Arial" pitchFamily="34" charset="-120"/>
              </a:rPr>
              <a:t>السباكة</a:t>
            </a:r>
            <a:endParaRPr lang="ar-SA" sz="1900" dirty="0"/>
          </a:p>
        </p:txBody>
      </p:sp>
      <p:sp>
        <p:nvSpPr>
          <p:cNvPr id="10" name="Shape 6"/>
          <p:cNvSpPr/>
          <p:nvPr/>
        </p:nvSpPr>
        <p:spPr>
          <a:xfrm>
            <a:off x="11405311" y="3282696"/>
            <a:ext cx="237744" cy="100584"/>
          </a:xfrm>
          <a:prstGeom prst="parallelogram">
            <a:avLst/>
          </a:prstGeom>
          <a:solidFill>
            <a:srgbClr val="2DB8E0"/>
          </a:solidFill>
          <a:ln w="12700">
            <a:solidFill>
              <a:srgbClr val="2DB8E0"/>
            </a:solidFill>
            <a:prstDash val="solid"/>
          </a:ln>
        </p:spPr>
      </p:sp>
      <p:sp>
        <p:nvSpPr>
          <p:cNvPr id="11" name="Text 7"/>
          <p:cNvSpPr txBox="1"/>
          <p:nvPr/>
        </p:nvSpPr>
        <p:spPr>
          <a:xfrm>
            <a:off x="8579815" y="3200400"/>
            <a:ext cx="2679192" cy="502920"/>
          </a:xfrm>
          <a:prstGeom prst="rect">
            <a:avLst/>
          </a:prstGeom>
          <a:noFill/>
          <a:ln/>
        </p:spPr>
        <p:txBody>
          <a:bodyPr wrap="square" lIns="0" tIns="0" rIns="0" bIns="0" rtlCol="0" anchor="t"/>
          <a:lstStyle/>
          <a:p>
            <a:pPr rtl="1" algn="r" indent="0" marL="0">
              <a:buNone/>
            </a:pPr>
            <a:r>
              <a:rPr lang="ar-SA" altLang="en-US" sz="1450" dirty="0">
                <a:solidFill>
                  <a:srgbClr val="0E1420"/>
                </a:solidFill>
                <a:latin typeface="Arial" pitchFamily="34" charset="0"/>
                <a:ea typeface="Arial" pitchFamily="34" charset="-122"/>
                <a:cs typeface="Arial" pitchFamily="34" charset="-120"/>
              </a:rPr>
              <a:t>التركيبات الصحية</a:t>
            </a:r>
            <a:endParaRPr lang="ar-SA" sz="1450" dirty="0"/>
          </a:p>
        </p:txBody>
      </p:sp>
      <p:sp>
        <p:nvSpPr>
          <p:cNvPr id="12" name="Shape 8"/>
          <p:cNvSpPr/>
          <p:nvPr/>
        </p:nvSpPr>
        <p:spPr>
          <a:xfrm>
            <a:off x="8579815" y="3785616"/>
            <a:ext cx="3063240" cy="0"/>
          </a:xfrm>
          <a:prstGeom prst="line">
            <a:avLst/>
          </a:prstGeom>
          <a:noFill/>
          <a:ln w="9525">
            <a:solidFill>
              <a:srgbClr val="DDE1E6"/>
            </a:solidFill>
            <a:prstDash val="solid"/>
          </a:ln>
        </p:spPr>
      </p:sp>
      <p:sp>
        <p:nvSpPr>
          <p:cNvPr id="13" name="Shape 9"/>
          <p:cNvSpPr/>
          <p:nvPr/>
        </p:nvSpPr>
        <p:spPr>
          <a:xfrm>
            <a:off x="11405311" y="3995928"/>
            <a:ext cx="237744" cy="100584"/>
          </a:xfrm>
          <a:prstGeom prst="parallelogram">
            <a:avLst/>
          </a:prstGeom>
          <a:solidFill>
            <a:srgbClr val="2DB8E0"/>
          </a:solidFill>
          <a:ln w="12700">
            <a:solidFill>
              <a:srgbClr val="2DB8E0"/>
            </a:solidFill>
            <a:prstDash val="solid"/>
          </a:ln>
        </p:spPr>
      </p:sp>
      <p:sp>
        <p:nvSpPr>
          <p:cNvPr id="14" name="Text 10"/>
          <p:cNvSpPr txBox="1"/>
          <p:nvPr/>
        </p:nvSpPr>
        <p:spPr>
          <a:xfrm>
            <a:off x="8579815" y="3913632"/>
            <a:ext cx="2679192" cy="502920"/>
          </a:xfrm>
          <a:prstGeom prst="rect">
            <a:avLst/>
          </a:prstGeom>
          <a:noFill/>
          <a:ln/>
        </p:spPr>
        <p:txBody>
          <a:bodyPr wrap="square" lIns="0" tIns="0" rIns="0" bIns="0" rtlCol="0" anchor="t"/>
          <a:lstStyle/>
          <a:p>
            <a:pPr rtl="1" algn="r" indent="0" marL="0">
              <a:buNone/>
            </a:pPr>
            <a:r>
              <a:rPr lang="ar-SA" altLang="en-US" sz="1450" dirty="0">
                <a:solidFill>
                  <a:srgbClr val="0E1420"/>
                </a:solidFill>
                <a:latin typeface="Arial" pitchFamily="34" charset="0"/>
                <a:ea typeface="Arial" pitchFamily="34" charset="-122"/>
                <a:cs typeface="Arial" pitchFamily="34" charset="-120"/>
              </a:rPr>
              <a:t>أنابيب المياه الباردة والساخنة</a:t>
            </a:r>
            <a:endParaRPr lang="ar-SA" sz="1450" dirty="0"/>
          </a:p>
        </p:txBody>
      </p:sp>
      <p:sp>
        <p:nvSpPr>
          <p:cNvPr id="15" name="Shape 11"/>
          <p:cNvSpPr/>
          <p:nvPr/>
        </p:nvSpPr>
        <p:spPr>
          <a:xfrm>
            <a:off x="8579815" y="4498848"/>
            <a:ext cx="3063240" cy="0"/>
          </a:xfrm>
          <a:prstGeom prst="line">
            <a:avLst/>
          </a:prstGeom>
          <a:noFill/>
          <a:ln w="9525">
            <a:solidFill>
              <a:srgbClr val="DDE1E6"/>
            </a:solidFill>
            <a:prstDash val="solid"/>
          </a:ln>
        </p:spPr>
      </p:sp>
      <p:sp>
        <p:nvSpPr>
          <p:cNvPr id="16" name="Shape 12"/>
          <p:cNvSpPr/>
          <p:nvPr/>
        </p:nvSpPr>
        <p:spPr>
          <a:xfrm>
            <a:off x="11405311" y="4709160"/>
            <a:ext cx="237744" cy="100584"/>
          </a:xfrm>
          <a:prstGeom prst="parallelogram">
            <a:avLst/>
          </a:prstGeom>
          <a:solidFill>
            <a:srgbClr val="2DB8E0"/>
          </a:solidFill>
          <a:ln w="12700">
            <a:solidFill>
              <a:srgbClr val="2DB8E0"/>
            </a:solidFill>
            <a:prstDash val="solid"/>
          </a:ln>
        </p:spPr>
      </p:sp>
      <p:sp>
        <p:nvSpPr>
          <p:cNvPr id="17" name="Text 13"/>
          <p:cNvSpPr txBox="1"/>
          <p:nvPr/>
        </p:nvSpPr>
        <p:spPr>
          <a:xfrm>
            <a:off x="8579815" y="4626864"/>
            <a:ext cx="2679192" cy="502920"/>
          </a:xfrm>
          <a:prstGeom prst="rect">
            <a:avLst/>
          </a:prstGeom>
          <a:noFill/>
          <a:ln/>
        </p:spPr>
        <p:txBody>
          <a:bodyPr wrap="square" lIns="0" tIns="0" rIns="0" bIns="0" rtlCol="0" anchor="t"/>
          <a:lstStyle/>
          <a:p>
            <a:pPr rtl="1" algn="r" indent="0" marL="0">
              <a:buNone/>
            </a:pPr>
            <a:r>
              <a:rPr lang="ar-SA" altLang="en-US" sz="1450" dirty="0">
                <a:solidFill>
                  <a:srgbClr val="0E1420"/>
                </a:solidFill>
                <a:latin typeface="Arial" pitchFamily="34" charset="0"/>
                <a:ea typeface="Arial" pitchFamily="34" charset="-122"/>
                <a:cs typeface="Arial" pitchFamily="34" charset="-120"/>
              </a:rPr>
              <a:t>مضخات المياه والمضخات الغاطسة</a:t>
            </a:r>
            <a:endParaRPr lang="ar-SA" sz="1450" dirty="0"/>
          </a:p>
        </p:txBody>
      </p:sp>
      <p:sp>
        <p:nvSpPr>
          <p:cNvPr id="18" name="Shape 14"/>
          <p:cNvSpPr/>
          <p:nvPr/>
        </p:nvSpPr>
        <p:spPr>
          <a:xfrm>
            <a:off x="8579815" y="5212080"/>
            <a:ext cx="3063240" cy="0"/>
          </a:xfrm>
          <a:prstGeom prst="line">
            <a:avLst/>
          </a:prstGeom>
          <a:noFill/>
          <a:ln w="9525">
            <a:solidFill>
              <a:srgbClr val="DDE1E6"/>
            </a:solidFill>
            <a:prstDash val="solid"/>
          </a:ln>
        </p:spPr>
      </p:sp>
      <p:sp>
        <p:nvSpPr>
          <p:cNvPr id="19" name="Shape 15"/>
          <p:cNvSpPr/>
          <p:nvPr/>
        </p:nvSpPr>
        <p:spPr>
          <a:xfrm>
            <a:off x="11405311" y="5422392"/>
            <a:ext cx="237744" cy="100584"/>
          </a:xfrm>
          <a:prstGeom prst="parallelogram">
            <a:avLst/>
          </a:prstGeom>
          <a:solidFill>
            <a:srgbClr val="2DB8E0"/>
          </a:solidFill>
          <a:ln w="12700">
            <a:solidFill>
              <a:srgbClr val="2DB8E0"/>
            </a:solidFill>
            <a:prstDash val="solid"/>
          </a:ln>
        </p:spPr>
      </p:sp>
      <p:sp>
        <p:nvSpPr>
          <p:cNvPr id="20" name="Text 16"/>
          <p:cNvSpPr txBox="1"/>
          <p:nvPr/>
        </p:nvSpPr>
        <p:spPr>
          <a:xfrm>
            <a:off x="8579815" y="5340096"/>
            <a:ext cx="2679192" cy="502920"/>
          </a:xfrm>
          <a:prstGeom prst="rect">
            <a:avLst/>
          </a:prstGeom>
          <a:noFill/>
          <a:ln/>
        </p:spPr>
        <p:txBody>
          <a:bodyPr wrap="square" lIns="0" tIns="0" rIns="0" bIns="0" rtlCol="0" anchor="t"/>
          <a:lstStyle/>
          <a:p>
            <a:pPr rtl="1" algn="r" indent="0" marL="0">
              <a:buNone/>
            </a:pPr>
            <a:r>
              <a:rPr lang="ar-SA" altLang="en-US" sz="1450" dirty="0">
                <a:solidFill>
                  <a:srgbClr val="0E1420"/>
                </a:solidFill>
                <a:latin typeface="Arial" pitchFamily="34" charset="0"/>
                <a:ea typeface="Arial" pitchFamily="34" charset="-122"/>
                <a:cs typeface="Arial" pitchFamily="34" charset="-120"/>
              </a:rPr>
              <a:t>أنابيب الصرف الصحي</a:t>
            </a:r>
            <a:endParaRPr lang="ar-SA" sz="1450" dirty="0"/>
          </a:p>
        </p:txBody>
      </p:sp>
      <p:sp>
        <p:nvSpPr>
          <p:cNvPr id="21" name="Shape 17"/>
          <p:cNvSpPr/>
          <p:nvPr/>
        </p:nvSpPr>
        <p:spPr>
          <a:xfrm>
            <a:off x="8579815" y="5925312"/>
            <a:ext cx="3063240" cy="0"/>
          </a:xfrm>
          <a:prstGeom prst="line">
            <a:avLst/>
          </a:prstGeom>
          <a:noFill/>
          <a:ln w="9525">
            <a:solidFill>
              <a:srgbClr val="DDE1E6"/>
            </a:solidFill>
            <a:prstDash val="solid"/>
          </a:ln>
        </p:spPr>
      </p:sp>
      <p:sp>
        <p:nvSpPr>
          <p:cNvPr id="22" name="Shape 18"/>
          <p:cNvSpPr/>
          <p:nvPr/>
        </p:nvSpPr>
        <p:spPr>
          <a:xfrm>
            <a:off x="7647127" y="2377440"/>
            <a:ext cx="566928" cy="566928"/>
          </a:xfrm>
          <a:prstGeom prst="ellipse">
            <a:avLst/>
          </a:prstGeom>
          <a:solidFill>
            <a:srgbClr val="E5177B"/>
          </a:solidFill>
          <a:ln w="12700">
            <a:solidFill>
              <a:srgbClr val="E5177B"/>
            </a:solidFill>
            <a:prstDash val="solid"/>
          </a:ln>
        </p:spPr>
      </p:sp>
      <p:pic>
        <p:nvPicPr>
          <p:cNvPr id="23" name="Image 2" descr="preencoded.png">    </p:cNvPr>
          <p:cNvPicPr>
            <a:picLocks noChangeAspect="1"/>
          </p:cNvPicPr>
          <p:nvPr/>
        </p:nvPicPr>
        <p:blipFill>
          <a:blip r:embed="rId3"/>
          <a:stretch>
            <a:fillRect/>
          </a:stretch>
        </p:blipFill>
        <p:spPr>
          <a:xfrm>
            <a:off x="7765999" y="2496312"/>
            <a:ext cx="329184" cy="329184"/>
          </a:xfrm>
          <a:prstGeom prst="rect">
            <a:avLst/>
          </a:prstGeom>
        </p:spPr>
      </p:pic>
      <p:sp>
        <p:nvSpPr>
          <p:cNvPr id="24" name="Text 19"/>
          <p:cNvSpPr txBox="1"/>
          <p:nvPr/>
        </p:nvSpPr>
        <p:spPr>
          <a:xfrm>
            <a:off x="5150815" y="2377440"/>
            <a:ext cx="2331720" cy="566928"/>
          </a:xfrm>
          <a:prstGeom prst="rect">
            <a:avLst/>
          </a:prstGeom>
          <a:noFill/>
          <a:ln/>
        </p:spPr>
        <p:txBody>
          <a:bodyPr wrap="square" lIns="0" tIns="0" rIns="0" bIns="0" rtlCol="0" anchor="ctr"/>
          <a:lstStyle/>
          <a:p>
            <a:pPr rtl="1" algn="r" indent="0" marL="0">
              <a:buNone/>
            </a:pPr>
            <a:r>
              <a:rPr lang="ar-SA" altLang="en-US" sz="1900" b="1" dirty="0">
                <a:solidFill>
                  <a:srgbClr val="0E1420"/>
                </a:solidFill>
                <a:latin typeface="Arial" pitchFamily="34" charset="0"/>
                <a:ea typeface="Arial" pitchFamily="34" charset="-122"/>
                <a:cs typeface="Arial" pitchFamily="34" charset="-120"/>
              </a:rPr>
              <a:t>مكافحة الحريق</a:t>
            </a:r>
            <a:endParaRPr lang="ar-SA" sz="1900" dirty="0"/>
          </a:p>
        </p:txBody>
      </p:sp>
      <p:sp>
        <p:nvSpPr>
          <p:cNvPr id="25" name="Shape 20"/>
          <p:cNvSpPr/>
          <p:nvPr/>
        </p:nvSpPr>
        <p:spPr>
          <a:xfrm>
            <a:off x="7976311" y="3282696"/>
            <a:ext cx="237744" cy="100584"/>
          </a:xfrm>
          <a:prstGeom prst="parallelogram">
            <a:avLst/>
          </a:prstGeom>
          <a:solidFill>
            <a:srgbClr val="E5177B"/>
          </a:solidFill>
          <a:ln w="12700">
            <a:solidFill>
              <a:srgbClr val="E5177B"/>
            </a:solidFill>
            <a:prstDash val="solid"/>
          </a:ln>
        </p:spPr>
      </p:sp>
      <p:sp>
        <p:nvSpPr>
          <p:cNvPr id="26" name="Text 21"/>
          <p:cNvSpPr txBox="1"/>
          <p:nvPr/>
        </p:nvSpPr>
        <p:spPr>
          <a:xfrm>
            <a:off x="5150815" y="3200400"/>
            <a:ext cx="2679192" cy="502920"/>
          </a:xfrm>
          <a:prstGeom prst="rect">
            <a:avLst/>
          </a:prstGeom>
          <a:noFill/>
          <a:ln/>
        </p:spPr>
        <p:txBody>
          <a:bodyPr wrap="square" lIns="0" tIns="0" rIns="0" bIns="0" rtlCol="0" anchor="t"/>
          <a:lstStyle/>
          <a:p>
            <a:pPr rtl="1" algn="r" indent="0" marL="0">
              <a:buNone/>
            </a:pPr>
            <a:r>
              <a:rPr lang="ar-SA" altLang="en-US" sz="1450" dirty="0">
                <a:solidFill>
                  <a:srgbClr val="0E1420"/>
                </a:solidFill>
                <a:latin typeface="Arial" pitchFamily="34" charset="0"/>
                <a:ea typeface="Arial" pitchFamily="34" charset="-122"/>
                <a:cs typeface="Arial" pitchFamily="34" charset="-120"/>
              </a:rPr>
              <a:t>أنابيب ومضخات مكافحة الحريق</a:t>
            </a:r>
            <a:endParaRPr lang="ar-SA" sz="1450" dirty="0"/>
          </a:p>
        </p:txBody>
      </p:sp>
      <p:sp>
        <p:nvSpPr>
          <p:cNvPr id="27" name="Shape 22"/>
          <p:cNvSpPr/>
          <p:nvPr/>
        </p:nvSpPr>
        <p:spPr>
          <a:xfrm>
            <a:off x="5150815" y="3785616"/>
            <a:ext cx="3063240" cy="0"/>
          </a:xfrm>
          <a:prstGeom prst="line">
            <a:avLst/>
          </a:prstGeom>
          <a:noFill/>
          <a:ln w="9525">
            <a:solidFill>
              <a:srgbClr val="DDE1E6"/>
            </a:solidFill>
            <a:prstDash val="solid"/>
          </a:ln>
        </p:spPr>
      </p:sp>
      <p:sp>
        <p:nvSpPr>
          <p:cNvPr id="28" name="Shape 23"/>
          <p:cNvSpPr/>
          <p:nvPr/>
        </p:nvSpPr>
        <p:spPr>
          <a:xfrm>
            <a:off x="7976311" y="3995928"/>
            <a:ext cx="237744" cy="100584"/>
          </a:xfrm>
          <a:prstGeom prst="parallelogram">
            <a:avLst/>
          </a:prstGeom>
          <a:solidFill>
            <a:srgbClr val="E5177B"/>
          </a:solidFill>
          <a:ln w="12700">
            <a:solidFill>
              <a:srgbClr val="E5177B"/>
            </a:solidFill>
            <a:prstDash val="solid"/>
          </a:ln>
        </p:spPr>
      </p:sp>
      <p:sp>
        <p:nvSpPr>
          <p:cNvPr id="29" name="Text 24"/>
          <p:cNvSpPr txBox="1"/>
          <p:nvPr/>
        </p:nvSpPr>
        <p:spPr>
          <a:xfrm>
            <a:off x="5150815" y="3913632"/>
            <a:ext cx="2679192" cy="502920"/>
          </a:xfrm>
          <a:prstGeom prst="rect">
            <a:avLst/>
          </a:prstGeom>
          <a:noFill/>
          <a:ln/>
        </p:spPr>
        <p:txBody>
          <a:bodyPr wrap="square" lIns="0" tIns="0" rIns="0" bIns="0" rtlCol="0" anchor="t"/>
          <a:lstStyle/>
          <a:p>
            <a:pPr rtl="1" algn="r" indent="0" marL="0">
              <a:buNone/>
            </a:pPr>
            <a:r>
              <a:rPr lang="ar-SA" altLang="en-US" sz="1450" dirty="0">
                <a:solidFill>
                  <a:srgbClr val="0E1420"/>
                </a:solidFill>
                <a:latin typeface="Arial" pitchFamily="34" charset="0"/>
                <a:ea typeface="Arial" pitchFamily="34" charset="-122"/>
                <a:cs typeface="Arial" pitchFamily="34" charset="-120"/>
              </a:rPr>
              <a:t>الصمامات والعزل والتجهيزات</a:t>
            </a:r>
            <a:endParaRPr lang="ar-SA" sz="1450" dirty="0"/>
          </a:p>
        </p:txBody>
      </p:sp>
      <p:sp>
        <p:nvSpPr>
          <p:cNvPr id="30" name="Shape 25"/>
          <p:cNvSpPr/>
          <p:nvPr/>
        </p:nvSpPr>
        <p:spPr>
          <a:xfrm>
            <a:off x="5150815" y="4498848"/>
            <a:ext cx="3063240" cy="0"/>
          </a:xfrm>
          <a:prstGeom prst="line">
            <a:avLst/>
          </a:prstGeom>
          <a:noFill/>
          <a:ln w="9525">
            <a:solidFill>
              <a:srgbClr val="DDE1E6"/>
            </a:solidFill>
            <a:prstDash val="solid"/>
          </a:ln>
        </p:spPr>
      </p:sp>
      <p:sp>
        <p:nvSpPr>
          <p:cNvPr id="31" name="Shape 26"/>
          <p:cNvSpPr/>
          <p:nvPr/>
        </p:nvSpPr>
        <p:spPr>
          <a:xfrm>
            <a:off x="7976311" y="4709160"/>
            <a:ext cx="237744" cy="100584"/>
          </a:xfrm>
          <a:prstGeom prst="parallelogram">
            <a:avLst/>
          </a:prstGeom>
          <a:solidFill>
            <a:srgbClr val="E5177B"/>
          </a:solidFill>
          <a:ln w="12700">
            <a:solidFill>
              <a:srgbClr val="E5177B"/>
            </a:solidFill>
            <a:prstDash val="solid"/>
          </a:ln>
        </p:spPr>
      </p:sp>
      <p:sp>
        <p:nvSpPr>
          <p:cNvPr id="32" name="Text 27"/>
          <p:cNvSpPr txBox="1"/>
          <p:nvPr/>
        </p:nvSpPr>
        <p:spPr>
          <a:xfrm>
            <a:off x="5150815" y="4626864"/>
            <a:ext cx="2679192" cy="502920"/>
          </a:xfrm>
          <a:prstGeom prst="rect">
            <a:avLst/>
          </a:prstGeom>
          <a:noFill/>
          <a:ln/>
        </p:spPr>
        <p:txBody>
          <a:bodyPr wrap="square" lIns="0" tIns="0" rIns="0" bIns="0" rtlCol="0" anchor="t"/>
          <a:lstStyle/>
          <a:p>
            <a:pPr rtl="1" algn="r" indent="0" marL="0">
              <a:buNone/>
            </a:pPr>
            <a:r>
              <a:rPr lang="ar-SA" altLang="en-US" sz="1450" dirty="0">
                <a:solidFill>
                  <a:srgbClr val="0E1420"/>
                </a:solidFill>
                <a:latin typeface="Arial" pitchFamily="34" charset="0"/>
                <a:ea typeface="Arial" pitchFamily="34" charset="-122"/>
                <a:cs typeface="Arial" pitchFamily="34" charset="-120"/>
              </a:rPr>
              <a:t>خزائن خراطيم الحريق والرشاشات</a:t>
            </a:r>
            <a:endParaRPr lang="ar-SA" sz="1450" dirty="0"/>
          </a:p>
        </p:txBody>
      </p:sp>
      <p:sp>
        <p:nvSpPr>
          <p:cNvPr id="33" name="Shape 28"/>
          <p:cNvSpPr/>
          <p:nvPr/>
        </p:nvSpPr>
        <p:spPr>
          <a:xfrm>
            <a:off x="5150815" y="5212080"/>
            <a:ext cx="3063240" cy="0"/>
          </a:xfrm>
          <a:prstGeom prst="line">
            <a:avLst/>
          </a:prstGeom>
          <a:noFill/>
          <a:ln w="9525">
            <a:solidFill>
              <a:srgbClr val="DDE1E6"/>
            </a:solidFill>
            <a:prstDash val="solid"/>
          </a:ln>
        </p:spPr>
      </p:sp>
      <p:sp>
        <p:nvSpPr>
          <p:cNvPr id="34" name="Text 29"/>
          <p:cNvSpPr txBox="1"/>
          <p:nvPr/>
        </p:nvSpPr>
        <p:spPr>
          <a:xfrm>
            <a:off x="5699455" y="6446520"/>
            <a:ext cx="5943600" cy="228600"/>
          </a:xfrm>
          <a:prstGeom prst="rect">
            <a:avLst/>
          </a:prstGeom>
          <a:noFill/>
          <a:ln/>
        </p:spPr>
        <p:txBody>
          <a:bodyPr wrap="square" lIns="0" tIns="0" rIns="0" bIns="0" rtlCol="0" anchor="ctr"/>
          <a:lstStyle/>
          <a:p>
            <a:pPr rtl="1" algn="r" indent="0" marL="0">
              <a:buNone/>
            </a:pPr>
            <a:r>
              <a:rPr lang="ar-SA" altLang="en-US" sz="1000" dirty="0">
                <a:solidFill>
                  <a:srgbClr val="667080"/>
                </a:solidFill>
                <a:latin typeface="Arial" pitchFamily="34" charset="0"/>
                <a:ea typeface="Arial" pitchFamily="34" charset="-122"/>
                <a:cs typeface="Arial" pitchFamily="34" charset="-120"/>
              </a:rPr>
              <a:t>الرؤية الجديدة التكاملية  ·  ملف الشركة</a:t>
            </a:r>
            <a:endParaRPr lang="ar-SA" sz="1000" dirty="0"/>
          </a:p>
        </p:txBody>
      </p:sp>
      <p:sp>
        <p:nvSpPr>
          <p:cNvPr id="35" name="Text 30"/>
          <p:cNvSpPr txBox="1"/>
          <p:nvPr/>
        </p:nvSpPr>
        <p:spPr>
          <a:xfrm>
            <a:off x="5150815" y="6446520"/>
            <a:ext cx="548640" cy="228600"/>
          </a:xfrm>
          <a:prstGeom prst="rect">
            <a:avLst/>
          </a:prstGeom>
          <a:noFill/>
          <a:ln/>
        </p:spPr>
        <p:txBody>
          <a:bodyPr wrap="square" lIns="0" tIns="0" rIns="0" bIns="0" rtlCol="0" anchor="ctr"/>
          <a:lstStyle/>
          <a:p>
            <a:pPr rtl="1" algn="l" indent="0" marL="0">
              <a:buNone/>
            </a:pPr>
            <a:r>
              <a:rPr lang="ar-SA" altLang="en-US" sz="1060" b="1" dirty="0">
                <a:solidFill>
                  <a:srgbClr val="667080"/>
                </a:solidFill>
                <a:latin typeface="Arial" pitchFamily="34" charset="0"/>
                <a:ea typeface="Arial" pitchFamily="34" charset="-122"/>
                <a:cs typeface="Arial" pitchFamily="34" charset="-120"/>
              </a:rPr>
              <a:t>12</a:t>
            </a:r>
            <a:endParaRPr lang="ar-SA" sz="10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420"/>
        </a:solidFill>
      </p:bgPr>
    </p:bg>
    <p:spTree>
      <p:nvGrpSpPr>
        <p:cNvPr id="1" name=""/>
        <p:cNvGrpSpPr/>
        <p:nvPr/>
      </p:nvGrpSpPr>
      <p:grpSpPr>
        <a:xfrm>
          <a:off x="0" y="0"/>
          <a:ext cx="0" cy="0"/>
          <a:chOff x="0" y="0"/>
          <a:chExt cx="0" cy="0"/>
        </a:xfrm>
      </p:grpSpPr>
      <p:pic>
        <p:nvPicPr>
          <p:cNvPr id="2" name="Image 0" descr="/home/user/NVIConsult/build/assets/s_mn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420">
              <a:alpha val="90000"/>
            </a:srgbClr>
          </a:solidFill>
          <a:ln w="12700">
            <a:solidFill>
              <a:srgbClr val="0E1420"/>
            </a:solidFill>
            <a:prstDash val="solid"/>
          </a:ln>
        </p:spPr>
      </p:sp>
      <p:sp>
        <p:nvSpPr>
          <p:cNvPr id="4" name="Shape 1"/>
          <p:cNvSpPr/>
          <p:nvPr/>
        </p:nvSpPr>
        <p:spPr>
          <a:xfrm>
            <a:off x="11332159" y="649224"/>
            <a:ext cx="310896" cy="146304"/>
          </a:xfrm>
          <a:prstGeom prst="parallelogram">
            <a:avLst/>
          </a:prstGeom>
          <a:solidFill>
            <a:srgbClr val="FBBA16"/>
          </a:solidFill>
          <a:ln w="12700">
            <a:solidFill>
              <a:srgbClr val="FBBA16"/>
            </a:solidFill>
            <a:prstDash val="solid"/>
          </a:ln>
        </p:spPr>
      </p:sp>
      <p:sp>
        <p:nvSpPr>
          <p:cNvPr id="5" name="Text 2"/>
          <p:cNvSpPr txBox="1"/>
          <p:nvPr/>
        </p:nvSpPr>
        <p:spPr>
          <a:xfrm>
            <a:off x="7436815" y="594360"/>
            <a:ext cx="3749040" cy="256032"/>
          </a:xfrm>
          <a:prstGeom prst="rect">
            <a:avLst/>
          </a:prstGeom>
          <a:noFill/>
          <a:ln/>
        </p:spPr>
        <p:txBody>
          <a:bodyPr wrap="square" lIns="0" tIns="0" rIns="0" bIns="0" rtlCol="0" anchor="ctr"/>
          <a:lstStyle/>
          <a:p>
            <a:pPr rtl="1" algn="r" indent="0" marL="0">
              <a:buNone/>
            </a:pPr>
            <a:r>
              <a:rPr lang="ar-SA" altLang="en-US" sz="1300" b="1" dirty="0">
                <a:solidFill>
                  <a:srgbClr val="2DB8E0"/>
                </a:solidFill>
                <a:latin typeface="Arial" pitchFamily="34" charset="0"/>
                <a:ea typeface="Arial" pitchFamily="34" charset="-122"/>
                <a:cs typeface="Arial" pitchFamily="34" charset="-120"/>
              </a:rPr>
              <a:t>الخدمة 08 / 08</a:t>
            </a:r>
            <a:endParaRPr lang="ar-SA" sz="1300" dirty="0"/>
          </a:p>
        </p:txBody>
      </p:sp>
      <p:sp>
        <p:nvSpPr>
          <p:cNvPr id="6" name="Text 3"/>
          <p:cNvSpPr txBox="1"/>
          <p:nvPr/>
        </p:nvSpPr>
        <p:spPr>
          <a:xfrm>
            <a:off x="7436815" y="941832"/>
            <a:ext cx="4206240" cy="1188720"/>
          </a:xfrm>
          <a:prstGeom prst="rect">
            <a:avLst/>
          </a:prstGeom>
          <a:noFill/>
          <a:ln/>
        </p:spPr>
        <p:txBody>
          <a:bodyPr wrap="square" lIns="0" tIns="0" rIns="0" bIns="0" rtlCol="0" anchor="t"/>
          <a:lstStyle/>
          <a:p>
            <a:pPr rtl="1" algn="r" indent="0" marL="0">
              <a:buNone/>
            </a:pPr>
            <a:r>
              <a:rPr lang="ar-SA" altLang="en-US" sz="3800" b="1" dirty="0">
                <a:solidFill>
                  <a:srgbClr val="FFFFFF"/>
                </a:solidFill>
                <a:latin typeface="Arial" pitchFamily="34" charset="0"/>
                <a:ea typeface="Arial" pitchFamily="34" charset="-122"/>
                <a:cs typeface="Arial" pitchFamily="34" charset="-120"/>
              </a:rPr>
              <a:t>صيانة المرافق</a:t>
            </a:r>
            <a:endParaRPr lang="ar-SA" sz="3800" dirty="0"/>
          </a:p>
        </p:txBody>
      </p:sp>
      <p:sp>
        <p:nvSpPr>
          <p:cNvPr id="7" name="Text 4"/>
          <p:cNvSpPr txBox="1"/>
          <p:nvPr/>
        </p:nvSpPr>
        <p:spPr>
          <a:xfrm>
            <a:off x="7436815" y="2240280"/>
            <a:ext cx="4206240" cy="137160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C3CBD6"/>
                </a:solidFill>
                <a:latin typeface="Arial" pitchFamily="34" charset="0"/>
                <a:ea typeface="Arial" pitchFamily="34" charset="-122"/>
                <a:cs typeface="Arial" pitchFamily="34" charset="-120"/>
              </a:rPr>
              <a:t>صيانة وقائية مخطط لها منذ البداية، لحماية استثمارات عملائنا على المدى الطويل.</a:t>
            </a:r>
            <a:endParaRPr lang="ar-SA" sz="1500" dirty="0"/>
          </a:p>
        </p:txBody>
      </p:sp>
      <p:sp>
        <p:nvSpPr>
          <p:cNvPr id="8" name="Shape 5"/>
          <p:cNvSpPr/>
          <p:nvPr/>
        </p:nvSpPr>
        <p:spPr>
          <a:xfrm>
            <a:off x="548640" y="594360"/>
            <a:ext cx="6339535" cy="676656"/>
          </a:xfrm>
          <a:prstGeom prst="rect">
            <a:avLst/>
          </a:prstGeom>
          <a:solidFill>
            <a:srgbClr val="182131">
              <a:alpha val="92000"/>
            </a:srgbClr>
          </a:solidFill>
          <a:ln w="9525">
            <a:solidFill>
              <a:srgbClr val="2A3547"/>
            </a:solidFill>
            <a:prstDash val="solid"/>
          </a:ln>
        </p:spPr>
      </p:sp>
      <p:pic>
        <p:nvPicPr>
          <p:cNvPr id="9" name="Image 1" descr="preencoded.png">    </p:cNvPr>
          <p:cNvPicPr>
            <a:picLocks noChangeAspect="1"/>
          </p:cNvPicPr>
          <p:nvPr/>
        </p:nvPicPr>
        <p:blipFill>
          <a:blip r:embed="rId2"/>
          <a:stretch>
            <a:fillRect/>
          </a:stretch>
        </p:blipFill>
        <p:spPr>
          <a:xfrm>
            <a:off x="6293815" y="749808"/>
            <a:ext cx="365760" cy="365760"/>
          </a:xfrm>
          <a:prstGeom prst="rect">
            <a:avLst/>
          </a:prstGeom>
        </p:spPr>
      </p:pic>
      <p:sp>
        <p:nvSpPr>
          <p:cNvPr id="10" name="Text 6"/>
          <p:cNvSpPr txBox="1"/>
          <p:nvPr/>
        </p:nvSpPr>
        <p:spPr>
          <a:xfrm>
            <a:off x="1188720" y="594360"/>
            <a:ext cx="4876495" cy="676656"/>
          </a:xfrm>
          <a:prstGeom prst="rect">
            <a:avLst/>
          </a:prstGeom>
          <a:noFill/>
          <a:ln/>
        </p:spPr>
        <p:txBody>
          <a:bodyPr wrap="square" lIns="0" tIns="0" rIns="0" bIns="0" rtlCol="0" anchor="ctr"/>
          <a:lstStyle/>
          <a:p>
            <a:pPr rtl="1" algn="r" indent="0" marL="0">
              <a:buNone/>
            </a:pPr>
            <a:r>
              <a:rPr lang="ar-SA" altLang="en-US" sz="1600" b="1" dirty="0">
                <a:solidFill>
                  <a:srgbClr val="FFFFFF"/>
                </a:solidFill>
                <a:latin typeface="Arial" pitchFamily="34" charset="0"/>
                <a:ea typeface="Arial" pitchFamily="34" charset="-122"/>
                <a:cs typeface="Arial" pitchFamily="34" charset="-120"/>
              </a:rPr>
              <a:t>المباني والواجهات الخارجية</a:t>
            </a:r>
            <a:endParaRPr lang="ar-SA" sz="1600" dirty="0"/>
          </a:p>
        </p:txBody>
      </p:sp>
      <p:sp>
        <p:nvSpPr>
          <p:cNvPr id="11" name="Text 7"/>
          <p:cNvSpPr txBox="1"/>
          <p:nvPr/>
        </p:nvSpPr>
        <p:spPr>
          <a:xfrm>
            <a:off x="777240" y="594360"/>
            <a:ext cx="457200" cy="676656"/>
          </a:xfrm>
          <a:prstGeom prst="rect">
            <a:avLst/>
          </a:prstGeom>
          <a:noFill/>
          <a:ln/>
        </p:spPr>
        <p:txBody>
          <a:bodyPr wrap="square" lIns="0" tIns="0" rIns="0" bIns="0" rtlCol="0" anchor="ctr"/>
          <a:lstStyle/>
          <a:p>
            <a:pPr rtl="1" algn="l" indent="0" marL="0">
              <a:buNone/>
            </a:pPr>
            <a:r>
              <a:rPr lang="ar-SA" altLang="en-US" sz="1300" b="1" dirty="0">
                <a:solidFill>
                  <a:srgbClr val="6B7688"/>
                </a:solidFill>
                <a:latin typeface="Arial" pitchFamily="34" charset="0"/>
                <a:ea typeface="Arial" pitchFamily="34" charset="-122"/>
                <a:cs typeface="Arial" pitchFamily="34" charset="-120"/>
              </a:rPr>
              <a:t>01</a:t>
            </a:r>
            <a:endParaRPr lang="ar-SA" sz="1300" dirty="0"/>
          </a:p>
        </p:txBody>
      </p:sp>
      <p:sp>
        <p:nvSpPr>
          <p:cNvPr id="12" name="Shape 8"/>
          <p:cNvSpPr/>
          <p:nvPr/>
        </p:nvSpPr>
        <p:spPr>
          <a:xfrm>
            <a:off x="548640" y="1399032"/>
            <a:ext cx="6339535" cy="676656"/>
          </a:xfrm>
          <a:prstGeom prst="rect">
            <a:avLst/>
          </a:prstGeom>
          <a:solidFill>
            <a:srgbClr val="182131">
              <a:alpha val="92000"/>
            </a:srgbClr>
          </a:solidFill>
          <a:ln w="9525">
            <a:solidFill>
              <a:srgbClr val="2A3547"/>
            </a:solidFill>
            <a:prstDash val="solid"/>
          </a:ln>
        </p:spPr>
      </p:sp>
      <p:pic>
        <p:nvPicPr>
          <p:cNvPr id="13" name="Image 2" descr="preencoded.png">    </p:cNvPr>
          <p:cNvPicPr>
            <a:picLocks noChangeAspect="1"/>
          </p:cNvPicPr>
          <p:nvPr/>
        </p:nvPicPr>
        <p:blipFill>
          <a:blip r:embed="rId3"/>
          <a:stretch>
            <a:fillRect/>
          </a:stretch>
        </p:blipFill>
        <p:spPr>
          <a:xfrm>
            <a:off x="6293815" y="1554480"/>
            <a:ext cx="365760" cy="365760"/>
          </a:xfrm>
          <a:prstGeom prst="rect">
            <a:avLst/>
          </a:prstGeom>
        </p:spPr>
      </p:pic>
      <p:sp>
        <p:nvSpPr>
          <p:cNvPr id="14" name="Text 9"/>
          <p:cNvSpPr txBox="1"/>
          <p:nvPr/>
        </p:nvSpPr>
        <p:spPr>
          <a:xfrm>
            <a:off x="1188720" y="1399032"/>
            <a:ext cx="4876495" cy="676656"/>
          </a:xfrm>
          <a:prstGeom prst="rect">
            <a:avLst/>
          </a:prstGeom>
          <a:noFill/>
          <a:ln/>
        </p:spPr>
        <p:txBody>
          <a:bodyPr wrap="square" lIns="0" tIns="0" rIns="0" bIns="0" rtlCol="0" anchor="ctr"/>
          <a:lstStyle/>
          <a:p>
            <a:pPr rtl="1" algn="r" indent="0" marL="0">
              <a:buNone/>
            </a:pPr>
            <a:r>
              <a:rPr lang="ar-SA" altLang="en-US" sz="1600" b="1" dirty="0">
                <a:solidFill>
                  <a:srgbClr val="FFFFFF"/>
                </a:solidFill>
                <a:latin typeface="Arial" pitchFamily="34" charset="0"/>
                <a:ea typeface="Arial" pitchFamily="34" charset="-122"/>
                <a:cs typeface="Arial" pitchFamily="34" charset="-120"/>
              </a:rPr>
              <a:t>الديكور الداخلي</a:t>
            </a:r>
            <a:endParaRPr lang="ar-SA" sz="1600" dirty="0"/>
          </a:p>
        </p:txBody>
      </p:sp>
      <p:sp>
        <p:nvSpPr>
          <p:cNvPr id="15" name="Text 10"/>
          <p:cNvSpPr txBox="1"/>
          <p:nvPr/>
        </p:nvSpPr>
        <p:spPr>
          <a:xfrm>
            <a:off x="777240" y="1399032"/>
            <a:ext cx="457200" cy="676656"/>
          </a:xfrm>
          <a:prstGeom prst="rect">
            <a:avLst/>
          </a:prstGeom>
          <a:noFill/>
          <a:ln/>
        </p:spPr>
        <p:txBody>
          <a:bodyPr wrap="square" lIns="0" tIns="0" rIns="0" bIns="0" rtlCol="0" anchor="ctr"/>
          <a:lstStyle/>
          <a:p>
            <a:pPr rtl="1" algn="l" indent="0" marL="0">
              <a:buNone/>
            </a:pPr>
            <a:r>
              <a:rPr lang="ar-SA" altLang="en-US" sz="1300" b="1" dirty="0">
                <a:solidFill>
                  <a:srgbClr val="6B7688"/>
                </a:solidFill>
                <a:latin typeface="Arial" pitchFamily="34" charset="0"/>
                <a:ea typeface="Arial" pitchFamily="34" charset="-122"/>
                <a:cs typeface="Arial" pitchFamily="34" charset="-120"/>
              </a:rPr>
              <a:t>02</a:t>
            </a:r>
            <a:endParaRPr lang="ar-SA" sz="1300" dirty="0"/>
          </a:p>
        </p:txBody>
      </p:sp>
      <p:sp>
        <p:nvSpPr>
          <p:cNvPr id="16" name="Shape 11"/>
          <p:cNvSpPr/>
          <p:nvPr/>
        </p:nvSpPr>
        <p:spPr>
          <a:xfrm>
            <a:off x="548640" y="2203704"/>
            <a:ext cx="6339535" cy="676656"/>
          </a:xfrm>
          <a:prstGeom prst="rect">
            <a:avLst/>
          </a:prstGeom>
          <a:solidFill>
            <a:srgbClr val="182131">
              <a:alpha val="92000"/>
            </a:srgbClr>
          </a:solidFill>
          <a:ln w="9525">
            <a:solidFill>
              <a:srgbClr val="2A3547"/>
            </a:solidFill>
            <a:prstDash val="solid"/>
          </a:ln>
        </p:spPr>
      </p:sp>
      <p:pic>
        <p:nvPicPr>
          <p:cNvPr id="17" name="Image 3" descr="preencoded.png">    </p:cNvPr>
          <p:cNvPicPr>
            <a:picLocks noChangeAspect="1"/>
          </p:cNvPicPr>
          <p:nvPr/>
        </p:nvPicPr>
        <p:blipFill>
          <a:blip r:embed="rId4"/>
          <a:stretch>
            <a:fillRect/>
          </a:stretch>
        </p:blipFill>
        <p:spPr>
          <a:xfrm>
            <a:off x="6293815" y="2359152"/>
            <a:ext cx="365760" cy="365760"/>
          </a:xfrm>
          <a:prstGeom prst="rect">
            <a:avLst/>
          </a:prstGeom>
        </p:spPr>
      </p:pic>
      <p:sp>
        <p:nvSpPr>
          <p:cNvPr id="18" name="Text 12"/>
          <p:cNvSpPr txBox="1"/>
          <p:nvPr/>
        </p:nvSpPr>
        <p:spPr>
          <a:xfrm>
            <a:off x="1188720" y="2203704"/>
            <a:ext cx="4876495" cy="676656"/>
          </a:xfrm>
          <a:prstGeom prst="rect">
            <a:avLst/>
          </a:prstGeom>
          <a:noFill/>
          <a:ln/>
        </p:spPr>
        <p:txBody>
          <a:bodyPr wrap="square" lIns="0" tIns="0" rIns="0" bIns="0" rtlCol="0" anchor="ctr"/>
          <a:lstStyle/>
          <a:p>
            <a:pPr rtl="1" algn="r" indent="0" marL="0">
              <a:buNone/>
            </a:pPr>
            <a:r>
              <a:rPr lang="ar-SA" altLang="en-US" sz="1600" b="1" dirty="0">
                <a:solidFill>
                  <a:srgbClr val="FFFFFF"/>
                </a:solidFill>
                <a:latin typeface="Arial" pitchFamily="34" charset="0"/>
                <a:ea typeface="Arial" pitchFamily="34" charset="-122"/>
                <a:cs typeface="Arial" pitchFamily="34" charset="-120"/>
              </a:rPr>
              <a:t>الأعمال الكهربائية</a:t>
            </a:r>
            <a:endParaRPr lang="ar-SA" sz="1600" dirty="0"/>
          </a:p>
        </p:txBody>
      </p:sp>
      <p:sp>
        <p:nvSpPr>
          <p:cNvPr id="19" name="Text 13"/>
          <p:cNvSpPr txBox="1"/>
          <p:nvPr/>
        </p:nvSpPr>
        <p:spPr>
          <a:xfrm>
            <a:off x="777240" y="2203704"/>
            <a:ext cx="457200" cy="676656"/>
          </a:xfrm>
          <a:prstGeom prst="rect">
            <a:avLst/>
          </a:prstGeom>
          <a:noFill/>
          <a:ln/>
        </p:spPr>
        <p:txBody>
          <a:bodyPr wrap="square" lIns="0" tIns="0" rIns="0" bIns="0" rtlCol="0" anchor="ctr"/>
          <a:lstStyle/>
          <a:p>
            <a:pPr rtl="1" algn="l" indent="0" marL="0">
              <a:buNone/>
            </a:pPr>
            <a:r>
              <a:rPr lang="ar-SA" altLang="en-US" sz="1300" b="1" dirty="0">
                <a:solidFill>
                  <a:srgbClr val="6B7688"/>
                </a:solidFill>
                <a:latin typeface="Arial" pitchFamily="34" charset="0"/>
                <a:ea typeface="Arial" pitchFamily="34" charset="-122"/>
                <a:cs typeface="Arial" pitchFamily="34" charset="-120"/>
              </a:rPr>
              <a:t>03</a:t>
            </a:r>
            <a:endParaRPr lang="ar-SA" sz="1300" dirty="0"/>
          </a:p>
        </p:txBody>
      </p:sp>
      <p:sp>
        <p:nvSpPr>
          <p:cNvPr id="20" name="Shape 14"/>
          <p:cNvSpPr/>
          <p:nvPr/>
        </p:nvSpPr>
        <p:spPr>
          <a:xfrm>
            <a:off x="548640" y="3008376"/>
            <a:ext cx="6339535" cy="676656"/>
          </a:xfrm>
          <a:prstGeom prst="rect">
            <a:avLst/>
          </a:prstGeom>
          <a:solidFill>
            <a:srgbClr val="182131">
              <a:alpha val="92000"/>
            </a:srgbClr>
          </a:solidFill>
          <a:ln w="9525">
            <a:solidFill>
              <a:srgbClr val="2A3547"/>
            </a:solidFill>
            <a:prstDash val="solid"/>
          </a:ln>
        </p:spPr>
      </p:sp>
      <p:pic>
        <p:nvPicPr>
          <p:cNvPr id="21" name="Image 4" descr="preencoded.png">    </p:cNvPr>
          <p:cNvPicPr>
            <a:picLocks noChangeAspect="1"/>
          </p:cNvPicPr>
          <p:nvPr/>
        </p:nvPicPr>
        <p:blipFill>
          <a:blip r:embed="rId5"/>
          <a:stretch>
            <a:fillRect/>
          </a:stretch>
        </p:blipFill>
        <p:spPr>
          <a:xfrm>
            <a:off x="6293815" y="3163824"/>
            <a:ext cx="365760" cy="365760"/>
          </a:xfrm>
          <a:prstGeom prst="rect">
            <a:avLst/>
          </a:prstGeom>
        </p:spPr>
      </p:pic>
      <p:sp>
        <p:nvSpPr>
          <p:cNvPr id="22" name="Text 15"/>
          <p:cNvSpPr txBox="1"/>
          <p:nvPr/>
        </p:nvSpPr>
        <p:spPr>
          <a:xfrm>
            <a:off x="1188720" y="3008376"/>
            <a:ext cx="4876495" cy="676656"/>
          </a:xfrm>
          <a:prstGeom prst="rect">
            <a:avLst/>
          </a:prstGeom>
          <a:noFill/>
          <a:ln/>
        </p:spPr>
        <p:txBody>
          <a:bodyPr wrap="square" lIns="0" tIns="0" rIns="0" bIns="0" rtlCol="0" anchor="ctr"/>
          <a:lstStyle/>
          <a:p>
            <a:pPr rtl="1" algn="r" indent="0" marL="0">
              <a:buNone/>
            </a:pPr>
            <a:r>
              <a:rPr lang="ar-SA" altLang="en-US" sz="1600" b="1" dirty="0">
                <a:solidFill>
                  <a:srgbClr val="FFFFFF"/>
                </a:solidFill>
                <a:latin typeface="Arial" pitchFamily="34" charset="0"/>
                <a:ea typeface="Arial" pitchFamily="34" charset="-122"/>
                <a:cs typeface="Arial" pitchFamily="34" charset="-120"/>
              </a:rPr>
              <a:t>أنظمة التيار المنخفض</a:t>
            </a:r>
            <a:endParaRPr lang="ar-SA" sz="1600" dirty="0"/>
          </a:p>
        </p:txBody>
      </p:sp>
      <p:sp>
        <p:nvSpPr>
          <p:cNvPr id="23" name="Text 16"/>
          <p:cNvSpPr txBox="1"/>
          <p:nvPr/>
        </p:nvSpPr>
        <p:spPr>
          <a:xfrm>
            <a:off x="777240" y="3008376"/>
            <a:ext cx="457200" cy="676656"/>
          </a:xfrm>
          <a:prstGeom prst="rect">
            <a:avLst/>
          </a:prstGeom>
          <a:noFill/>
          <a:ln/>
        </p:spPr>
        <p:txBody>
          <a:bodyPr wrap="square" lIns="0" tIns="0" rIns="0" bIns="0" rtlCol="0" anchor="ctr"/>
          <a:lstStyle/>
          <a:p>
            <a:pPr rtl="1" algn="l" indent="0" marL="0">
              <a:buNone/>
            </a:pPr>
            <a:r>
              <a:rPr lang="ar-SA" altLang="en-US" sz="1300" b="1" dirty="0">
                <a:solidFill>
                  <a:srgbClr val="6B7688"/>
                </a:solidFill>
                <a:latin typeface="Arial" pitchFamily="34" charset="0"/>
                <a:ea typeface="Arial" pitchFamily="34" charset="-122"/>
                <a:cs typeface="Arial" pitchFamily="34" charset="-120"/>
              </a:rPr>
              <a:t>04</a:t>
            </a:r>
            <a:endParaRPr lang="ar-SA" sz="1300" dirty="0"/>
          </a:p>
        </p:txBody>
      </p:sp>
      <p:sp>
        <p:nvSpPr>
          <p:cNvPr id="24" name="Shape 17"/>
          <p:cNvSpPr/>
          <p:nvPr/>
        </p:nvSpPr>
        <p:spPr>
          <a:xfrm>
            <a:off x="548640" y="3813048"/>
            <a:ext cx="6339535" cy="676656"/>
          </a:xfrm>
          <a:prstGeom prst="rect">
            <a:avLst/>
          </a:prstGeom>
          <a:solidFill>
            <a:srgbClr val="182131">
              <a:alpha val="92000"/>
            </a:srgbClr>
          </a:solidFill>
          <a:ln w="9525">
            <a:solidFill>
              <a:srgbClr val="2A3547"/>
            </a:solidFill>
            <a:prstDash val="solid"/>
          </a:ln>
        </p:spPr>
      </p:sp>
      <p:pic>
        <p:nvPicPr>
          <p:cNvPr id="25" name="Image 5" descr="preencoded.png">    </p:cNvPr>
          <p:cNvPicPr>
            <a:picLocks noChangeAspect="1"/>
          </p:cNvPicPr>
          <p:nvPr/>
        </p:nvPicPr>
        <p:blipFill>
          <a:blip r:embed="rId6"/>
          <a:stretch>
            <a:fillRect/>
          </a:stretch>
        </p:blipFill>
        <p:spPr>
          <a:xfrm>
            <a:off x="6293815" y="3968496"/>
            <a:ext cx="365760" cy="365760"/>
          </a:xfrm>
          <a:prstGeom prst="rect">
            <a:avLst/>
          </a:prstGeom>
        </p:spPr>
      </p:pic>
      <p:sp>
        <p:nvSpPr>
          <p:cNvPr id="26" name="Text 18"/>
          <p:cNvSpPr txBox="1"/>
          <p:nvPr/>
        </p:nvSpPr>
        <p:spPr>
          <a:xfrm>
            <a:off x="1188720" y="3813048"/>
            <a:ext cx="4876495" cy="676656"/>
          </a:xfrm>
          <a:prstGeom prst="rect">
            <a:avLst/>
          </a:prstGeom>
          <a:noFill/>
          <a:ln/>
        </p:spPr>
        <p:txBody>
          <a:bodyPr wrap="square" lIns="0" tIns="0" rIns="0" bIns="0" rtlCol="0" anchor="ctr"/>
          <a:lstStyle/>
          <a:p>
            <a:pPr rtl="1" algn="r" indent="0" marL="0">
              <a:buNone/>
            </a:pPr>
            <a:r>
              <a:rPr lang="ar-SA" altLang="en-US" sz="1600" b="1" dirty="0">
                <a:solidFill>
                  <a:srgbClr val="FFFFFF"/>
                </a:solidFill>
                <a:latin typeface="Arial" pitchFamily="34" charset="0"/>
                <a:ea typeface="Arial" pitchFamily="34" charset="-122"/>
                <a:cs typeface="Arial" pitchFamily="34" charset="-120"/>
              </a:rPr>
              <a:t>الشبكات وكاميرات المراقبة</a:t>
            </a:r>
            <a:endParaRPr lang="ar-SA" sz="1600" dirty="0"/>
          </a:p>
        </p:txBody>
      </p:sp>
      <p:sp>
        <p:nvSpPr>
          <p:cNvPr id="27" name="Text 19"/>
          <p:cNvSpPr txBox="1"/>
          <p:nvPr/>
        </p:nvSpPr>
        <p:spPr>
          <a:xfrm>
            <a:off x="777240" y="3813048"/>
            <a:ext cx="457200" cy="676656"/>
          </a:xfrm>
          <a:prstGeom prst="rect">
            <a:avLst/>
          </a:prstGeom>
          <a:noFill/>
          <a:ln/>
        </p:spPr>
        <p:txBody>
          <a:bodyPr wrap="square" lIns="0" tIns="0" rIns="0" bIns="0" rtlCol="0" anchor="ctr"/>
          <a:lstStyle/>
          <a:p>
            <a:pPr rtl="1" algn="l" indent="0" marL="0">
              <a:buNone/>
            </a:pPr>
            <a:r>
              <a:rPr lang="ar-SA" altLang="en-US" sz="1300" b="1" dirty="0">
                <a:solidFill>
                  <a:srgbClr val="6B7688"/>
                </a:solidFill>
                <a:latin typeface="Arial" pitchFamily="34" charset="0"/>
                <a:ea typeface="Arial" pitchFamily="34" charset="-122"/>
                <a:cs typeface="Arial" pitchFamily="34" charset="-120"/>
              </a:rPr>
              <a:t>05</a:t>
            </a:r>
            <a:endParaRPr lang="ar-SA" sz="1300" dirty="0"/>
          </a:p>
        </p:txBody>
      </p:sp>
      <p:sp>
        <p:nvSpPr>
          <p:cNvPr id="28" name="Shape 20"/>
          <p:cNvSpPr/>
          <p:nvPr/>
        </p:nvSpPr>
        <p:spPr>
          <a:xfrm>
            <a:off x="548640" y="4617720"/>
            <a:ext cx="6339535" cy="676656"/>
          </a:xfrm>
          <a:prstGeom prst="rect">
            <a:avLst/>
          </a:prstGeom>
          <a:solidFill>
            <a:srgbClr val="182131">
              <a:alpha val="92000"/>
            </a:srgbClr>
          </a:solidFill>
          <a:ln w="9525">
            <a:solidFill>
              <a:srgbClr val="2A3547"/>
            </a:solidFill>
            <a:prstDash val="solid"/>
          </a:ln>
        </p:spPr>
      </p:sp>
      <p:pic>
        <p:nvPicPr>
          <p:cNvPr id="29" name="Image 6" descr="preencoded.png">    </p:cNvPr>
          <p:cNvPicPr>
            <a:picLocks noChangeAspect="1"/>
          </p:cNvPicPr>
          <p:nvPr/>
        </p:nvPicPr>
        <p:blipFill>
          <a:blip r:embed="rId7"/>
          <a:stretch>
            <a:fillRect/>
          </a:stretch>
        </p:blipFill>
        <p:spPr>
          <a:xfrm>
            <a:off x="6293815" y="4773168"/>
            <a:ext cx="365760" cy="365760"/>
          </a:xfrm>
          <a:prstGeom prst="rect">
            <a:avLst/>
          </a:prstGeom>
        </p:spPr>
      </p:pic>
      <p:sp>
        <p:nvSpPr>
          <p:cNvPr id="30" name="Text 21"/>
          <p:cNvSpPr txBox="1"/>
          <p:nvPr/>
        </p:nvSpPr>
        <p:spPr>
          <a:xfrm>
            <a:off x="1188720" y="4617720"/>
            <a:ext cx="4876495" cy="676656"/>
          </a:xfrm>
          <a:prstGeom prst="rect">
            <a:avLst/>
          </a:prstGeom>
          <a:noFill/>
          <a:ln/>
        </p:spPr>
        <p:txBody>
          <a:bodyPr wrap="square" lIns="0" tIns="0" rIns="0" bIns="0" rtlCol="0" anchor="ctr"/>
          <a:lstStyle/>
          <a:p>
            <a:pPr rtl="1" algn="r" indent="0" marL="0">
              <a:buNone/>
            </a:pPr>
            <a:r>
              <a:rPr lang="ar-SA" altLang="en-US" sz="1600" b="1" dirty="0">
                <a:solidFill>
                  <a:srgbClr val="FFFFFF"/>
                </a:solidFill>
                <a:latin typeface="Arial" pitchFamily="34" charset="0"/>
                <a:ea typeface="Arial" pitchFamily="34" charset="-122"/>
                <a:cs typeface="Arial" pitchFamily="34" charset="-120"/>
              </a:rPr>
              <a:t>الأعمال الميكانيكية والتكييف</a:t>
            </a:r>
            <a:endParaRPr lang="ar-SA" sz="1600" dirty="0"/>
          </a:p>
        </p:txBody>
      </p:sp>
      <p:sp>
        <p:nvSpPr>
          <p:cNvPr id="31" name="Text 22"/>
          <p:cNvSpPr txBox="1"/>
          <p:nvPr/>
        </p:nvSpPr>
        <p:spPr>
          <a:xfrm>
            <a:off x="777240" y="4617720"/>
            <a:ext cx="457200" cy="676656"/>
          </a:xfrm>
          <a:prstGeom prst="rect">
            <a:avLst/>
          </a:prstGeom>
          <a:noFill/>
          <a:ln/>
        </p:spPr>
        <p:txBody>
          <a:bodyPr wrap="square" lIns="0" tIns="0" rIns="0" bIns="0" rtlCol="0" anchor="ctr"/>
          <a:lstStyle/>
          <a:p>
            <a:pPr rtl="1" algn="l" indent="0" marL="0">
              <a:buNone/>
            </a:pPr>
            <a:r>
              <a:rPr lang="ar-SA" altLang="en-US" sz="1300" b="1" dirty="0">
                <a:solidFill>
                  <a:srgbClr val="6B7688"/>
                </a:solidFill>
                <a:latin typeface="Arial" pitchFamily="34" charset="0"/>
                <a:ea typeface="Arial" pitchFamily="34" charset="-122"/>
                <a:cs typeface="Arial" pitchFamily="34" charset="-120"/>
              </a:rPr>
              <a:t>06</a:t>
            </a:r>
            <a:endParaRPr lang="ar-SA" sz="1300" dirty="0"/>
          </a:p>
        </p:txBody>
      </p:sp>
      <p:sp>
        <p:nvSpPr>
          <p:cNvPr id="32" name="Shape 23"/>
          <p:cNvSpPr/>
          <p:nvPr/>
        </p:nvSpPr>
        <p:spPr>
          <a:xfrm>
            <a:off x="548640" y="5422392"/>
            <a:ext cx="6339535" cy="676656"/>
          </a:xfrm>
          <a:prstGeom prst="rect">
            <a:avLst/>
          </a:prstGeom>
          <a:solidFill>
            <a:srgbClr val="182131">
              <a:alpha val="92000"/>
            </a:srgbClr>
          </a:solidFill>
          <a:ln w="9525">
            <a:solidFill>
              <a:srgbClr val="2A3547"/>
            </a:solidFill>
            <a:prstDash val="solid"/>
          </a:ln>
        </p:spPr>
      </p:sp>
      <p:pic>
        <p:nvPicPr>
          <p:cNvPr id="33" name="Image 7" descr="preencoded.png">    </p:cNvPr>
          <p:cNvPicPr>
            <a:picLocks noChangeAspect="1"/>
          </p:cNvPicPr>
          <p:nvPr/>
        </p:nvPicPr>
        <p:blipFill>
          <a:blip r:embed="rId8"/>
          <a:stretch>
            <a:fillRect/>
          </a:stretch>
        </p:blipFill>
        <p:spPr>
          <a:xfrm>
            <a:off x="6293815" y="5577840"/>
            <a:ext cx="365760" cy="365760"/>
          </a:xfrm>
          <a:prstGeom prst="rect">
            <a:avLst/>
          </a:prstGeom>
        </p:spPr>
      </p:pic>
      <p:sp>
        <p:nvSpPr>
          <p:cNvPr id="34" name="Text 24"/>
          <p:cNvSpPr txBox="1"/>
          <p:nvPr/>
        </p:nvSpPr>
        <p:spPr>
          <a:xfrm>
            <a:off x="1188720" y="5422392"/>
            <a:ext cx="4876495" cy="676656"/>
          </a:xfrm>
          <a:prstGeom prst="rect">
            <a:avLst/>
          </a:prstGeom>
          <a:noFill/>
          <a:ln/>
        </p:spPr>
        <p:txBody>
          <a:bodyPr wrap="square" lIns="0" tIns="0" rIns="0" bIns="0" rtlCol="0" anchor="ctr"/>
          <a:lstStyle/>
          <a:p>
            <a:pPr rtl="1" algn="r" indent="0" marL="0">
              <a:buNone/>
            </a:pPr>
            <a:r>
              <a:rPr lang="ar-SA" altLang="en-US" sz="1600" b="1" dirty="0">
                <a:solidFill>
                  <a:srgbClr val="FFFFFF"/>
                </a:solidFill>
                <a:latin typeface="Arial" pitchFamily="34" charset="0"/>
                <a:ea typeface="Arial" pitchFamily="34" charset="-122"/>
                <a:cs typeface="Arial" pitchFamily="34" charset="-120"/>
              </a:rPr>
              <a:t>أعمال السباكة</a:t>
            </a:r>
            <a:endParaRPr lang="ar-SA" sz="1600" dirty="0"/>
          </a:p>
        </p:txBody>
      </p:sp>
      <p:sp>
        <p:nvSpPr>
          <p:cNvPr id="35" name="Text 25"/>
          <p:cNvSpPr txBox="1"/>
          <p:nvPr/>
        </p:nvSpPr>
        <p:spPr>
          <a:xfrm>
            <a:off x="777240" y="5422392"/>
            <a:ext cx="457200" cy="676656"/>
          </a:xfrm>
          <a:prstGeom prst="rect">
            <a:avLst/>
          </a:prstGeom>
          <a:noFill/>
          <a:ln/>
        </p:spPr>
        <p:txBody>
          <a:bodyPr wrap="square" lIns="0" tIns="0" rIns="0" bIns="0" rtlCol="0" anchor="ctr"/>
          <a:lstStyle/>
          <a:p>
            <a:pPr rtl="1" algn="l" indent="0" marL="0">
              <a:buNone/>
            </a:pPr>
            <a:r>
              <a:rPr lang="ar-SA" altLang="en-US" sz="1300" b="1" dirty="0">
                <a:solidFill>
                  <a:srgbClr val="6B7688"/>
                </a:solidFill>
                <a:latin typeface="Arial" pitchFamily="34" charset="0"/>
                <a:ea typeface="Arial" pitchFamily="34" charset="-122"/>
                <a:cs typeface="Arial" pitchFamily="34" charset="-120"/>
              </a:rPr>
              <a:t>07</a:t>
            </a:r>
            <a:endParaRPr lang="ar-SA" sz="1300" dirty="0"/>
          </a:p>
        </p:txBody>
      </p:sp>
      <p:sp>
        <p:nvSpPr>
          <p:cNvPr id="36" name="Text 26"/>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1000" dirty="0">
                <a:solidFill>
                  <a:srgbClr val="8D97A5"/>
                </a:solidFill>
                <a:latin typeface="Arial" pitchFamily="34" charset="0"/>
                <a:ea typeface="Arial" pitchFamily="34" charset="-122"/>
                <a:cs typeface="Arial" pitchFamily="34" charset="-120"/>
              </a:rPr>
              <a:t>الرؤية الجديدة التكاملية  ·  ملف الشركة</a:t>
            </a:r>
            <a:endParaRPr lang="ar-SA" sz="1000" dirty="0"/>
          </a:p>
        </p:txBody>
      </p:sp>
      <p:sp>
        <p:nvSpPr>
          <p:cNvPr id="37" name="Text 27"/>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1060" b="1" dirty="0">
                <a:solidFill>
                  <a:srgbClr val="8D97A5"/>
                </a:solidFill>
                <a:latin typeface="Arial" pitchFamily="34" charset="0"/>
                <a:ea typeface="Arial" pitchFamily="34" charset="-122"/>
                <a:cs typeface="Arial" pitchFamily="34" charset="-120"/>
              </a:rPr>
              <a:t>13</a:t>
            </a:r>
            <a:endParaRPr lang="ar-SA" sz="10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home/user/NVIConsult/build/assets/clients.jpg">    </p:cNvPr>
          <p:cNvPicPr>
            <a:picLocks noChangeAspect="1"/>
          </p:cNvPicPr>
          <p:nvPr/>
        </p:nvPicPr>
        <p:blipFill>
          <a:blip r:embed="rId1"/>
          <a:stretch>
            <a:fillRect/>
          </a:stretch>
        </p:blipFill>
        <p:spPr>
          <a:xfrm>
            <a:off x="0" y="0"/>
            <a:ext cx="12191695" cy="2926080"/>
          </a:xfrm>
          <a:prstGeom prst="rect">
            <a:avLst/>
          </a:prstGeom>
        </p:spPr>
      </p:pic>
      <p:sp>
        <p:nvSpPr>
          <p:cNvPr id="3" name="Shape 0"/>
          <p:cNvSpPr/>
          <p:nvPr/>
        </p:nvSpPr>
        <p:spPr>
          <a:xfrm>
            <a:off x="0" y="0"/>
            <a:ext cx="12191695" cy="2926080"/>
          </a:xfrm>
          <a:prstGeom prst="rect">
            <a:avLst/>
          </a:prstGeom>
          <a:solidFill>
            <a:srgbClr val="0E1420">
              <a:alpha val="78000"/>
            </a:srgbClr>
          </a:solidFill>
          <a:ln w="12700">
            <a:solidFill>
              <a:srgbClr val="0E1420"/>
            </a:solidFill>
            <a:prstDash val="solid"/>
          </a:ln>
        </p:spPr>
      </p:sp>
      <p:pic>
        <p:nvPicPr>
          <p:cNvPr id="4" name="Image 1" descr="/home/user/NVIConsult/build/assets/logo_mark.png">    </p:cNvPr>
          <p:cNvPicPr>
            <a:picLocks noChangeAspect="1"/>
          </p:cNvPicPr>
          <p:nvPr/>
        </p:nvPicPr>
        <p:blipFill>
          <a:blip r:embed="rId2"/>
          <a:stretch>
            <a:fillRect/>
          </a:stretch>
        </p:blipFill>
        <p:spPr>
          <a:xfrm>
            <a:off x="11315813" y="621792"/>
            <a:ext cx="327242" cy="173736"/>
          </a:xfrm>
          <a:prstGeom prst="rect">
            <a:avLst/>
          </a:prstGeom>
        </p:spPr>
      </p:pic>
      <p:sp>
        <p:nvSpPr>
          <p:cNvPr id="5" name="Text 1"/>
          <p:cNvSpPr txBox="1"/>
          <p:nvPr/>
        </p:nvSpPr>
        <p:spPr>
          <a:xfrm>
            <a:off x="4327855" y="594360"/>
            <a:ext cx="6858000" cy="256032"/>
          </a:xfrm>
          <a:prstGeom prst="rect">
            <a:avLst/>
          </a:prstGeom>
          <a:noFill/>
          <a:ln/>
        </p:spPr>
        <p:txBody>
          <a:bodyPr wrap="square" lIns="0" tIns="0" rIns="0" bIns="0" rtlCol="0" anchor="ctr"/>
          <a:lstStyle/>
          <a:p>
            <a:pPr rtl="1" algn="r" indent="0" marL="0">
              <a:buNone/>
            </a:pPr>
            <a:r>
              <a:rPr lang="ar-SA" altLang="en-US" sz="1300" b="1" dirty="0">
                <a:solidFill>
                  <a:srgbClr val="2DB8E0"/>
                </a:solidFill>
                <a:latin typeface="Arial" pitchFamily="34" charset="0"/>
                <a:ea typeface="Arial" pitchFamily="34" charset="-122"/>
                <a:cs typeface="Arial" pitchFamily="34" charset="-120"/>
              </a:rPr>
              <a:t>05  ·  عملاؤنا</a:t>
            </a:r>
            <a:endParaRPr lang="ar-SA" sz="1300" dirty="0"/>
          </a:p>
        </p:txBody>
      </p:sp>
      <p:sp>
        <p:nvSpPr>
          <p:cNvPr id="6" name="Text 2"/>
          <p:cNvSpPr txBox="1"/>
          <p:nvPr/>
        </p:nvSpPr>
        <p:spPr>
          <a:xfrm>
            <a:off x="2499055" y="960120"/>
            <a:ext cx="9144000" cy="685800"/>
          </a:xfrm>
          <a:prstGeom prst="rect">
            <a:avLst/>
          </a:prstGeom>
          <a:noFill/>
          <a:ln/>
        </p:spPr>
        <p:txBody>
          <a:bodyPr wrap="square" lIns="0" tIns="0" rIns="0" bIns="0" rtlCol="0" anchor="t"/>
          <a:lstStyle/>
          <a:p>
            <a:pPr rtl="1" algn="r" indent="0" marL="0">
              <a:buNone/>
            </a:pPr>
            <a:r>
              <a:rPr lang="ar-SA" altLang="en-US" sz="3600" b="1" dirty="0">
                <a:solidFill>
                  <a:srgbClr val="FFFFFF"/>
                </a:solidFill>
                <a:latin typeface="Arial" pitchFamily="34" charset="0"/>
                <a:ea typeface="Arial" pitchFamily="34" charset="-122"/>
                <a:cs typeface="Arial" pitchFamily="34" charset="-120"/>
              </a:rPr>
              <a:t>موضع ثقة علامات تجارية راسخة</a:t>
            </a:r>
            <a:endParaRPr lang="ar-SA" sz="3600" dirty="0"/>
          </a:p>
        </p:txBody>
      </p:sp>
      <p:sp>
        <p:nvSpPr>
          <p:cNvPr id="7" name="Text 3"/>
          <p:cNvSpPr txBox="1"/>
          <p:nvPr/>
        </p:nvSpPr>
        <p:spPr>
          <a:xfrm>
            <a:off x="2499055" y="1691640"/>
            <a:ext cx="9144000" cy="365760"/>
          </a:xfrm>
          <a:prstGeom prst="rect">
            <a:avLst/>
          </a:prstGeom>
          <a:noFill/>
          <a:ln/>
        </p:spPr>
        <p:txBody>
          <a:bodyPr wrap="square" lIns="0" tIns="0" rIns="0" bIns="0" rtlCol="0" anchor="t"/>
          <a:lstStyle/>
          <a:p>
            <a:pPr rtl="1" algn="r" indent="0" marL="0">
              <a:buNone/>
            </a:pPr>
            <a:r>
              <a:rPr lang="ar-SA" altLang="en-US" sz="1500" dirty="0">
                <a:solidFill>
                  <a:srgbClr val="D5DCE4"/>
                </a:solidFill>
                <a:latin typeface="Arial" pitchFamily="34" charset="0"/>
                <a:ea typeface="Arial" pitchFamily="34" charset="-122"/>
                <a:cs typeface="Arial" pitchFamily="34" charset="-120"/>
              </a:rPr>
              <a:t>مجموعة مختارة من العملاء الذين نفذنا لهم أعمالنا.</a:t>
            </a:r>
            <a:endParaRPr lang="ar-SA" sz="1500" dirty="0"/>
          </a:p>
        </p:txBody>
      </p:sp>
      <p:sp>
        <p:nvSpPr>
          <p:cNvPr id="8" name="Shape 4"/>
          <p:cNvSpPr/>
          <p:nvPr/>
        </p:nvSpPr>
        <p:spPr>
          <a:xfrm>
            <a:off x="8127797" y="2468880"/>
            <a:ext cx="3515258" cy="3108960"/>
          </a:xfrm>
          <a:prstGeom prst="rect">
            <a:avLst/>
          </a:prstGeom>
          <a:solidFill>
            <a:srgbClr val="FFFFFF"/>
          </a:solidFill>
          <a:ln w="9525">
            <a:solidFill>
              <a:srgbClr val="DDE1E6"/>
            </a:solidFill>
            <a:prstDash val="solid"/>
          </a:ln>
          <a:effectLst>
            <a:outerShdw sx="100000" sy="100000" kx="0" ky="0" algn="bl" rotWithShape="0" blurRad="127000" dist="25400" dir="5400000">
              <a:srgbClr val="0E1420">
                <a:alpha val="12000"/>
              </a:srgbClr>
            </a:outerShdw>
          </a:effectLst>
        </p:spPr>
      </p:sp>
      <p:sp>
        <p:nvSpPr>
          <p:cNvPr id="9" name="Shape 5"/>
          <p:cNvSpPr/>
          <p:nvPr/>
        </p:nvSpPr>
        <p:spPr>
          <a:xfrm>
            <a:off x="10865815" y="2971800"/>
            <a:ext cx="365760" cy="137160"/>
          </a:xfrm>
          <a:prstGeom prst="parallelogram">
            <a:avLst/>
          </a:prstGeom>
          <a:solidFill>
            <a:srgbClr val="E5177B"/>
          </a:solidFill>
          <a:ln w="12700">
            <a:solidFill>
              <a:srgbClr val="E5177B"/>
            </a:solidFill>
            <a:prstDash val="solid"/>
          </a:ln>
        </p:spPr>
      </p:sp>
      <p:sp>
        <p:nvSpPr>
          <p:cNvPr id="10" name="Text 6"/>
          <p:cNvSpPr txBox="1"/>
          <p:nvPr/>
        </p:nvSpPr>
        <p:spPr>
          <a:xfrm>
            <a:off x="8493557" y="2898648"/>
            <a:ext cx="2235098" cy="274320"/>
          </a:xfrm>
          <a:prstGeom prst="rect">
            <a:avLst/>
          </a:prstGeom>
          <a:noFill/>
          <a:ln/>
        </p:spPr>
        <p:txBody>
          <a:bodyPr wrap="square" lIns="0" tIns="0" rIns="0" bIns="0" rtlCol="0" anchor="ctr"/>
          <a:lstStyle/>
          <a:p>
            <a:pPr rtl="1" algn="r" indent="0" marL="0">
              <a:buNone/>
            </a:pPr>
            <a:r>
              <a:rPr lang="ar-SA" altLang="en-US" sz="1180" b="1" dirty="0">
                <a:solidFill>
                  <a:srgbClr val="667080"/>
                </a:solidFill>
                <a:latin typeface="Arial" pitchFamily="34" charset="0"/>
                <a:ea typeface="Arial" pitchFamily="34" charset="-122"/>
                <a:cs typeface="Arial" pitchFamily="34" charset="-120"/>
              </a:rPr>
              <a:t>عميل</a:t>
            </a:r>
            <a:endParaRPr lang="ar-SA" sz="1180" dirty="0"/>
          </a:p>
        </p:txBody>
      </p:sp>
      <p:sp>
        <p:nvSpPr>
          <p:cNvPr id="11" name="Text 7"/>
          <p:cNvSpPr txBox="1"/>
          <p:nvPr/>
        </p:nvSpPr>
        <p:spPr>
          <a:xfrm>
            <a:off x="8539277" y="3657600"/>
            <a:ext cx="2692298" cy="822960"/>
          </a:xfrm>
          <a:prstGeom prst="rect">
            <a:avLst/>
          </a:prstGeom>
          <a:noFill/>
          <a:ln/>
        </p:spPr>
        <p:txBody>
          <a:bodyPr wrap="square" lIns="0" tIns="0" rIns="0" bIns="0" rtlCol="0" anchor="ctr"/>
          <a:lstStyle/>
          <a:p>
            <a:pPr algn="r" indent="0" marL="0">
              <a:buNone/>
            </a:pPr>
            <a:r>
              <a:rPr lang="en-US" sz="4000" b="1" spc="400" kern="0" dirty="0">
                <a:solidFill>
                  <a:srgbClr val="0E1420"/>
                </a:solidFill>
                <a:latin typeface="Arial" pitchFamily="34" charset="0"/>
                <a:ea typeface="Arial" pitchFamily="34" charset="-122"/>
                <a:cs typeface="Arial" pitchFamily="34" charset="-120"/>
              </a:rPr>
              <a:t>DUKAN</a:t>
            </a:r>
            <a:endParaRPr lang="en-US" sz="4000" dirty="0"/>
          </a:p>
        </p:txBody>
      </p:sp>
      <p:sp>
        <p:nvSpPr>
          <p:cNvPr id="12" name="Text 8"/>
          <p:cNvSpPr txBox="1"/>
          <p:nvPr/>
        </p:nvSpPr>
        <p:spPr>
          <a:xfrm>
            <a:off x="8539277" y="4617720"/>
            <a:ext cx="2692298" cy="914400"/>
          </a:xfrm>
          <a:prstGeom prst="rect">
            <a:avLst/>
          </a:prstGeom>
          <a:noFill/>
          <a:ln/>
        </p:spPr>
        <p:txBody>
          <a:bodyPr wrap="square" lIns="0" tIns="0" rIns="0" bIns="0" rtlCol="0" anchor="t"/>
          <a:lstStyle/>
          <a:p>
            <a:pPr rtl="1" algn="r" indent="0" marL="0">
              <a:buNone/>
            </a:pPr>
            <a:r>
              <a:rPr lang="ar-SA" altLang="en-US" sz="1400" dirty="0">
                <a:solidFill>
                  <a:srgbClr val="3F4856"/>
                </a:solidFill>
                <a:latin typeface="Arial" pitchFamily="34" charset="0"/>
                <a:ea typeface="Arial" pitchFamily="34" charset="-122"/>
                <a:cs typeface="Arial" pitchFamily="34" charset="-120"/>
              </a:rPr>
              <a:t>دكان</a:t>
            </a:r>
            <a:endParaRPr lang="ar-SA" sz="1400" dirty="0"/>
          </a:p>
        </p:txBody>
      </p:sp>
      <p:sp>
        <p:nvSpPr>
          <p:cNvPr id="13" name="Shape 9"/>
          <p:cNvSpPr/>
          <p:nvPr/>
        </p:nvSpPr>
        <p:spPr>
          <a:xfrm>
            <a:off x="4338218" y="2468880"/>
            <a:ext cx="3515258" cy="3108960"/>
          </a:xfrm>
          <a:prstGeom prst="rect">
            <a:avLst/>
          </a:prstGeom>
          <a:solidFill>
            <a:srgbClr val="FFFFFF"/>
          </a:solidFill>
          <a:ln w="9525">
            <a:solidFill>
              <a:srgbClr val="DDE1E6"/>
            </a:solidFill>
            <a:prstDash val="solid"/>
          </a:ln>
          <a:effectLst>
            <a:outerShdw sx="100000" sy="100000" kx="0" ky="0" algn="bl" rotWithShape="0" blurRad="127000" dist="25400" dir="5400000">
              <a:srgbClr val="0E1420">
                <a:alpha val="12000"/>
              </a:srgbClr>
            </a:outerShdw>
          </a:effectLst>
        </p:spPr>
      </p:sp>
      <p:sp>
        <p:nvSpPr>
          <p:cNvPr id="14" name="Shape 10"/>
          <p:cNvSpPr/>
          <p:nvPr/>
        </p:nvSpPr>
        <p:spPr>
          <a:xfrm>
            <a:off x="7076237" y="2971800"/>
            <a:ext cx="365760" cy="137160"/>
          </a:xfrm>
          <a:prstGeom prst="parallelogram">
            <a:avLst/>
          </a:prstGeom>
          <a:solidFill>
            <a:srgbClr val="2DB8E0"/>
          </a:solidFill>
          <a:ln w="12700">
            <a:solidFill>
              <a:srgbClr val="2DB8E0"/>
            </a:solidFill>
            <a:prstDash val="solid"/>
          </a:ln>
        </p:spPr>
      </p:sp>
      <p:sp>
        <p:nvSpPr>
          <p:cNvPr id="15" name="Text 11"/>
          <p:cNvSpPr txBox="1"/>
          <p:nvPr/>
        </p:nvSpPr>
        <p:spPr>
          <a:xfrm>
            <a:off x="4703978" y="2898648"/>
            <a:ext cx="2235098" cy="274320"/>
          </a:xfrm>
          <a:prstGeom prst="rect">
            <a:avLst/>
          </a:prstGeom>
          <a:noFill/>
          <a:ln/>
        </p:spPr>
        <p:txBody>
          <a:bodyPr wrap="square" lIns="0" tIns="0" rIns="0" bIns="0" rtlCol="0" anchor="ctr"/>
          <a:lstStyle/>
          <a:p>
            <a:pPr rtl="1" algn="r" indent="0" marL="0">
              <a:buNone/>
            </a:pPr>
            <a:r>
              <a:rPr lang="ar-SA" altLang="en-US" sz="1180" b="1" dirty="0">
                <a:solidFill>
                  <a:srgbClr val="667080"/>
                </a:solidFill>
                <a:latin typeface="Arial" pitchFamily="34" charset="0"/>
                <a:ea typeface="Arial" pitchFamily="34" charset="-122"/>
                <a:cs typeface="Arial" pitchFamily="34" charset="-120"/>
              </a:rPr>
              <a:t>عميل</a:t>
            </a:r>
            <a:endParaRPr lang="ar-SA" sz="1180" dirty="0"/>
          </a:p>
        </p:txBody>
      </p:sp>
      <p:sp>
        <p:nvSpPr>
          <p:cNvPr id="16" name="Text 12"/>
          <p:cNvSpPr txBox="1"/>
          <p:nvPr/>
        </p:nvSpPr>
        <p:spPr>
          <a:xfrm>
            <a:off x="4749698" y="3657600"/>
            <a:ext cx="2692298" cy="822960"/>
          </a:xfrm>
          <a:prstGeom prst="rect">
            <a:avLst/>
          </a:prstGeom>
          <a:noFill/>
          <a:ln/>
        </p:spPr>
        <p:txBody>
          <a:bodyPr wrap="square" lIns="0" tIns="0" rIns="0" bIns="0" rtlCol="0" anchor="ctr"/>
          <a:lstStyle/>
          <a:p>
            <a:pPr algn="r" indent="0" marL="0">
              <a:buNone/>
            </a:pPr>
            <a:r>
              <a:rPr lang="en-US" sz="4000" b="1" spc="400" kern="0" dirty="0">
                <a:solidFill>
                  <a:srgbClr val="0E1420"/>
                </a:solidFill>
                <a:latin typeface="Arial" pitchFamily="34" charset="0"/>
                <a:ea typeface="Arial" pitchFamily="34" charset="-122"/>
                <a:cs typeface="Arial" pitchFamily="34" charset="-120"/>
              </a:rPr>
              <a:t>PANDA</a:t>
            </a:r>
            <a:endParaRPr lang="en-US" sz="4000" dirty="0"/>
          </a:p>
        </p:txBody>
      </p:sp>
      <p:sp>
        <p:nvSpPr>
          <p:cNvPr id="17" name="Text 13"/>
          <p:cNvSpPr txBox="1"/>
          <p:nvPr/>
        </p:nvSpPr>
        <p:spPr>
          <a:xfrm>
            <a:off x="4749698" y="4617720"/>
            <a:ext cx="2692298" cy="914400"/>
          </a:xfrm>
          <a:prstGeom prst="rect">
            <a:avLst/>
          </a:prstGeom>
          <a:noFill/>
          <a:ln/>
        </p:spPr>
        <p:txBody>
          <a:bodyPr wrap="square" lIns="0" tIns="0" rIns="0" bIns="0" rtlCol="0" anchor="t"/>
          <a:lstStyle/>
          <a:p>
            <a:pPr rtl="1" algn="r" indent="0" marL="0">
              <a:buNone/>
            </a:pPr>
            <a:r>
              <a:rPr lang="ar-SA" altLang="en-US" sz="1400" dirty="0">
                <a:solidFill>
                  <a:srgbClr val="3F4856"/>
                </a:solidFill>
                <a:latin typeface="Arial" pitchFamily="34" charset="0"/>
                <a:ea typeface="Arial" pitchFamily="34" charset="-122"/>
                <a:cs typeface="Arial" pitchFamily="34" charset="-120"/>
              </a:rPr>
              <a:t>بنده  ·  مجموعة صافولا</a:t>
            </a:r>
            <a:endParaRPr lang="ar-SA" sz="1400" dirty="0"/>
          </a:p>
        </p:txBody>
      </p:sp>
      <p:sp>
        <p:nvSpPr>
          <p:cNvPr id="18" name="Shape 14"/>
          <p:cNvSpPr/>
          <p:nvPr/>
        </p:nvSpPr>
        <p:spPr>
          <a:xfrm>
            <a:off x="548640" y="2468880"/>
            <a:ext cx="3515258" cy="3108960"/>
          </a:xfrm>
          <a:prstGeom prst="rect">
            <a:avLst/>
          </a:prstGeom>
          <a:solidFill>
            <a:srgbClr val="FFFFFF"/>
          </a:solidFill>
          <a:ln w="9525">
            <a:solidFill>
              <a:srgbClr val="DDE1E6"/>
            </a:solidFill>
            <a:prstDash val="solid"/>
          </a:ln>
          <a:effectLst>
            <a:outerShdw sx="100000" sy="100000" kx="0" ky="0" algn="bl" rotWithShape="0" blurRad="127000" dist="25400" dir="5400000">
              <a:srgbClr val="0E1420">
                <a:alpha val="12000"/>
              </a:srgbClr>
            </a:outerShdw>
          </a:effectLst>
        </p:spPr>
      </p:sp>
      <p:sp>
        <p:nvSpPr>
          <p:cNvPr id="19" name="Shape 15"/>
          <p:cNvSpPr/>
          <p:nvPr/>
        </p:nvSpPr>
        <p:spPr>
          <a:xfrm>
            <a:off x="3286658" y="2971800"/>
            <a:ext cx="365760" cy="137160"/>
          </a:xfrm>
          <a:prstGeom prst="parallelogram">
            <a:avLst/>
          </a:prstGeom>
          <a:solidFill>
            <a:srgbClr val="5B54A4"/>
          </a:solidFill>
          <a:ln w="12700">
            <a:solidFill>
              <a:srgbClr val="5B54A4"/>
            </a:solidFill>
            <a:prstDash val="solid"/>
          </a:ln>
        </p:spPr>
      </p:sp>
      <p:sp>
        <p:nvSpPr>
          <p:cNvPr id="20" name="Text 16"/>
          <p:cNvSpPr txBox="1"/>
          <p:nvPr/>
        </p:nvSpPr>
        <p:spPr>
          <a:xfrm>
            <a:off x="914400" y="2898648"/>
            <a:ext cx="2235098" cy="274320"/>
          </a:xfrm>
          <a:prstGeom prst="rect">
            <a:avLst/>
          </a:prstGeom>
          <a:noFill/>
          <a:ln/>
        </p:spPr>
        <p:txBody>
          <a:bodyPr wrap="square" lIns="0" tIns="0" rIns="0" bIns="0" rtlCol="0" anchor="ctr"/>
          <a:lstStyle/>
          <a:p>
            <a:pPr rtl="1" algn="r" indent="0" marL="0">
              <a:buNone/>
            </a:pPr>
            <a:r>
              <a:rPr lang="ar-SA" altLang="en-US" sz="1180" b="1" dirty="0">
                <a:solidFill>
                  <a:srgbClr val="667080"/>
                </a:solidFill>
                <a:latin typeface="Arial" pitchFamily="34" charset="0"/>
                <a:ea typeface="Arial" pitchFamily="34" charset="-122"/>
                <a:cs typeface="Arial" pitchFamily="34" charset="-120"/>
              </a:rPr>
              <a:t>عميل</a:t>
            </a:r>
            <a:endParaRPr lang="ar-SA" sz="1180" dirty="0"/>
          </a:p>
        </p:txBody>
      </p:sp>
      <p:sp>
        <p:nvSpPr>
          <p:cNvPr id="21" name="Text 17"/>
          <p:cNvSpPr txBox="1"/>
          <p:nvPr/>
        </p:nvSpPr>
        <p:spPr>
          <a:xfrm>
            <a:off x="960120" y="3657600"/>
            <a:ext cx="2692298" cy="822960"/>
          </a:xfrm>
          <a:prstGeom prst="rect">
            <a:avLst/>
          </a:prstGeom>
          <a:noFill/>
          <a:ln/>
        </p:spPr>
        <p:txBody>
          <a:bodyPr wrap="square" lIns="0" tIns="0" rIns="0" bIns="0" rtlCol="0" anchor="ctr"/>
          <a:lstStyle/>
          <a:p>
            <a:pPr algn="r" indent="0" marL="0">
              <a:buNone/>
            </a:pPr>
            <a:r>
              <a:rPr lang="en-US" sz="4000" b="1" spc="400" kern="0" dirty="0">
                <a:solidFill>
                  <a:srgbClr val="0E1420"/>
                </a:solidFill>
                <a:latin typeface="Arial" pitchFamily="34" charset="0"/>
                <a:ea typeface="Arial" pitchFamily="34" charset="-122"/>
                <a:cs typeface="Arial" pitchFamily="34" charset="-120"/>
              </a:rPr>
              <a:t>MAZDA</a:t>
            </a:r>
            <a:endParaRPr lang="en-US" sz="4000" dirty="0"/>
          </a:p>
        </p:txBody>
      </p:sp>
      <p:sp>
        <p:nvSpPr>
          <p:cNvPr id="22" name="Text 18"/>
          <p:cNvSpPr txBox="1"/>
          <p:nvPr/>
        </p:nvSpPr>
        <p:spPr>
          <a:xfrm>
            <a:off x="960120" y="4617720"/>
            <a:ext cx="2692298" cy="914400"/>
          </a:xfrm>
          <a:prstGeom prst="rect">
            <a:avLst/>
          </a:prstGeom>
          <a:noFill/>
          <a:ln/>
        </p:spPr>
        <p:txBody>
          <a:bodyPr wrap="square" lIns="0" tIns="0" rIns="0" bIns="0" rtlCol="0" anchor="t"/>
          <a:lstStyle/>
          <a:p>
            <a:pPr rtl="1" algn="r" indent="0" marL="0">
              <a:buNone/>
            </a:pPr>
            <a:r>
              <a:rPr lang="ar-SA" altLang="en-US" sz="1400" dirty="0">
                <a:solidFill>
                  <a:srgbClr val="3F4856"/>
                </a:solidFill>
                <a:latin typeface="Arial" pitchFamily="34" charset="0"/>
                <a:ea typeface="Arial" pitchFamily="34" charset="-122"/>
                <a:cs typeface="Arial" pitchFamily="34" charset="-120"/>
              </a:rPr>
              <a:t>مازدا  ·  شركة الحاج حسين علي رضا وشركاه المحدودة</a:t>
            </a:r>
            <a:endParaRPr lang="ar-SA" sz="1400" dirty="0"/>
          </a:p>
        </p:txBody>
      </p:sp>
      <p:sp>
        <p:nvSpPr>
          <p:cNvPr id="23" name="Text 19"/>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1000" dirty="0">
                <a:solidFill>
                  <a:srgbClr val="667080"/>
                </a:solidFill>
                <a:latin typeface="Arial" pitchFamily="34" charset="0"/>
                <a:ea typeface="Arial" pitchFamily="34" charset="-122"/>
                <a:cs typeface="Arial" pitchFamily="34" charset="-120"/>
              </a:rPr>
              <a:t>الرؤية الجديدة التكاملية  ·  ملف الشركة</a:t>
            </a:r>
            <a:endParaRPr lang="ar-SA" sz="1000" dirty="0"/>
          </a:p>
        </p:txBody>
      </p:sp>
      <p:sp>
        <p:nvSpPr>
          <p:cNvPr id="24" name="Text 20"/>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1060" b="1" dirty="0">
                <a:solidFill>
                  <a:srgbClr val="667080"/>
                </a:solidFill>
                <a:latin typeface="Arial" pitchFamily="34" charset="0"/>
                <a:ea typeface="Arial" pitchFamily="34" charset="-122"/>
                <a:cs typeface="Arial" pitchFamily="34" charset="-120"/>
              </a:rPr>
              <a:t>14</a:t>
            </a:r>
            <a:endParaRPr lang="ar-SA" sz="10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home/user/NVIConsult/build/assets/logo_mark.png">    </p:cNvPr>
          <p:cNvPicPr>
            <a:picLocks noChangeAspect="1"/>
          </p:cNvPicPr>
          <p:nvPr/>
        </p:nvPicPr>
        <p:blipFill>
          <a:blip r:embed="rId1"/>
          <a:stretch>
            <a:fillRect/>
          </a:stretch>
        </p:blipFill>
        <p:spPr>
          <a:xfrm>
            <a:off x="11315813" y="576072"/>
            <a:ext cx="327242" cy="173736"/>
          </a:xfrm>
          <a:prstGeom prst="rect">
            <a:avLst/>
          </a:prstGeom>
        </p:spPr>
      </p:pic>
      <p:sp>
        <p:nvSpPr>
          <p:cNvPr id="3" name="Text 0"/>
          <p:cNvSpPr txBox="1"/>
          <p:nvPr/>
        </p:nvSpPr>
        <p:spPr>
          <a:xfrm>
            <a:off x="4327855" y="548640"/>
            <a:ext cx="6858000" cy="256032"/>
          </a:xfrm>
          <a:prstGeom prst="rect">
            <a:avLst/>
          </a:prstGeom>
          <a:noFill/>
          <a:ln/>
        </p:spPr>
        <p:txBody>
          <a:bodyPr wrap="square" lIns="0" tIns="0" rIns="0" bIns="0" rtlCol="0" anchor="ctr"/>
          <a:lstStyle/>
          <a:p>
            <a:pPr rtl="1" algn="r" indent="0" marL="0">
              <a:buNone/>
            </a:pPr>
            <a:r>
              <a:rPr lang="ar-SA" altLang="en-US" sz="1300" b="1" dirty="0">
                <a:solidFill>
                  <a:srgbClr val="E5177B"/>
                </a:solidFill>
                <a:latin typeface="Arial" pitchFamily="34" charset="0"/>
                <a:ea typeface="Arial" pitchFamily="34" charset="-122"/>
                <a:cs typeface="Arial" pitchFamily="34" charset="-120"/>
              </a:rPr>
              <a:t>06  ·  فريق القيادة</a:t>
            </a:r>
            <a:endParaRPr lang="ar-SA" sz="1300" dirty="0"/>
          </a:p>
        </p:txBody>
      </p:sp>
      <p:sp>
        <p:nvSpPr>
          <p:cNvPr id="4" name="Text 1"/>
          <p:cNvSpPr txBox="1"/>
          <p:nvPr/>
        </p:nvSpPr>
        <p:spPr>
          <a:xfrm>
            <a:off x="548640" y="896112"/>
            <a:ext cx="11094415" cy="640080"/>
          </a:xfrm>
          <a:prstGeom prst="rect">
            <a:avLst/>
          </a:prstGeom>
          <a:noFill/>
          <a:ln/>
        </p:spPr>
        <p:txBody>
          <a:bodyPr wrap="square" lIns="0" tIns="0" rIns="0" bIns="0" rtlCol="0" anchor="t"/>
          <a:lstStyle/>
          <a:p>
            <a:pPr rtl="1" algn="r" indent="0" marL="0">
              <a:buNone/>
            </a:pPr>
            <a:r>
              <a:rPr lang="ar-SA" altLang="en-US" sz="3200" b="1" dirty="0">
                <a:solidFill>
                  <a:srgbClr val="0E1420"/>
                </a:solidFill>
                <a:latin typeface="Arial" pitchFamily="34" charset="0"/>
                <a:ea typeface="Arial" pitchFamily="34" charset="-122"/>
                <a:cs typeface="Arial" pitchFamily="34" charset="-120"/>
              </a:rPr>
              <a:t>مهندسون ذوو خبرة في كل التخصصات</a:t>
            </a:r>
            <a:endParaRPr lang="ar-SA" sz="3200" dirty="0"/>
          </a:p>
        </p:txBody>
      </p:sp>
      <p:sp>
        <p:nvSpPr>
          <p:cNvPr id="5" name="Shape 2"/>
          <p:cNvSpPr/>
          <p:nvPr/>
        </p:nvSpPr>
        <p:spPr>
          <a:xfrm>
            <a:off x="8351215" y="1783080"/>
            <a:ext cx="3291840" cy="4526280"/>
          </a:xfrm>
          <a:prstGeom prst="rect">
            <a:avLst/>
          </a:prstGeom>
          <a:solidFill>
            <a:srgbClr val="0E1420"/>
          </a:solidFill>
          <a:ln w="12700">
            <a:solidFill>
              <a:srgbClr val="0E1420"/>
            </a:solidFill>
            <a:prstDash val="solid"/>
          </a:ln>
        </p:spPr>
      </p:sp>
      <p:pic>
        <p:nvPicPr>
          <p:cNvPr id="6" name="Image 1" descr="/home/user/NVIConsult/build/assets/p_azzam.jpg">    </p:cNvPr>
          <p:cNvPicPr>
            <a:picLocks noChangeAspect="1"/>
          </p:cNvPicPr>
          <p:nvPr/>
        </p:nvPicPr>
        <p:blipFill>
          <a:blip r:embed="rId2"/>
          <a:stretch>
            <a:fillRect/>
          </a:stretch>
        </p:blipFill>
        <p:spPr>
          <a:xfrm>
            <a:off x="8351215" y="1783080"/>
            <a:ext cx="3291840" cy="2743200"/>
          </a:xfrm>
          <a:prstGeom prst="rect">
            <a:avLst/>
          </a:prstGeom>
        </p:spPr>
      </p:pic>
      <p:sp>
        <p:nvSpPr>
          <p:cNvPr id="7" name="Shape 3"/>
          <p:cNvSpPr/>
          <p:nvPr/>
        </p:nvSpPr>
        <p:spPr>
          <a:xfrm>
            <a:off x="11057839" y="4754880"/>
            <a:ext cx="310896" cy="128016"/>
          </a:xfrm>
          <a:prstGeom prst="parallelogram">
            <a:avLst/>
          </a:prstGeom>
          <a:solidFill>
            <a:srgbClr val="2DB8E0"/>
          </a:solidFill>
          <a:ln w="12700">
            <a:solidFill>
              <a:srgbClr val="2DB8E0"/>
            </a:solidFill>
            <a:prstDash val="solid"/>
          </a:ln>
        </p:spPr>
      </p:sp>
      <p:sp>
        <p:nvSpPr>
          <p:cNvPr id="8" name="Text 4"/>
          <p:cNvSpPr txBox="1"/>
          <p:nvPr/>
        </p:nvSpPr>
        <p:spPr>
          <a:xfrm>
            <a:off x="8625535" y="4681728"/>
            <a:ext cx="2286000" cy="274320"/>
          </a:xfrm>
          <a:prstGeom prst="rect">
            <a:avLst/>
          </a:prstGeom>
          <a:noFill/>
          <a:ln/>
        </p:spPr>
        <p:txBody>
          <a:bodyPr wrap="square" lIns="0" tIns="0" rIns="0" bIns="0" rtlCol="0" anchor="ctr"/>
          <a:lstStyle/>
          <a:p>
            <a:pPr rtl="1" algn="r" indent="0" marL="0">
              <a:buNone/>
            </a:pPr>
            <a:r>
              <a:rPr lang="ar-SA" altLang="en-US" sz="1180" b="1" dirty="0">
                <a:solidFill>
                  <a:srgbClr val="2DB8E0"/>
                </a:solidFill>
                <a:latin typeface="Arial" pitchFamily="34" charset="0"/>
                <a:ea typeface="Arial" pitchFamily="34" charset="-122"/>
                <a:cs typeface="Arial" pitchFamily="34" charset="-120"/>
              </a:rPr>
              <a:t>المدير العام</a:t>
            </a:r>
            <a:endParaRPr lang="ar-SA" sz="1180" dirty="0"/>
          </a:p>
        </p:txBody>
      </p:sp>
      <p:sp>
        <p:nvSpPr>
          <p:cNvPr id="9" name="Text 5"/>
          <p:cNvSpPr txBox="1"/>
          <p:nvPr/>
        </p:nvSpPr>
        <p:spPr>
          <a:xfrm>
            <a:off x="8625535" y="5029200"/>
            <a:ext cx="2743200" cy="411480"/>
          </a:xfrm>
          <a:prstGeom prst="rect">
            <a:avLst/>
          </a:prstGeom>
          <a:noFill/>
          <a:ln/>
        </p:spPr>
        <p:txBody>
          <a:bodyPr wrap="square" lIns="0" tIns="0" rIns="0" bIns="0" rtlCol="0" anchor="ctr"/>
          <a:lstStyle/>
          <a:p>
            <a:pPr rtl="1" algn="r" indent="0" marL="0">
              <a:buNone/>
            </a:pPr>
            <a:r>
              <a:rPr lang="ar-SA" altLang="en-US" sz="2000" b="1" dirty="0">
                <a:solidFill>
                  <a:srgbClr val="FFFFFF"/>
                </a:solidFill>
                <a:latin typeface="Arial" pitchFamily="34" charset="0"/>
                <a:ea typeface="Arial" pitchFamily="34" charset="-122"/>
                <a:cs typeface="Arial" pitchFamily="34" charset="-120"/>
              </a:rPr>
              <a:t>عزام الصايح</a:t>
            </a:r>
            <a:endParaRPr lang="ar-SA" sz="2000" dirty="0"/>
          </a:p>
        </p:txBody>
      </p:sp>
      <p:sp>
        <p:nvSpPr>
          <p:cNvPr id="10" name="Text 6"/>
          <p:cNvSpPr txBox="1"/>
          <p:nvPr/>
        </p:nvSpPr>
        <p:spPr>
          <a:xfrm>
            <a:off x="8625535" y="5486400"/>
            <a:ext cx="2743200" cy="731520"/>
          </a:xfrm>
          <a:prstGeom prst="rect">
            <a:avLst/>
          </a:prstGeom>
          <a:noFill/>
          <a:ln/>
        </p:spPr>
        <p:txBody>
          <a:bodyPr wrap="square" lIns="0" tIns="0" rIns="0" bIns="0" rtlCol="0" anchor="t"/>
          <a:lstStyle/>
          <a:p>
            <a:pPr rtl="1" algn="r" indent="0" marL="0">
              <a:buNone/>
            </a:pPr>
            <a:r>
              <a:rPr lang="ar-SA" altLang="en-US" sz="1420" dirty="0">
                <a:solidFill>
                  <a:srgbClr val="C3CBD6"/>
                </a:solidFill>
                <a:latin typeface="Arial" pitchFamily="34" charset="0"/>
                <a:ea typeface="Arial" pitchFamily="34" charset="-122"/>
                <a:cs typeface="Arial" pitchFamily="34" charset="-120"/>
              </a:rPr>
              <a:t>مهندس مدني  ·  خبرة 35 عامًا، منها العمل مع مجموعة بن لادن السعودية</a:t>
            </a:r>
            <a:endParaRPr lang="ar-SA" sz="1420" dirty="0"/>
          </a:p>
        </p:txBody>
      </p:sp>
      <p:sp>
        <p:nvSpPr>
          <p:cNvPr id="11" name="Shape 7"/>
          <p:cNvSpPr/>
          <p:nvPr/>
        </p:nvSpPr>
        <p:spPr>
          <a:xfrm>
            <a:off x="4427068" y="1783080"/>
            <a:ext cx="3649828" cy="2148840"/>
          </a:xfrm>
          <a:prstGeom prst="rect">
            <a:avLst/>
          </a:prstGeom>
          <a:solidFill>
            <a:srgbClr val="F2F4F7"/>
          </a:solidFill>
          <a:ln w="12700">
            <a:solidFill>
              <a:srgbClr val="F2F4F7"/>
            </a:solidFill>
            <a:prstDash val="solid"/>
          </a:ln>
        </p:spPr>
      </p:sp>
      <p:pic>
        <p:nvPicPr>
          <p:cNvPr id="12" name="Image 2" descr="/home/user/NVIConsult/build/assets/p_hazem.jpg">    </p:cNvPr>
          <p:cNvPicPr>
            <a:picLocks noChangeAspect="1"/>
          </p:cNvPicPr>
          <p:nvPr/>
        </p:nvPicPr>
        <p:blipFill>
          <a:blip r:embed="rId3"/>
          <a:stretch>
            <a:fillRect/>
          </a:stretch>
        </p:blipFill>
        <p:spPr>
          <a:xfrm>
            <a:off x="6202375" y="2057400"/>
            <a:ext cx="1600200" cy="1600200"/>
          </a:xfrm>
          <a:prstGeom prst="rect">
            <a:avLst/>
          </a:prstGeom>
        </p:spPr>
      </p:pic>
      <p:sp>
        <p:nvSpPr>
          <p:cNvPr id="13" name="Text 8"/>
          <p:cNvSpPr txBox="1"/>
          <p:nvPr/>
        </p:nvSpPr>
        <p:spPr>
          <a:xfrm>
            <a:off x="4564228" y="2057400"/>
            <a:ext cx="1455268" cy="228600"/>
          </a:xfrm>
          <a:prstGeom prst="rect">
            <a:avLst/>
          </a:prstGeom>
          <a:noFill/>
          <a:ln/>
        </p:spPr>
        <p:txBody>
          <a:bodyPr wrap="square" lIns="0" tIns="0" rIns="0" bIns="0" rtlCol="0" anchor="t"/>
          <a:lstStyle/>
          <a:p>
            <a:pPr rtl="1" algn="r" indent="0" marL="0">
              <a:buNone/>
            </a:pPr>
            <a:r>
              <a:rPr lang="ar-SA" altLang="en-US" sz="1000" b="1" dirty="0">
                <a:solidFill>
                  <a:srgbClr val="E5177B"/>
                </a:solidFill>
                <a:latin typeface="Arial" pitchFamily="34" charset="0"/>
                <a:ea typeface="Arial" pitchFamily="34" charset="-122"/>
                <a:cs typeface="Arial" pitchFamily="34" charset="-120"/>
              </a:rPr>
              <a:t>مدير مشاريع</a:t>
            </a:r>
            <a:endParaRPr lang="ar-SA" sz="1000" dirty="0"/>
          </a:p>
        </p:txBody>
      </p:sp>
      <p:sp>
        <p:nvSpPr>
          <p:cNvPr id="14" name="Text 9"/>
          <p:cNvSpPr txBox="1"/>
          <p:nvPr/>
        </p:nvSpPr>
        <p:spPr>
          <a:xfrm>
            <a:off x="4564228" y="2331720"/>
            <a:ext cx="1455268" cy="54864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حازم غربال</a:t>
            </a:r>
            <a:endParaRPr lang="ar-SA" sz="1500" dirty="0"/>
          </a:p>
        </p:txBody>
      </p:sp>
      <p:sp>
        <p:nvSpPr>
          <p:cNvPr id="15" name="Text 10"/>
          <p:cNvSpPr txBox="1"/>
          <p:nvPr/>
        </p:nvSpPr>
        <p:spPr>
          <a:xfrm>
            <a:off x="4564228" y="2898648"/>
            <a:ext cx="1455268" cy="274320"/>
          </a:xfrm>
          <a:prstGeom prst="rect">
            <a:avLst/>
          </a:prstGeom>
          <a:noFill/>
          <a:ln/>
        </p:spPr>
        <p:txBody>
          <a:bodyPr wrap="square" lIns="0" tIns="0" rIns="0" bIns="0" rtlCol="0" anchor="t"/>
          <a:lstStyle/>
          <a:p>
            <a:pPr rtl="1" algn="r" indent="0" marL="0">
              <a:buNone/>
            </a:pPr>
            <a:r>
              <a:rPr lang="ar-SA" altLang="en-US" sz="1300" dirty="0">
                <a:solidFill>
                  <a:srgbClr val="3F4856"/>
                </a:solidFill>
                <a:latin typeface="Arial" pitchFamily="34" charset="0"/>
                <a:ea typeface="Arial" pitchFamily="34" charset="-122"/>
                <a:cs typeface="Arial" pitchFamily="34" charset="-120"/>
              </a:rPr>
              <a:t>مصمم داخلي</a:t>
            </a:r>
            <a:endParaRPr lang="ar-SA" sz="1300" dirty="0"/>
          </a:p>
        </p:txBody>
      </p:sp>
      <p:sp>
        <p:nvSpPr>
          <p:cNvPr id="16" name="Text 11"/>
          <p:cNvSpPr txBox="1"/>
          <p:nvPr/>
        </p:nvSpPr>
        <p:spPr>
          <a:xfrm>
            <a:off x="5562295" y="3200400"/>
            <a:ext cx="457200" cy="457200"/>
          </a:xfrm>
          <a:prstGeom prst="rect">
            <a:avLst/>
          </a:prstGeom>
          <a:noFill/>
          <a:ln/>
        </p:spPr>
        <p:txBody>
          <a:bodyPr wrap="square" lIns="0" tIns="0" rIns="0" bIns="0" rtlCol="0" anchor="ctr"/>
          <a:lstStyle/>
          <a:p>
            <a:pPr rtl="1" algn="r" indent="0" marL="0">
              <a:buNone/>
            </a:pPr>
            <a:r>
              <a:rPr lang="ar-SA" altLang="en-US" sz="2200" b="1" dirty="0">
                <a:solidFill>
                  <a:srgbClr val="0E1420"/>
                </a:solidFill>
                <a:latin typeface="Arial" pitchFamily="34" charset="0"/>
                <a:ea typeface="Arial" pitchFamily="34" charset="-122"/>
                <a:cs typeface="Arial" pitchFamily="34" charset="-120"/>
              </a:rPr>
              <a:t>18</a:t>
            </a:r>
            <a:endParaRPr lang="ar-SA" sz="2200" dirty="0"/>
          </a:p>
        </p:txBody>
      </p:sp>
      <p:sp>
        <p:nvSpPr>
          <p:cNvPr id="17" name="Text 12"/>
          <p:cNvSpPr txBox="1"/>
          <p:nvPr/>
        </p:nvSpPr>
        <p:spPr>
          <a:xfrm>
            <a:off x="4564228" y="3200400"/>
            <a:ext cx="979780" cy="457200"/>
          </a:xfrm>
          <a:prstGeom prst="rect">
            <a:avLst/>
          </a:prstGeom>
          <a:noFill/>
          <a:ln/>
        </p:spPr>
        <p:txBody>
          <a:bodyPr wrap="square" lIns="0" tIns="0" rIns="0" bIns="0" rtlCol="0" anchor="ctr"/>
          <a:lstStyle/>
          <a:p>
            <a:pPr rtl="1" algn="r" indent="0" marL="0">
              <a:buNone/>
            </a:pPr>
            <a:r>
              <a:rPr lang="ar-SA" altLang="en-US" sz="1180" dirty="0">
                <a:solidFill>
                  <a:srgbClr val="667080"/>
                </a:solidFill>
                <a:latin typeface="Arial" pitchFamily="34" charset="0"/>
                <a:ea typeface="Arial" pitchFamily="34" charset="-122"/>
                <a:cs typeface="Arial" pitchFamily="34" charset="-120"/>
              </a:rPr>
              <a:t>عامًا من الخبرة</a:t>
            </a:r>
            <a:endParaRPr lang="ar-SA" sz="1180" dirty="0"/>
          </a:p>
        </p:txBody>
      </p:sp>
      <p:sp>
        <p:nvSpPr>
          <p:cNvPr id="18" name="Shape 13"/>
          <p:cNvSpPr/>
          <p:nvPr/>
        </p:nvSpPr>
        <p:spPr>
          <a:xfrm>
            <a:off x="548640" y="1783080"/>
            <a:ext cx="3649828" cy="2148840"/>
          </a:xfrm>
          <a:prstGeom prst="rect">
            <a:avLst/>
          </a:prstGeom>
          <a:solidFill>
            <a:srgbClr val="F2F4F7"/>
          </a:solidFill>
          <a:ln w="12700">
            <a:solidFill>
              <a:srgbClr val="F2F4F7"/>
            </a:solidFill>
            <a:prstDash val="solid"/>
          </a:ln>
        </p:spPr>
      </p:sp>
      <p:pic>
        <p:nvPicPr>
          <p:cNvPr id="19" name="Image 3" descr="/home/user/NVIConsult/build/assets/p_mohammad.jpg">    </p:cNvPr>
          <p:cNvPicPr>
            <a:picLocks noChangeAspect="1"/>
          </p:cNvPicPr>
          <p:nvPr/>
        </p:nvPicPr>
        <p:blipFill>
          <a:blip r:embed="rId4"/>
          <a:stretch>
            <a:fillRect/>
          </a:stretch>
        </p:blipFill>
        <p:spPr>
          <a:xfrm>
            <a:off x="2323948" y="2057400"/>
            <a:ext cx="1600200" cy="1600200"/>
          </a:xfrm>
          <a:prstGeom prst="rect">
            <a:avLst/>
          </a:prstGeom>
        </p:spPr>
      </p:pic>
      <p:sp>
        <p:nvSpPr>
          <p:cNvPr id="20" name="Text 14"/>
          <p:cNvSpPr txBox="1"/>
          <p:nvPr/>
        </p:nvSpPr>
        <p:spPr>
          <a:xfrm>
            <a:off x="685800" y="2057400"/>
            <a:ext cx="1455268" cy="228600"/>
          </a:xfrm>
          <a:prstGeom prst="rect">
            <a:avLst/>
          </a:prstGeom>
          <a:noFill/>
          <a:ln/>
        </p:spPr>
        <p:txBody>
          <a:bodyPr wrap="square" lIns="0" tIns="0" rIns="0" bIns="0" rtlCol="0" anchor="t"/>
          <a:lstStyle/>
          <a:p>
            <a:pPr rtl="1" algn="r" indent="0" marL="0">
              <a:buNone/>
            </a:pPr>
            <a:r>
              <a:rPr lang="ar-SA" altLang="en-US" sz="1000" b="1" dirty="0">
                <a:solidFill>
                  <a:srgbClr val="1A93B8"/>
                </a:solidFill>
                <a:latin typeface="Arial" pitchFamily="34" charset="0"/>
                <a:ea typeface="Arial" pitchFamily="34" charset="-122"/>
                <a:cs typeface="Arial" pitchFamily="34" charset="-120"/>
              </a:rPr>
              <a:t>مدير مشاريع</a:t>
            </a:r>
            <a:endParaRPr lang="ar-SA" sz="1000" dirty="0"/>
          </a:p>
        </p:txBody>
      </p:sp>
      <p:sp>
        <p:nvSpPr>
          <p:cNvPr id="21" name="Text 15"/>
          <p:cNvSpPr txBox="1"/>
          <p:nvPr/>
        </p:nvSpPr>
        <p:spPr>
          <a:xfrm>
            <a:off x="685800" y="2331720"/>
            <a:ext cx="1455268" cy="54864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محمد خياط</a:t>
            </a:r>
            <a:endParaRPr lang="ar-SA" sz="1500" dirty="0"/>
          </a:p>
        </p:txBody>
      </p:sp>
      <p:sp>
        <p:nvSpPr>
          <p:cNvPr id="22" name="Text 16"/>
          <p:cNvSpPr txBox="1"/>
          <p:nvPr/>
        </p:nvSpPr>
        <p:spPr>
          <a:xfrm>
            <a:off x="685800" y="2898648"/>
            <a:ext cx="1455268" cy="274320"/>
          </a:xfrm>
          <a:prstGeom prst="rect">
            <a:avLst/>
          </a:prstGeom>
          <a:noFill/>
          <a:ln/>
        </p:spPr>
        <p:txBody>
          <a:bodyPr wrap="square" lIns="0" tIns="0" rIns="0" bIns="0" rtlCol="0" anchor="t"/>
          <a:lstStyle/>
          <a:p>
            <a:pPr rtl="1" algn="r" indent="0" marL="0">
              <a:buNone/>
            </a:pPr>
            <a:r>
              <a:rPr lang="ar-SA" altLang="en-US" sz="1300" dirty="0">
                <a:solidFill>
                  <a:srgbClr val="3F4856"/>
                </a:solidFill>
                <a:latin typeface="Arial" pitchFamily="34" charset="0"/>
                <a:ea typeface="Arial" pitchFamily="34" charset="-122"/>
                <a:cs typeface="Arial" pitchFamily="34" charset="-120"/>
              </a:rPr>
              <a:t>مهندس شبكات</a:t>
            </a:r>
            <a:endParaRPr lang="ar-SA" sz="1300" dirty="0"/>
          </a:p>
        </p:txBody>
      </p:sp>
      <p:sp>
        <p:nvSpPr>
          <p:cNvPr id="23" name="Text 17"/>
          <p:cNvSpPr txBox="1"/>
          <p:nvPr/>
        </p:nvSpPr>
        <p:spPr>
          <a:xfrm>
            <a:off x="1683868" y="3200400"/>
            <a:ext cx="457200" cy="457200"/>
          </a:xfrm>
          <a:prstGeom prst="rect">
            <a:avLst/>
          </a:prstGeom>
          <a:noFill/>
          <a:ln/>
        </p:spPr>
        <p:txBody>
          <a:bodyPr wrap="square" lIns="0" tIns="0" rIns="0" bIns="0" rtlCol="0" anchor="ctr"/>
          <a:lstStyle/>
          <a:p>
            <a:pPr rtl="1" algn="r" indent="0" marL="0">
              <a:buNone/>
            </a:pPr>
            <a:r>
              <a:rPr lang="ar-SA" altLang="en-US" sz="2200" b="1" dirty="0">
                <a:solidFill>
                  <a:srgbClr val="0E1420"/>
                </a:solidFill>
                <a:latin typeface="Arial" pitchFamily="34" charset="0"/>
                <a:ea typeface="Arial" pitchFamily="34" charset="-122"/>
                <a:cs typeface="Arial" pitchFamily="34" charset="-120"/>
              </a:rPr>
              <a:t>15</a:t>
            </a:r>
            <a:endParaRPr lang="ar-SA" sz="2200" dirty="0"/>
          </a:p>
        </p:txBody>
      </p:sp>
      <p:sp>
        <p:nvSpPr>
          <p:cNvPr id="24" name="Text 18"/>
          <p:cNvSpPr txBox="1"/>
          <p:nvPr/>
        </p:nvSpPr>
        <p:spPr>
          <a:xfrm>
            <a:off x="685800" y="3200400"/>
            <a:ext cx="979780" cy="457200"/>
          </a:xfrm>
          <a:prstGeom prst="rect">
            <a:avLst/>
          </a:prstGeom>
          <a:noFill/>
          <a:ln/>
        </p:spPr>
        <p:txBody>
          <a:bodyPr wrap="square" lIns="0" tIns="0" rIns="0" bIns="0" rtlCol="0" anchor="ctr"/>
          <a:lstStyle/>
          <a:p>
            <a:pPr rtl="1" algn="r" indent="0" marL="0">
              <a:buNone/>
            </a:pPr>
            <a:r>
              <a:rPr lang="ar-SA" altLang="en-US" sz="1180" dirty="0">
                <a:solidFill>
                  <a:srgbClr val="667080"/>
                </a:solidFill>
                <a:latin typeface="Arial" pitchFamily="34" charset="0"/>
                <a:ea typeface="Arial" pitchFamily="34" charset="-122"/>
                <a:cs typeface="Arial" pitchFamily="34" charset="-120"/>
              </a:rPr>
              <a:t>عامًا من الخبرة</a:t>
            </a:r>
            <a:endParaRPr lang="ar-SA" sz="1180" dirty="0"/>
          </a:p>
        </p:txBody>
      </p:sp>
      <p:sp>
        <p:nvSpPr>
          <p:cNvPr id="25" name="Shape 19"/>
          <p:cNvSpPr/>
          <p:nvPr/>
        </p:nvSpPr>
        <p:spPr>
          <a:xfrm>
            <a:off x="4427068" y="4160520"/>
            <a:ext cx="3649828" cy="2148840"/>
          </a:xfrm>
          <a:prstGeom prst="rect">
            <a:avLst/>
          </a:prstGeom>
          <a:solidFill>
            <a:srgbClr val="F2F4F7"/>
          </a:solidFill>
          <a:ln w="12700">
            <a:solidFill>
              <a:srgbClr val="F2F4F7"/>
            </a:solidFill>
            <a:prstDash val="solid"/>
          </a:ln>
        </p:spPr>
      </p:sp>
      <p:pic>
        <p:nvPicPr>
          <p:cNvPr id="26" name="Image 4" descr="/home/user/NVIConsult/build/assets/p_nader.jpg">    </p:cNvPr>
          <p:cNvPicPr>
            <a:picLocks noChangeAspect="1"/>
          </p:cNvPicPr>
          <p:nvPr/>
        </p:nvPicPr>
        <p:blipFill>
          <a:blip r:embed="rId5"/>
          <a:stretch>
            <a:fillRect/>
          </a:stretch>
        </p:blipFill>
        <p:spPr>
          <a:xfrm>
            <a:off x="6202375" y="4434840"/>
            <a:ext cx="1600200" cy="1600200"/>
          </a:xfrm>
          <a:prstGeom prst="rect">
            <a:avLst/>
          </a:prstGeom>
        </p:spPr>
      </p:pic>
      <p:sp>
        <p:nvSpPr>
          <p:cNvPr id="27" name="Text 20"/>
          <p:cNvSpPr txBox="1"/>
          <p:nvPr/>
        </p:nvSpPr>
        <p:spPr>
          <a:xfrm>
            <a:off x="4564228" y="4434840"/>
            <a:ext cx="1455268" cy="228600"/>
          </a:xfrm>
          <a:prstGeom prst="rect">
            <a:avLst/>
          </a:prstGeom>
          <a:noFill/>
          <a:ln/>
        </p:spPr>
        <p:txBody>
          <a:bodyPr wrap="square" lIns="0" tIns="0" rIns="0" bIns="0" rtlCol="0" anchor="t"/>
          <a:lstStyle/>
          <a:p>
            <a:pPr rtl="1" algn="r" indent="0" marL="0">
              <a:buNone/>
            </a:pPr>
            <a:r>
              <a:rPr lang="ar-SA" altLang="en-US" sz="1000" b="1" dirty="0">
                <a:solidFill>
                  <a:srgbClr val="C98F00"/>
                </a:solidFill>
                <a:latin typeface="Arial" pitchFamily="34" charset="0"/>
                <a:ea typeface="Arial" pitchFamily="34" charset="-122"/>
                <a:cs typeface="Arial" pitchFamily="34" charset="-120"/>
              </a:rPr>
              <a:t>مدير مشاريع</a:t>
            </a:r>
            <a:endParaRPr lang="ar-SA" sz="1000" dirty="0"/>
          </a:p>
        </p:txBody>
      </p:sp>
      <p:sp>
        <p:nvSpPr>
          <p:cNvPr id="28" name="Text 21"/>
          <p:cNvSpPr txBox="1"/>
          <p:nvPr/>
        </p:nvSpPr>
        <p:spPr>
          <a:xfrm>
            <a:off x="4564228" y="4709160"/>
            <a:ext cx="1455268" cy="54864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نادر م. عبد الهادي</a:t>
            </a:r>
            <a:endParaRPr lang="ar-SA" sz="1500" dirty="0"/>
          </a:p>
        </p:txBody>
      </p:sp>
      <p:sp>
        <p:nvSpPr>
          <p:cNvPr id="29" name="Text 22"/>
          <p:cNvSpPr txBox="1"/>
          <p:nvPr/>
        </p:nvSpPr>
        <p:spPr>
          <a:xfrm>
            <a:off x="4564228" y="5276088"/>
            <a:ext cx="1455268" cy="274320"/>
          </a:xfrm>
          <a:prstGeom prst="rect">
            <a:avLst/>
          </a:prstGeom>
          <a:noFill/>
          <a:ln/>
        </p:spPr>
        <p:txBody>
          <a:bodyPr wrap="square" lIns="0" tIns="0" rIns="0" bIns="0" rtlCol="0" anchor="t"/>
          <a:lstStyle/>
          <a:p>
            <a:pPr rtl="1" algn="r" indent="0" marL="0">
              <a:buNone/>
            </a:pPr>
            <a:r>
              <a:rPr lang="ar-SA" altLang="en-US" sz="1300" dirty="0">
                <a:solidFill>
                  <a:srgbClr val="3F4856"/>
                </a:solidFill>
                <a:latin typeface="Arial" pitchFamily="34" charset="0"/>
                <a:ea typeface="Arial" pitchFamily="34" charset="-122"/>
                <a:cs typeface="Arial" pitchFamily="34" charset="-120"/>
              </a:rPr>
              <a:t>مهندس كهرباء</a:t>
            </a:r>
            <a:endParaRPr lang="ar-SA" sz="1300" dirty="0"/>
          </a:p>
        </p:txBody>
      </p:sp>
      <p:sp>
        <p:nvSpPr>
          <p:cNvPr id="30" name="Text 23"/>
          <p:cNvSpPr txBox="1"/>
          <p:nvPr/>
        </p:nvSpPr>
        <p:spPr>
          <a:xfrm>
            <a:off x="5562295" y="5577840"/>
            <a:ext cx="457200" cy="457200"/>
          </a:xfrm>
          <a:prstGeom prst="rect">
            <a:avLst/>
          </a:prstGeom>
          <a:noFill/>
          <a:ln/>
        </p:spPr>
        <p:txBody>
          <a:bodyPr wrap="square" lIns="0" tIns="0" rIns="0" bIns="0" rtlCol="0" anchor="ctr"/>
          <a:lstStyle/>
          <a:p>
            <a:pPr rtl="1" algn="r" indent="0" marL="0">
              <a:buNone/>
            </a:pPr>
            <a:r>
              <a:rPr lang="ar-SA" altLang="en-US" sz="2200" b="1" dirty="0">
                <a:solidFill>
                  <a:srgbClr val="0E1420"/>
                </a:solidFill>
                <a:latin typeface="Arial" pitchFamily="34" charset="0"/>
                <a:ea typeface="Arial" pitchFamily="34" charset="-122"/>
                <a:cs typeface="Arial" pitchFamily="34" charset="-120"/>
              </a:rPr>
              <a:t>11</a:t>
            </a:r>
            <a:endParaRPr lang="ar-SA" sz="2200" dirty="0"/>
          </a:p>
        </p:txBody>
      </p:sp>
      <p:sp>
        <p:nvSpPr>
          <p:cNvPr id="31" name="Text 24"/>
          <p:cNvSpPr txBox="1"/>
          <p:nvPr/>
        </p:nvSpPr>
        <p:spPr>
          <a:xfrm>
            <a:off x="4564228" y="5577840"/>
            <a:ext cx="979780" cy="457200"/>
          </a:xfrm>
          <a:prstGeom prst="rect">
            <a:avLst/>
          </a:prstGeom>
          <a:noFill/>
          <a:ln/>
        </p:spPr>
        <p:txBody>
          <a:bodyPr wrap="square" lIns="0" tIns="0" rIns="0" bIns="0" rtlCol="0" anchor="ctr"/>
          <a:lstStyle/>
          <a:p>
            <a:pPr rtl="1" algn="r" indent="0" marL="0">
              <a:buNone/>
            </a:pPr>
            <a:r>
              <a:rPr lang="ar-SA" altLang="en-US" sz="1180" dirty="0">
                <a:solidFill>
                  <a:srgbClr val="667080"/>
                </a:solidFill>
                <a:latin typeface="Arial" pitchFamily="34" charset="0"/>
                <a:ea typeface="Arial" pitchFamily="34" charset="-122"/>
                <a:cs typeface="Arial" pitchFamily="34" charset="-120"/>
              </a:rPr>
              <a:t>عامًا من الخبرة</a:t>
            </a:r>
            <a:endParaRPr lang="ar-SA" sz="1180" dirty="0"/>
          </a:p>
        </p:txBody>
      </p:sp>
      <p:sp>
        <p:nvSpPr>
          <p:cNvPr id="32" name="Shape 25"/>
          <p:cNvSpPr/>
          <p:nvPr/>
        </p:nvSpPr>
        <p:spPr>
          <a:xfrm>
            <a:off x="548640" y="4160520"/>
            <a:ext cx="3649828" cy="2148840"/>
          </a:xfrm>
          <a:prstGeom prst="rect">
            <a:avLst/>
          </a:prstGeom>
          <a:solidFill>
            <a:srgbClr val="F2F4F7"/>
          </a:solidFill>
          <a:ln w="12700">
            <a:solidFill>
              <a:srgbClr val="F2F4F7"/>
            </a:solidFill>
            <a:prstDash val="solid"/>
          </a:ln>
        </p:spPr>
      </p:sp>
      <p:pic>
        <p:nvPicPr>
          <p:cNvPr id="33" name="Image 5" descr="/home/user/NVIConsult/build/assets/p_anas.jpg">    </p:cNvPr>
          <p:cNvPicPr>
            <a:picLocks noChangeAspect="1"/>
          </p:cNvPicPr>
          <p:nvPr/>
        </p:nvPicPr>
        <p:blipFill>
          <a:blip r:embed="rId6"/>
          <a:stretch>
            <a:fillRect/>
          </a:stretch>
        </p:blipFill>
        <p:spPr>
          <a:xfrm>
            <a:off x="2323948" y="4434840"/>
            <a:ext cx="1600200" cy="1600200"/>
          </a:xfrm>
          <a:prstGeom prst="rect">
            <a:avLst/>
          </a:prstGeom>
        </p:spPr>
      </p:pic>
      <p:sp>
        <p:nvSpPr>
          <p:cNvPr id="34" name="Text 26"/>
          <p:cNvSpPr txBox="1"/>
          <p:nvPr/>
        </p:nvSpPr>
        <p:spPr>
          <a:xfrm>
            <a:off x="685800" y="4434840"/>
            <a:ext cx="1455268" cy="228600"/>
          </a:xfrm>
          <a:prstGeom prst="rect">
            <a:avLst/>
          </a:prstGeom>
          <a:noFill/>
          <a:ln/>
        </p:spPr>
        <p:txBody>
          <a:bodyPr wrap="square" lIns="0" tIns="0" rIns="0" bIns="0" rtlCol="0" anchor="t"/>
          <a:lstStyle/>
          <a:p>
            <a:pPr rtl="1" algn="r" indent="0" marL="0">
              <a:buNone/>
            </a:pPr>
            <a:r>
              <a:rPr lang="ar-SA" altLang="en-US" sz="1000" b="1" dirty="0">
                <a:solidFill>
                  <a:srgbClr val="5B54A4"/>
                </a:solidFill>
                <a:latin typeface="Arial" pitchFamily="34" charset="0"/>
                <a:ea typeface="Arial" pitchFamily="34" charset="-122"/>
                <a:cs typeface="Arial" pitchFamily="34" charset="-120"/>
              </a:rPr>
              <a:t>مدير مشاريع</a:t>
            </a:r>
            <a:endParaRPr lang="ar-SA" sz="1000" dirty="0"/>
          </a:p>
        </p:txBody>
      </p:sp>
      <p:sp>
        <p:nvSpPr>
          <p:cNvPr id="35" name="Text 27"/>
          <p:cNvSpPr txBox="1"/>
          <p:nvPr/>
        </p:nvSpPr>
        <p:spPr>
          <a:xfrm>
            <a:off x="685800" y="4709160"/>
            <a:ext cx="1455268" cy="548640"/>
          </a:xfrm>
          <a:prstGeom prst="rect">
            <a:avLst/>
          </a:prstGeom>
          <a:noFill/>
          <a:ln/>
        </p:spPr>
        <p:txBody>
          <a:bodyPr wrap="square" lIns="0" tIns="0" rIns="0" bIns="0" rtlCol="0" anchor="t"/>
          <a:lstStyle/>
          <a:p>
            <a:pPr rtl="1" algn="r" indent="0" marL="0">
              <a:buNone/>
            </a:pPr>
            <a:r>
              <a:rPr lang="ar-SA" altLang="en-US" sz="1500" b="1" dirty="0">
                <a:solidFill>
                  <a:srgbClr val="0E1420"/>
                </a:solidFill>
                <a:latin typeface="Arial" pitchFamily="34" charset="0"/>
                <a:ea typeface="Arial" pitchFamily="34" charset="-122"/>
                <a:cs typeface="Arial" pitchFamily="34" charset="-120"/>
              </a:rPr>
              <a:t>أنس خياط</a:t>
            </a:r>
            <a:endParaRPr lang="ar-SA" sz="1500" dirty="0"/>
          </a:p>
        </p:txBody>
      </p:sp>
      <p:sp>
        <p:nvSpPr>
          <p:cNvPr id="36" name="Text 28"/>
          <p:cNvSpPr txBox="1"/>
          <p:nvPr/>
        </p:nvSpPr>
        <p:spPr>
          <a:xfrm>
            <a:off x="685800" y="5276088"/>
            <a:ext cx="1455268" cy="274320"/>
          </a:xfrm>
          <a:prstGeom prst="rect">
            <a:avLst/>
          </a:prstGeom>
          <a:noFill/>
          <a:ln/>
        </p:spPr>
        <p:txBody>
          <a:bodyPr wrap="square" lIns="0" tIns="0" rIns="0" bIns="0" rtlCol="0" anchor="t"/>
          <a:lstStyle/>
          <a:p>
            <a:pPr rtl="1" algn="r" indent="0" marL="0">
              <a:buNone/>
            </a:pPr>
            <a:r>
              <a:rPr lang="ar-SA" altLang="en-US" sz="1300" dirty="0">
                <a:solidFill>
                  <a:srgbClr val="3F4856"/>
                </a:solidFill>
                <a:latin typeface="Arial" pitchFamily="34" charset="0"/>
                <a:ea typeface="Arial" pitchFamily="34" charset="-122"/>
                <a:cs typeface="Arial" pitchFamily="34" charset="-120"/>
              </a:rPr>
              <a:t>مهندس ميكانيكا</a:t>
            </a:r>
            <a:endParaRPr lang="ar-SA" sz="1300" dirty="0"/>
          </a:p>
        </p:txBody>
      </p:sp>
      <p:sp>
        <p:nvSpPr>
          <p:cNvPr id="37" name="Text 29"/>
          <p:cNvSpPr txBox="1"/>
          <p:nvPr/>
        </p:nvSpPr>
        <p:spPr>
          <a:xfrm>
            <a:off x="1683868" y="5577840"/>
            <a:ext cx="457200" cy="457200"/>
          </a:xfrm>
          <a:prstGeom prst="rect">
            <a:avLst/>
          </a:prstGeom>
          <a:noFill/>
          <a:ln/>
        </p:spPr>
        <p:txBody>
          <a:bodyPr wrap="square" lIns="0" tIns="0" rIns="0" bIns="0" rtlCol="0" anchor="ctr"/>
          <a:lstStyle/>
          <a:p>
            <a:pPr rtl="1" algn="r" indent="0" marL="0">
              <a:buNone/>
            </a:pPr>
            <a:r>
              <a:rPr lang="ar-SA" altLang="en-US" sz="2200" b="1" dirty="0">
                <a:solidFill>
                  <a:srgbClr val="0E1420"/>
                </a:solidFill>
                <a:latin typeface="Arial" pitchFamily="34" charset="0"/>
                <a:ea typeface="Arial" pitchFamily="34" charset="-122"/>
                <a:cs typeface="Arial" pitchFamily="34" charset="-120"/>
              </a:rPr>
              <a:t>5</a:t>
            </a:r>
            <a:endParaRPr lang="ar-SA" sz="2200" dirty="0"/>
          </a:p>
        </p:txBody>
      </p:sp>
      <p:sp>
        <p:nvSpPr>
          <p:cNvPr id="38" name="Text 30"/>
          <p:cNvSpPr txBox="1"/>
          <p:nvPr/>
        </p:nvSpPr>
        <p:spPr>
          <a:xfrm>
            <a:off x="685800" y="5577840"/>
            <a:ext cx="979780" cy="457200"/>
          </a:xfrm>
          <a:prstGeom prst="rect">
            <a:avLst/>
          </a:prstGeom>
          <a:noFill/>
          <a:ln/>
        </p:spPr>
        <p:txBody>
          <a:bodyPr wrap="square" lIns="0" tIns="0" rIns="0" bIns="0" rtlCol="0" anchor="ctr"/>
          <a:lstStyle/>
          <a:p>
            <a:pPr rtl="1" algn="r" indent="0" marL="0">
              <a:buNone/>
            </a:pPr>
            <a:r>
              <a:rPr lang="ar-SA" altLang="en-US" sz="1180" dirty="0">
                <a:solidFill>
                  <a:srgbClr val="667080"/>
                </a:solidFill>
                <a:latin typeface="Arial" pitchFamily="34" charset="0"/>
                <a:ea typeface="Arial" pitchFamily="34" charset="-122"/>
                <a:cs typeface="Arial" pitchFamily="34" charset="-120"/>
              </a:rPr>
              <a:t>أعوام من الخبرة</a:t>
            </a:r>
            <a:endParaRPr lang="ar-SA" sz="1180" dirty="0"/>
          </a:p>
        </p:txBody>
      </p:sp>
      <p:sp>
        <p:nvSpPr>
          <p:cNvPr id="39" name="Text 31"/>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1000" dirty="0">
                <a:solidFill>
                  <a:srgbClr val="667080"/>
                </a:solidFill>
                <a:latin typeface="Arial" pitchFamily="34" charset="0"/>
                <a:ea typeface="Arial" pitchFamily="34" charset="-122"/>
                <a:cs typeface="Arial" pitchFamily="34" charset="-120"/>
              </a:rPr>
              <a:t>الرؤية الجديدة التكاملية  ·  ملف الشركة</a:t>
            </a:r>
            <a:endParaRPr lang="ar-SA" sz="1000" dirty="0"/>
          </a:p>
        </p:txBody>
      </p:sp>
      <p:sp>
        <p:nvSpPr>
          <p:cNvPr id="40" name="Text 32"/>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1060" b="1" dirty="0">
                <a:solidFill>
                  <a:srgbClr val="667080"/>
                </a:solidFill>
                <a:latin typeface="Arial" pitchFamily="34" charset="0"/>
                <a:ea typeface="Arial" pitchFamily="34" charset="-122"/>
                <a:cs typeface="Arial" pitchFamily="34" charset="-120"/>
              </a:rPr>
              <a:t>15</a:t>
            </a:r>
            <a:endParaRPr lang="ar-SA" sz="10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420"/>
        </a:solidFill>
      </p:bgPr>
    </p:bg>
    <p:spTree>
      <p:nvGrpSpPr>
        <p:cNvPr id="1" name=""/>
        <p:cNvGrpSpPr/>
        <p:nvPr/>
      </p:nvGrpSpPr>
      <p:grpSpPr>
        <a:xfrm>
          <a:off x="0" y="0"/>
          <a:ext cx="0" cy="0"/>
          <a:chOff x="0" y="0"/>
          <a:chExt cx="0" cy="0"/>
        </a:xfrm>
      </p:grpSpPr>
      <p:pic>
        <p:nvPicPr>
          <p:cNvPr id="2" name="Image 0" descr="/home/user/NVIConsult/build/assets/contact.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420">
              <a:alpha val="80000"/>
            </a:srgbClr>
          </a:solidFill>
          <a:ln w="12700">
            <a:solidFill>
              <a:srgbClr val="0E1420"/>
            </a:solidFill>
            <a:prstDash val="solid"/>
          </a:ln>
        </p:spPr>
      </p:sp>
      <p:pic>
        <p:nvPicPr>
          <p:cNvPr id="4" name="Image 1" descr="/home/user/NVIConsult/build/assets/logo_white.png">    </p:cNvPr>
          <p:cNvPicPr>
            <a:picLocks noChangeAspect="1"/>
          </p:cNvPicPr>
          <p:nvPr/>
        </p:nvPicPr>
        <p:blipFill>
          <a:blip r:embed="rId2"/>
          <a:stretch>
            <a:fillRect/>
          </a:stretch>
        </p:blipFill>
        <p:spPr>
          <a:xfrm>
            <a:off x="9357055" y="548640"/>
            <a:ext cx="2286000" cy="1499782"/>
          </a:xfrm>
          <a:prstGeom prst="rect">
            <a:avLst/>
          </a:prstGeom>
        </p:spPr>
      </p:pic>
      <p:pic>
        <p:nvPicPr>
          <p:cNvPr id="5" name="Image 2" descr="/home/user/NVIConsult/build/assets/logo_mark.png">    </p:cNvPr>
          <p:cNvPicPr>
            <a:picLocks noChangeAspect="1"/>
          </p:cNvPicPr>
          <p:nvPr/>
        </p:nvPicPr>
        <p:blipFill>
          <a:blip r:embed="rId3"/>
          <a:stretch>
            <a:fillRect/>
          </a:stretch>
        </p:blipFill>
        <p:spPr>
          <a:xfrm>
            <a:off x="11315813" y="2359152"/>
            <a:ext cx="327242" cy="173736"/>
          </a:xfrm>
          <a:prstGeom prst="rect">
            <a:avLst/>
          </a:prstGeom>
        </p:spPr>
      </p:pic>
      <p:sp>
        <p:nvSpPr>
          <p:cNvPr id="6" name="Text 1"/>
          <p:cNvSpPr txBox="1"/>
          <p:nvPr/>
        </p:nvSpPr>
        <p:spPr>
          <a:xfrm>
            <a:off x="4327855" y="2331720"/>
            <a:ext cx="6858000" cy="256032"/>
          </a:xfrm>
          <a:prstGeom prst="rect">
            <a:avLst/>
          </a:prstGeom>
          <a:noFill/>
          <a:ln/>
        </p:spPr>
        <p:txBody>
          <a:bodyPr wrap="square" lIns="0" tIns="0" rIns="0" bIns="0" rtlCol="0" anchor="ctr"/>
          <a:lstStyle/>
          <a:p>
            <a:pPr rtl="1" algn="r" indent="0" marL="0">
              <a:buNone/>
            </a:pPr>
            <a:r>
              <a:rPr lang="ar-SA" altLang="en-US" sz="1300" b="1" dirty="0">
                <a:solidFill>
                  <a:srgbClr val="2DB8E0"/>
                </a:solidFill>
                <a:latin typeface="Arial" pitchFamily="34" charset="0"/>
                <a:ea typeface="Arial" pitchFamily="34" charset="-122"/>
                <a:cs typeface="Arial" pitchFamily="34" charset="-120"/>
              </a:rPr>
              <a:t>07  ·  تواصل معنا</a:t>
            </a:r>
            <a:endParaRPr lang="ar-SA" sz="1300" dirty="0"/>
          </a:p>
        </p:txBody>
      </p:sp>
      <p:sp>
        <p:nvSpPr>
          <p:cNvPr id="7" name="Text 2"/>
          <p:cNvSpPr txBox="1"/>
          <p:nvPr/>
        </p:nvSpPr>
        <p:spPr>
          <a:xfrm>
            <a:off x="1584655" y="2697480"/>
            <a:ext cx="10058400" cy="868680"/>
          </a:xfrm>
          <a:prstGeom prst="rect">
            <a:avLst/>
          </a:prstGeom>
          <a:noFill/>
          <a:ln/>
        </p:spPr>
        <p:txBody>
          <a:bodyPr wrap="square" lIns="0" tIns="0" rIns="0" bIns="0" rtlCol="0" anchor="t"/>
          <a:lstStyle/>
          <a:p>
            <a:pPr rtl="1" algn="r" indent="0" marL="0">
              <a:buNone/>
            </a:pPr>
            <a:r>
              <a:rPr lang="ar-SA" altLang="en-US" sz="4400" b="1" dirty="0">
                <a:solidFill>
                  <a:srgbClr val="FFFFFF"/>
                </a:solidFill>
                <a:latin typeface="Arial" pitchFamily="34" charset="0"/>
                <a:ea typeface="Arial" pitchFamily="34" charset="-122"/>
                <a:cs typeface="Arial" pitchFamily="34" charset="-120"/>
              </a:rPr>
              <a:t>لنبنِ معًا، بلا قلق.</a:t>
            </a:r>
            <a:endParaRPr lang="ar-SA" sz="4400" dirty="0"/>
          </a:p>
        </p:txBody>
      </p:sp>
      <p:sp>
        <p:nvSpPr>
          <p:cNvPr id="8" name="Text 3"/>
          <p:cNvSpPr txBox="1"/>
          <p:nvPr/>
        </p:nvSpPr>
        <p:spPr>
          <a:xfrm>
            <a:off x="1127455" y="3611880"/>
            <a:ext cx="10515600" cy="365760"/>
          </a:xfrm>
          <a:prstGeom prst="rect">
            <a:avLst/>
          </a:prstGeom>
          <a:noFill/>
          <a:ln/>
        </p:spPr>
        <p:txBody>
          <a:bodyPr wrap="square" lIns="0" tIns="0" rIns="0" bIns="0" rtlCol="0" anchor="t"/>
          <a:lstStyle/>
          <a:p>
            <a:pPr rtl="1" algn="r" indent="0" marL="0">
              <a:buNone/>
            </a:pPr>
            <a:r>
              <a:rPr lang="ar-SA" altLang="en-US" sz="1500" dirty="0">
                <a:solidFill>
                  <a:srgbClr val="C3CBD6"/>
                </a:solidFill>
                <a:latin typeface="Arial" pitchFamily="34" charset="0"/>
                <a:ea typeface="Arial" pitchFamily="34" charset="-122"/>
                <a:cs typeface="Arial" pitchFamily="34" charset="-120"/>
              </a:rPr>
              <a:t>الرؤية الجديدة التكاملية للصيانة والمقاولات  ·  جدة، المملكة العربية السعودية</a:t>
            </a:r>
            <a:endParaRPr lang="ar-SA" sz="1500" dirty="0"/>
          </a:p>
        </p:txBody>
      </p:sp>
      <p:sp>
        <p:nvSpPr>
          <p:cNvPr id="9" name="Shape 4"/>
          <p:cNvSpPr/>
          <p:nvPr/>
        </p:nvSpPr>
        <p:spPr>
          <a:xfrm>
            <a:off x="7894015" y="4343400"/>
            <a:ext cx="3749040" cy="1691640"/>
          </a:xfrm>
          <a:prstGeom prst="rect">
            <a:avLst/>
          </a:prstGeom>
          <a:solidFill>
            <a:srgbClr val="182131">
              <a:alpha val="90000"/>
            </a:srgbClr>
          </a:solidFill>
          <a:ln w="9525">
            <a:solidFill>
              <a:srgbClr val="2A3547"/>
            </a:solidFill>
            <a:prstDash val="solid"/>
          </a:ln>
        </p:spPr>
      </p:sp>
      <p:sp>
        <p:nvSpPr>
          <p:cNvPr id="10" name="Text 5"/>
          <p:cNvSpPr txBox="1"/>
          <p:nvPr/>
        </p:nvSpPr>
        <p:spPr>
          <a:xfrm>
            <a:off x="8168335" y="4572000"/>
            <a:ext cx="3200400" cy="228600"/>
          </a:xfrm>
          <a:prstGeom prst="rect">
            <a:avLst/>
          </a:prstGeom>
          <a:noFill/>
          <a:ln/>
        </p:spPr>
        <p:txBody>
          <a:bodyPr wrap="square" lIns="0" tIns="0" rIns="0" bIns="0" rtlCol="0" anchor="t"/>
          <a:lstStyle/>
          <a:p>
            <a:pPr rtl="1" algn="r" indent="0" marL="0">
              <a:buNone/>
            </a:pPr>
            <a:r>
              <a:rPr lang="ar-SA" altLang="en-US" sz="1180" b="1" dirty="0">
                <a:solidFill>
                  <a:srgbClr val="2DB8E0"/>
                </a:solidFill>
                <a:latin typeface="Arial" pitchFamily="34" charset="0"/>
                <a:ea typeface="Arial" pitchFamily="34" charset="-122"/>
                <a:cs typeface="Arial" pitchFamily="34" charset="-120"/>
              </a:rPr>
              <a:t>المدير العام</a:t>
            </a:r>
            <a:endParaRPr lang="ar-SA" sz="1180" dirty="0"/>
          </a:p>
        </p:txBody>
      </p:sp>
      <p:sp>
        <p:nvSpPr>
          <p:cNvPr id="11" name="Text 6"/>
          <p:cNvSpPr txBox="1"/>
          <p:nvPr/>
        </p:nvSpPr>
        <p:spPr>
          <a:xfrm>
            <a:off x="8168335" y="4800600"/>
            <a:ext cx="3200400" cy="411480"/>
          </a:xfrm>
          <a:prstGeom prst="rect">
            <a:avLst/>
          </a:prstGeom>
          <a:noFill/>
          <a:ln/>
        </p:spPr>
        <p:txBody>
          <a:bodyPr wrap="square" lIns="0" tIns="0" rIns="0" bIns="0" rtlCol="0" anchor="ctr"/>
          <a:lstStyle/>
          <a:p>
            <a:pPr rtl="1" algn="r" indent="0" marL="0">
              <a:buNone/>
            </a:pPr>
            <a:r>
              <a:rPr lang="ar-SA" altLang="en-US" sz="1800" b="1" dirty="0">
                <a:solidFill>
                  <a:srgbClr val="FFFFFF"/>
                </a:solidFill>
                <a:latin typeface="Arial" pitchFamily="34" charset="0"/>
                <a:ea typeface="Arial" pitchFamily="34" charset="-122"/>
                <a:cs typeface="Arial" pitchFamily="34" charset="-120"/>
              </a:rPr>
              <a:t>عزام الصايح</a:t>
            </a:r>
            <a:endParaRPr lang="ar-SA" sz="1800" dirty="0"/>
          </a:p>
        </p:txBody>
      </p:sp>
      <p:pic>
        <p:nvPicPr>
          <p:cNvPr id="12" name="Image 3" descr="preencoded.png">    </p:cNvPr>
          <p:cNvPicPr>
            <a:picLocks noChangeAspect="1"/>
          </p:cNvPicPr>
          <p:nvPr/>
        </p:nvPicPr>
        <p:blipFill>
          <a:blip r:embed="rId4"/>
          <a:stretch>
            <a:fillRect/>
          </a:stretch>
        </p:blipFill>
        <p:spPr>
          <a:xfrm>
            <a:off x="11167567" y="5321808"/>
            <a:ext cx="201168" cy="201168"/>
          </a:xfrm>
          <a:prstGeom prst="rect">
            <a:avLst/>
          </a:prstGeom>
        </p:spPr>
      </p:pic>
      <p:sp>
        <p:nvSpPr>
          <p:cNvPr id="13" name="Text 7"/>
          <p:cNvSpPr txBox="1"/>
          <p:nvPr/>
        </p:nvSpPr>
        <p:spPr>
          <a:xfrm>
            <a:off x="8168335" y="5276088"/>
            <a:ext cx="2880360" cy="292608"/>
          </a:xfrm>
          <a:prstGeom prst="rect">
            <a:avLst/>
          </a:prstGeom>
          <a:noFill/>
          <a:ln/>
        </p:spPr>
        <p:txBody>
          <a:bodyPr wrap="square" lIns="0" tIns="0" rIns="0" bIns="0" rtlCol="0" anchor="ctr"/>
          <a:lstStyle/>
          <a:p>
            <a:pPr algn="r" indent="0" marL="0">
              <a:buNone/>
            </a:pPr>
            <a:r>
              <a:rPr lang="en-US" sz="1300" dirty="0">
                <a:solidFill>
                  <a:srgbClr val="FFFFFF"/>
                </a:solidFill>
                <a:latin typeface="Arial" pitchFamily="34" charset="0"/>
                <a:ea typeface="Arial" pitchFamily="34" charset="-122"/>
                <a:cs typeface="Arial" pitchFamily="34" charset="-120"/>
              </a:rPr>
              <a:t>a.alsayeh@nvi-sa.com</a:t>
            </a:r>
            <a:endParaRPr lang="en-US" sz="1300" dirty="0"/>
          </a:p>
        </p:txBody>
      </p:sp>
      <p:pic>
        <p:nvPicPr>
          <p:cNvPr id="14" name="Image 4" descr="preencoded.png">    </p:cNvPr>
          <p:cNvPicPr>
            <a:picLocks noChangeAspect="1"/>
          </p:cNvPicPr>
          <p:nvPr/>
        </p:nvPicPr>
        <p:blipFill>
          <a:blip r:embed="rId5"/>
          <a:stretch>
            <a:fillRect/>
          </a:stretch>
        </p:blipFill>
        <p:spPr>
          <a:xfrm>
            <a:off x="11167567" y="5641848"/>
            <a:ext cx="201168" cy="201168"/>
          </a:xfrm>
          <a:prstGeom prst="rect">
            <a:avLst/>
          </a:prstGeom>
        </p:spPr>
      </p:pic>
      <p:sp>
        <p:nvSpPr>
          <p:cNvPr id="15" name="Text 8"/>
          <p:cNvSpPr txBox="1"/>
          <p:nvPr/>
        </p:nvSpPr>
        <p:spPr>
          <a:xfrm>
            <a:off x="8168335" y="5596128"/>
            <a:ext cx="2880360" cy="292608"/>
          </a:xfrm>
          <a:prstGeom prst="rect">
            <a:avLst/>
          </a:prstGeom>
          <a:noFill/>
          <a:ln/>
        </p:spPr>
        <p:txBody>
          <a:bodyPr wrap="square" lIns="0" tIns="0" rIns="0" bIns="0" rtlCol="0" anchor="ctr"/>
          <a:lstStyle/>
          <a:p>
            <a:pPr algn="r" indent="0" marL="0">
              <a:buNone/>
            </a:pPr>
            <a:r>
              <a:rPr lang="en-US" sz="1300" dirty="0">
                <a:solidFill>
                  <a:srgbClr val="FFFFFF"/>
                </a:solidFill>
                <a:latin typeface="Arial" pitchFamily="34" charset="0"/>
                <a:ea typeface="Arial" pitchFamily="34" charset="-122"/>
                <a:cs typeface="Arial" pitchFamily="34" charset="-120"/>
              </a:rPr>
              <a:t>+966 50 597 6970</a:t>
            </a:r>
            <a:endParaRPr lang="en-US" sz="1300" dirty="0"/>
          </a:p>
        </p:txBody>
      </p:sp>
      <p:sp>
        <p:nvSpPr>
          <p:cNvPr id="16" name="Shape 9"/>
          <p:cNvSpPr/>
          <p:nvPr/>
        </p:nvSpPr>
        <p:spPr>
          <a:xfrm>
            <a:off x="3870655" y="4343400"/>
            <a:ext cx="3749040" cy="1691640"/>
          </a:xfrm>
          <a:prstGeom prst="rect">
            <a:avLst/>
          </a:prstGeom>
          <a:solidFill>
            <a:srgbClr val="182131">
              <a:alpha val="90000"/>
            </a:srgbClr>
          </a:solidFill>
          <a:ln w="9525">
            <a:solidFill>
              <a:srgbClr val="2A3547"/>
            </a:solidFill>
            <a:prstDash val="solid"/>
          </a:ln>
        </p:spPr>
      </p:sp>
      <p:sp>
        <p:nvSpPr>
          <p:cNvPr id="17" name="Text 10"/>
          <p:cNvSpPr txBox="1"/>
          <p:nvPr/>
        </p:nvSpPr>
        <p:spPr>
          <a:xfrm>
            <a:off x="4144975" y="4572000"/>
            <a:ext cx="3200400" cy="228600"/>
          </a:xfrm>
          <a:prstGeom prst="rect">
            <a:avLst/>
          </a:prstGeom>
          <a:noFill/>
          <a:ln/>
        </p:spPr>
        <p:txBody>
          <a:bodyPr wrap="square" lIns="0" tIns="0" rIns="0" bIns="0" rtlCol="0" anchor="t"/>
          <a:lstStyle/>
          <a:p>
            <a:pPr rtl="1" algn="r" indent="0" marL="0">
              <a:buNone/>
            </a:pPr>
            <a:r>
              <a:rPr lang="ar-SA" altLang="en-US" sz="1180" b="1" dirty="0">
                <a:solidFill>
                  <a:srgbClr val="2DB8E0"/>
                </a:solidFill>
                <a:latin typeface="Arial" pitchFamily="34" charset="0"/>
                <a:ea typeface="Arial" pitchFamily="34" charset="-122"/>
                <a:cs typeface="Arial" pitchFamily="34" charset="-120"/>
              </a:rPr>
              <a:t>مدير المبيعات</a:t>
            </a:r>
            <a:endParaRPr lang="ar-SA" sz="1180" dirty="0"/>
          </a:p>
        </p:txBody>
      </p:sp>
      <p:sp>
        <p:nvSpPr>
          <p:cNvPr id="18" name="Text 11"/>
          <p:cNvSpPr txBox="1"/>
          <p:nvPr/>
        </p:nvSpPr>
        <p:spPr>
          <a:xfrm>
            <a:off x="4144975" y="4800600"/>
            <a:ext cx="3200400" cy="411480"/>
          </a:xfrm>
          <a:prstGeom prst="rect">
            <a:avLst/>
          </a:prstGeom>
          <a:noFill/>
          <a:ln/>
        </p:spPr>
        <p:txBody>
          <a:bodyPr wrap="square" lIns="0" tIns="0" rIns="0" bIns="0" rtlCol="0" anchor="ctr"/>
          <a:lstStyle/>
          <a:p>
            <a:pPr rtl="1" algn="r" indent="0" marL="0">
              <a:buNone/>
            </a:pPr>
            <a:r>
              <a:rPr lang="ar-SA" altLang="en-US" sz="1800" b="1" dirty="0">
                <a:solidFill>
                  <a:srgbClr val="FFFFFF"/>
                </a:solidFill>
                <a:latin typeface="Arial" pitchFamily="34" charset="0"/>
                <a:ea typeface="Arial" pitchFamily="34" charset="-122"/>
                <a:cs typeface="Arial" pitchFamily="34" charset="-120"/>
              </a:rPr>
              <a:t>عبد الحي حمبروش</a:t>
            </a:r>
            <a:endParaRPr lang="ar-SA" sz="1800" dirty="0"/>
          </a:p>
        </p:txBody>
      </p:sp>
      <p:pic>
        <p:nvPicPr>
          <p:cNvPr id="19" name="Image 5" descr="preencoded.png">    </p:cNvPr>
          <p:cNvPicPr>
            <a:picLocks noChangeAspect="1"/>
          </p:cNvPicPr>
          <p:nvPr/>
        </p:nvPicPr>
        <p:blipFill>
          <a:blip r:embed="rId6"/>
          <a:stretch>
            <a:fillRect/>
          </a:stretch>
        </p:blipFill>
        <p:spPr>
          <a:xfrm>
            <a:off x="7144207" y="5321808"/>
            <a:ext cx="201168" cy="201168"/>
          </a:xfrm>
          <a:prstGeom prst="rect">
            <a:avLst/>
          </a:prstGeom>
        </p:spPr>
      </p:pic>
      <p:sp>
        <p:nvSpPr>
          <p:cNvPr id="20" name="Text 12"/>
          <p:cNvSpPr txBox="1"/>
          <p:nvPr/>
        </p:nvSpPr>
        <p:spPr>
          <a:xfrm>
            <a:off x="4144975" y="5276088"/>
            <a:ext cx="2880360" cy="292608"/>
          </a:xfrm>
          <a:prstGeom prst="rect">
            <a:avLst/>
          </a:prstGeom>
          <a:noFill/>
          <a:ln/>
        </p:spPr>
        <p:txBody>
          <a:bodyPr wrap="square" lIns="0" tIns="0" rIns="0" bIns="0" rtlCol="0" anchor="ctr"/>
          <a:lstStyle/>
          <a:p>
            <a:pPr algn="r" indent="0" marL="0">
              <a:buNone/>
            </a:pPr>
            <a:r>
              <a:rPr lang="en-US" sz="1300" dirty="0">
                <a:solidFill>
                  <a:srgbClr val="FFFFFF"/>
                </a:solidFill>
                <a:latin typeface="Arial" pitchFamily="34" charset="0"/>
                <a:ea typeface="Arial" pitchFamily="34" charset="-122"/>
                <a:cs typeface="Arial" pitchFamily="34" charset="-120"/>
              </a:rPr>
              <a:t>a.ahmed@nvi-sa.com</a:t>
            </a:r>
            <a:endParaRPr lang="en-US" sz="1300" dirty="0"/>
          </a:p>
        </p:txBody>
      </p:sp>
      <p:pic>
        <p:nvPicPr>
          <p:cNvPr id="21" name="Image 6" descr="preencoded.png">    </p:cNvPr>
          <p:cNvPicPr>
            <a:picLocks noChangeAspect="1"/>
          </p:cNvPicPr>
          <p:nvPr/>
        </p:nvPicPr>
        <p:blipFill>
          <a:blip r:embed="rId7"/>
          <a:stretch>
            <a:fillRect/>
          </a:stretch>
        </p:blipFill>
        <p:spPr>
          <a:xfrm>
            <a:off x="7144207" y="5641848"/>
            <a:ext cx="201168" cy="201168"/>
          </a:xfrm>
          <a:prstGeom prst="rect">
            <a:avLst/>
          </a:prstGeom>
        </p:spPr>
      </p:pic>
      <p:sp>
        <p:nvSpPr>
          <p:cNvPr id="22" name="Text 13"/>
          <p:cNvSpPr txBox="1"/>
          <p:nvPr/>
        </p:nvSpPr>
        <p:spPr>
          <a:xfrm>
            <a:off x="4144975" y="5596128"/>
            <a:ext cx="2880360" cy="292608"/>
          </a:xfrm>
          <a:prstGeom prst="rect">
            <a:avLst/>
          </a:prstGeom>
          <a:noFill/>
          <a:ln/>
        </p:spPr>
        <p:txBody>
          <a:bodyPr wrap="square" lIns="0" tIns="0" rIns="0" bIns="0" rtlCol="0" anchor="ctr"/>
          <a:lstStyle/>
          <a:p>
            <a:pPr algn="r" indent="0" marL="0">
              <a:buNone/>
            </a:pPr>
            <a:r>
              <a:rPr lang="en-US" sz="1300" dirty="0">
                <a:solidFill>
                  <a:srgbClr val="FFFFFF"/>
                </a:solidFill>
                <a:latin typeface="Arial" pitchFamily="34" charset="0"/>
                <a:ea typeface="Arial" pitchFamily="34" charset="-122"/>
                <a:cs typeface="Arial" pitchFamily="34" charset="-120"/>
              </a:rPr>
              <a:t>+966 55 069 6190</a:t>
            </a:r>
            <a:endParaRPr lang="en-US" sz="1300" dirty="0"/>
          </a:p>
        </p:txBody>
      </p:sp>
      <p:sp>
        <p:nvSpPr>
          <p:cNvPr id="23" name="Shape 14"/>
          <p:cNvSpPr/>
          <p:nvPr/>
        </p:nvSpPr>
        <p:spPr>
          <a:xfrm>
            <a:off x="548640" y="4343400"/>
            <a:ext cx="3047695" cy="1691640"/>
          </a:xfrm>
          <a:prstGeom prst="rect">
            <a:avLst/>
          </a:prstGeom>
          <a:solidFill>
            <a:srgbClr val="E5177B"/>
          </a:solidFill>
          <a:ln w="12700">
            <a:solidFill>
              <a:srgbClr val="E5177B"/>
            </a:solidFill>
            <a:prstDash val="solid"/>
          </a:ln>
        </p:spPr>
      </p:sp>
      <p:sp>
        <p:nvSpPr>
          <p:cNvPr id="24" name="Text 15"/>
          <p:cNvSpPr txBox="1"/>
          <p:nvPr/>
        </p:nvSpPr>
        <p:spPr>
          <a:xfrm>
            <a:off x="822960" y="4572000"/>
            <a:ext cx="2499055" cy="228600"/>
          </a:xfrm>
          <a:prstGeom prst="rect">
            <a:avLst/>
          </a:prstGeom>
          <a:noFill/>
          <a:ln/>
        </p:spPr>
        <p:txBody>
          <a:bodyPr wrap="square" lIns="0" tIns="0" rIns="0" bIns="0" rtlCol="0" anchor="t"/>
          <a:lstStyle/>
          <a:p>
            <a:pPr rtl="1" algn="r" indent="0" marL="0">
              <a:buNone/>
            </a:pPr>
            <a:r>
              <a:rPr lang="ar-SA" altLang="en-US" sz="1180" b="1" dirty="0">
                <a:solidFill>
                  <a:srgbClr val="FFFFFF"/>
                </a:solidFill>
                <a:latin typeface="Arial" pitchFamily="34" charset="0"/>
                <a:ea typeface="Arial" pitchFamily="34" charset="-122"/>
                <a:cs typeface="Arial" pitchFamily="34" charset="-120"/>
              </a:rPr>
              <a:t>الموقع الإلكتروني</a:t>
            </a:r>
            <a:endParaRPr lang="ar-SA" sz="1180" dirty="0"/>
          </a:p>
        </p:txBody>
      </p:sp>
      <p:pic>
        <p:nvPicPr>
          <p:cNvPr id="25" name="Image 7" descr="preencoded.png">    </p:cNvPr>
          <p:cNvPicPr>
            <a:picLocks noChangeAspect="1"/>
          </p:cNvPicPr>
          <p:nvPr/>
        </p:nvPicPr>
        <p:blipFill>
          <a:blip r:embed="rId8"/>
          <a:stretch>
            <a:fillRect/>
          </a:stretch>
        </p:blipFill>
        <p:spPr>
          <a:xfrm>
            <a:off x="2992831" y="4983480"/>
            <a:ext cx="329184" cy="329184"/>
          </a:xfrm>
          <a:prstGeom prst="rect">
            <a:avLst/>
          </a:prstGeom>
        </p:spPr>
      </p:pic>
      <p:sp>
        <p:nvSpPr>
          <p:cNvPr id="26" name="Text 16"/>
          <p:cNvSpPr txBox="1"/>
          <p:nvPr/>
        </p:nvSpPr>
        <p:spPr>
          <a:xfrm>
            <a:off x="731520" y="4937760"/>
            <a:ext cx="2133295" cy="411480"/>
          </a:xfrm>
          <a:prstGeom prst="rect">
            <a:avLst/>
          </a:prstGeom>
          <a:noFill/>
          <a:ln/>
        </p:spPr>
        <p:txBody>
          <a:bodyPr wrap="square" lIns="0" tIns="0" rIns="0" bIns="0" rtlCol="0" anchor="ctr"/>
          <a:lstStyle/>
          <a:p>
            <a:pPr algn="r" indent="0" marL="0">
              <a:buNone/>
            </a:pPr>
            <a:r>
              <a:rPr lang="en-US" sz="1800" b="1" dirty="0">
                <a:solidFill>
                  <a:srgbClr val="FFFFFF"/>
                </a:solidFill>
                <a:latin typeface="Arial" pitchFamily="34" charset="0"/>
                <a:ea typeface="Arial" pitchFamily="34" charset="-122"/>
                <a:cs typeface="Arial" pitchFamily="34" charset="-120"/>
              </a:rPr>
              <a:t>www.nvi-sa.com</a:t>
            </a:r>
            <a:endParaRPr lang="en-US" sz="1800" dirty="0"/>
          </a:p>
        </p:txBody>
      </p:sp>
      <p:sp>
        <p:nvSpPr>
          <p:cNvPr id="27" name="Text 17"/>
          <p:cNvSpPr txBox="1"/>
          <p:nvPr/>
        </p:nvSpPr>
        <p:spPr>
          <a:xfrm>
            <a:off x="1097280" y="6446520"/>
            <a:ext cx="10545775" cy="228600"/>
          </a:xfrm>
          <a:prstGeom prst="rect">
            <a:avLst/>
          </a:prstGeom>
          <a:noFill/>
          <a:ln/>
        </p:spPr>
        <p:txBody>
          <a:bodyPr wrap="square" lIns="0" tIns="0" rIns="0" bIns="0" rtlCol="0" anchor="ctr"/>
          <a:lstStyle/>
          <a:p>
            <a:pPr rtl="1" algn="r" indent="0" marL="0">
              <a:buNone/>
            </a:pPr>
            <a:r>
              <a:rPr lang="ar-SA" altLang="en-US" sz="1000" dirty="0">
                <a:solidFill>
                  <a:srgbClr val="8D97A5"/>
                </a:solidFill>
                <a:latin typeface="Arial" pitchFamily="34" charset="0"/>
                <a:ea typeface="Arial" pitchFamily="34" charset="-122"/>
                <a:cs typeface="Arial" pitchFamily="34" charset="-120"/>
              </a:rPr>
              <a:t>الرؤية الجديدة التكاملية  ·  ملف الشركة</a:t>
            </a:r>
            <a:endParaRPr lang="ar-SA" sz="1000" dirty="0"/>
          </a:p>
        </p:txBody>
      </p:sp>
      <p:sp>
        <p:nvSpPr>
          <p:cNvPr id="28" name="Text 18"/>
          <p:cNvSpPr txBox="1"/>
          <p:nvPr/>
        </p:nvSpPr>
        <p:spPr>
          <a:xfrm>
            <a:off x="548640" y="6446520"/>
            <a:ext cx="548640" cy="228600"/>
          </a:xfrm>
          <a:prstGeom prst="rect">
            <a:avLst/>
          </a:prstGeom>
          <a:noFill/>
          <a:ln/>
        </p:spPr>
        <p:txBody>
          <a:bodyPr wrap="square" lIns="0" tIns="0" rIns="0" bIns="0" rtlCol="0" anchor="ctr"/>
          <a:lstStyle/>
          <a:p>
            <a:pPr rtl="1" algn="l" indent="0" marL="0">
              <a:buNone/>
            </a:pPr>
            <a:r>
              <a:rPr lang="ar-SA" altLang="en-US" sz="1060" b="1" dirty="0">
                <a:solidFill>
                  <a:srgbClr val="8D97A5"/>
                </a:solidFill>
                <a:latin typeface="Arial" pitchFamily="34" charset="0"/>
                <a:ea typeface="Arial" pitchFamily="34" charset="-122"/>
                <a:cs typeface="Arial" pitchFamily="34" charset="-120"/>
              </a:rPr>
              <a:t>16</a:t>
            </a:r>
            <a:endParaRPr lang="ar-SA" sz="10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New Vision Integral for Maintenance and Contracting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ملف الشركة</dc:title>
  <dc:subject>PptxGenJS Presentation</dc:subject>
  <dc:creator>New Vision Integral for Maintenance and Contracting</dc:creator>
  <cp:lastModifiedBy>New Vision Integral for Maintenance and Contracting</cp:lastModifiedBy>
  <cp:revision>1</cp:revision>
  <dcterms:created xsi:type="dcterms:W3CDTF">2026-09-29T15:28:45Z</dcterms:created>
  <dcterms:modified xsi:type="dcterms:W3CDTF">2026-09-29T15:28:45Z</dcterms:modified>
</cp:coreProperties>
</file>