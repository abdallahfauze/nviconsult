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nvi-sa.com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a.alsayeh@nvi-sa.com" TargetMode="External"/><Relationship Id="rId4" Type="http://schemas.openxmlformats.org/officeDocument/2006/relationships/hyperlink" Target="https://wa.me/966505976970" TargetMode="External"/><Relationship Id="rId5" Type="http://schemas.openxmlformats.org/officeDocument/2006/relationships/hyperlink" Target="https://wa.me/966505976970" TargetMode="External"/><Relationship Id="rId6" Type="http://schemas.openxmlformats.org/officeDocument/2006/relationships/hyperlink" Target="mailto:a.ahmed@nvi-sa.com" TargetMode="External"/><Relationship Id="rId7" Type="http://schemas.openxmlformats.org/officeDocument/2006/relationships/hyperlink" Target="https://wa.me/966550696190" TargetMode="External"/><Relationship Id="rId8" Type="http://schemas.openxmlformats.org/officeDocument/2006/relationships/hyperlink" Target="https://wa.me/966550696190" TargetMode="External"/><Relationship Id="rId9" Type="http://schemas.openxmlformats.org/officeDocument/2006/relationships/hyperlink" Target="https://www.nvi-sa.com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lin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NVIConsult/build/assets/cov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4" name="Image 2" descr="/home/user/NVIConsult/build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377440" cy="1534803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2514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4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 PROFILE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28346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WORRY-FREE CONSTRUCTION.</a:t>
            </a:r>
            <a:endParaRPr lang="en-US" sz="38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389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New Vision Integral for Maintenance &amp; Contracting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754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 ·  Contracting  ·  Fit-Out  ·  MEP  ·  Facility Maintenance</a:t>
            </a:r>
            <a:endParaRPr lang="en-US" sz="10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9788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Jeddah  ·  Kingdom of Saudi Arabia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1447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u="sng" dirty="0">
                <a:solidFill>
                  <a:srgbClr val="5B54A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www.nvi-sa.com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384048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WHO WE ARE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7736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Established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322244" y="1325880"/>
            <a:ext cx="27736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Jeddah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22244" y="196596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Headquarters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095848" y="1325880"/>
            <a:ext cx="27736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35+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095848" y="196596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Years of expertise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869451" y="1325880"/>
            <a:ext cx="27736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869451" y="1965960"/>
            <a:ext cx="2773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Service lines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560320"/>
            <a:ext cx="1109441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9260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new Jeddah contractor, backed by 35+ years of expertise.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New Vision Integral for Maintenance &amp; Contracting is a Jeddah-based company established in 2024, providing comprehensive maintenance and contracting solutions tailored to each client's needs.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team brings over 35 years of hands-on expertise, and our central Jeddah location lets us serve a diverse range of sectors efficiently.</a:t>
            </a:r>
            <a:endParaRPr lang="en-US" sz="1200" dirty="0"/>
          </a:p>
        </p:txBody>
      </p:sp>
      <p:pic>
        <p:nvPicPr>
          <p:cNvPr id="16" name="Image 0" descr="/home/user/NVIConsult/build/assets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6423" y="2971800"/>
            <a:ext cx="5056632" cy="32918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44652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vi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VISION, MISSION &amp; VALUES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Our Vision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371600"/>
            <a:ext cx="49679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 become a leading building firm, from creative design solutions and maintenance to execution and delivery, that resolves our clients' social, environmental and economic needs.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71576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880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Our Mission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880360"/>
            <a:ext cx="4967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 earn our clients' trust and satisfaction, and build long-term relationships through the projects we deliver and maintain.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85876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069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What we stand for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069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4069080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Customer satisfaction, never compromised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45720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572000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Integrity &amp; honesty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2468880" y="5074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5074920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Effective, principled management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5577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5577840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Continuous development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384048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OUR APPROACH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pic>
        <p:nvPicPr>
          <p:cNvPr id="5" name="Image 0" descr="/home/user/NVIConsult/build/assets/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055" y="1371600"/>
            <a:ext cx="2286000" cy="1264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Worry-Free Construction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don't just build things. We are committed to enhancing people's lives through the built environment. Doing the job properly the first time, with preventive maintenance planned from the beginning, delivers long-term savings for our clients.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249928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70332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06908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Accurate Engineering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754880"/>
            <a:ext cx="24992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Getting it right the first time.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13684" y="3520440"/>
            <a:ext cx="249928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13684" y="370332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413684" y="406908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Detail-Oriented Project Management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413684" y="4754880"/>
            <a:ext cx="24992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phase planned, tracked and controlled.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8728" y="3520440"/>
            <a:ext cx="249928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8728" y="370332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06908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Timely Communication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4754880"/>
            <a:ext cx="24992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Clients kept informed at every stage.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143771" y="3520440"/>
            <a:ext cx="249928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3771" y="370332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406908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Preventive Maintenance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3771" y="4754880"/>
            <a:ext cx="24992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Planned from day one for long-term savings.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384048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WHAT WE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Eight integrated service lines. One accountable partner.</a:t>
            </a:r>
            <a:endParaRPr lang="en-US" sz="1250" dirty="0"/>
          </a:p>
        </p:txBody>
      </p:sp>
      <p:pic>
        <p:nvPicPr>
          <p:cNvPr id="6" name="Image 0" descr="/home/user/NVIConsult/build/assets/t_e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2567864" cy="1600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4930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349300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Engineering &amp; Planning</a:t>
            </a:r>
            <a:endParaRPr lang="en-US" sz="1300" dirty="0"/>
          </a:p>
        </p:txBody>
      </p:sp>
      <p:pic>
        <p:nvPicPr>
          <p:cNvPr id="9" name="Image 1" descr="/home/user/NVIConsult/build/assets/t_st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824" y="1783080"/>
            <a:ext cx="2567864" cy="1600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390824" y="34930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04.2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3985184" y="349300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Contracting &amp; Structure</a:t>
            </a:r>
            <a:endParaRPr lang="en-US" sz="1300" dirty="0"/>
          </a:p>
        </p:txBody>
      </p:sp>
      <p:pic>
        <p:nvPicPr>
          <p:cNvPr id="12" name="Image 2" descr="/home/user/NVIConsult/build/assets/t_fi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1783080"/>
            <a:ext cx="2567864" cy="1600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33008" y="34930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04.3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6827368" y="349300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Fit-Out &amp; Finishing</a:t>
            </a:r>
            <a:endParaRPr lang="en-US" sz="1300" dirty="0"/>
          </a:p>
        </p:txBody>
      </p:sp>
      <p:pic>
        <p:nvPicPr>
          <p:cNvPr id="15" name="Image 3" descr="/home/user/NVIConsult/build/assets/t_e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5191" y="1783080"/>
            <a:ext cx="2567864" cy="16002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075191" y="34930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04.4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9669551" y="349300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Electrical Works</a:t>
            </a:r>
            <a:endParaRPr lang="en-US" sz="1300" dirty="0"/>
          </a:p>
        </p:txBody>
      </p:sp>
      <p:pic>
        <p:nvPicPr>
          <p:cNvPr id="18" name="Image 4" descr="/home/user/NVIConsult/build/assets/t_low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114800"/>
            <a:ext cx="2567864" cy="1600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8640" y="5824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04.5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1143000" y="582472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Low Current Systems</a:t>
            </a:r>
            <a:endParaRPr lang="en-US" sz="1300" dirty="0"/>
          </a:p>
        </p:txBody>
      </p:sp>
      <p:pic>
        <p:nvPicPr>
          <p:cNvPr id="21" name="Image 5" descr="/home/user/NVIConsult/build/assets/t_mec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824" y="4114800"/>
            <a:ext cx="2567864" cy="1600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3390824" y="5824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04.6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3985184" y="582472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Mechanical &amp; HVAC</a:t>
            </a:r>
            <a:endParaRPr lang="en-US" sz="1300" dirty="0"/>
          </a:p>
        </p:txBody>
      </p:sp>
      <p:pic>
        <p:nvPicPr>
          <p:cNvPr id="24" name="Image 6" descr="/home/user/NVIConsult/build/assets/t_plu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3008" y="4114800"/>
            <a:ext cx="2567864" cy="16002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233008" y="5824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04.7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6827368" y="582472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Plumbing &amp; Fire Fighting</a:t>
            </a:r>
            <a:endParaRPr lang="en-US" sz="1300" dirty="0"/>
          </a:p>
        </p:txBody>
      </p:sp>
      <p:pic>
        <p:nvPicPr>
          <p:cNvPr id="27" name="Image 7" descr="/home/user/NVIConsult/build/assets/t_mnt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5191" y="4114800"/>
            <a:ext cx="2567864" cy="16002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9075191" y="58247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04.8</a:t>
            </a:r>
            <a:endParaRPr lang="en-US" sz="1000" dirty="0"/>
          </a:p>
        </p:txBody>
      </p:sp>
      <p:sp>
        <p:nvSpPr>
          <p:cNvPr id="29" name="Text 19"/>
          <p:cNvSpPr txBox="1"/>
          <p:nvPr/>
        </p:nvSpPr>
        <p:spPr>
          <a:xfrm>
            <a:off x="9669551" y="5824728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Facility Maintenance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48640" y="644652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31" name="Text 2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e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ENGINEERING &amp; PLANNING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Disciplined project management applied end to end, from feasibility to handover.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48840"/>
            <a:ext cx="326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01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3261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Define &amp; Evaluate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852928"/>
            <a:ext cx="3261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 definition &amp; characteristics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Portfolio, programme &amp; operations alignment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 performance &amp; strategic planning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Feasibility study &amp; project evaluation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175608" y="201168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75608" y="2148840"/>
            <a:ext cx="326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02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175608" y="2423160"/>
            <a:ext cx="3261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Select &amp; Plan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75608" y="2852928"/>
            <a:ext cx="3261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Commercial vs. governmental profitability criteria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 selection &amp; project charter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Scope planning &amp; master schedule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Cost, quality &amp; human-resources planning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416052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297680"/>
            <a:ext cx="326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03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572000"/>
            <a:ext cx="3261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Control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001768"/>
            <a:ext cx="3261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Communications, risk &amp; opportunity management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Needs &amp; supplies planning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Analysis methods &amp; change requests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75608" y="416052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75608" y="4297680"/>
            <a:ext cx="326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04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4175608" y="4572000"/>
            <a:ext cx="3261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Execute &amp; Close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75608" y="5001768"/>
            <a:ext cx="3261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 phases &amp; their management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Organisation &amp; execution</a:t>
            </a:r>
            <a:endParaRPr lang="en-US" sz="1050" dirty="0"/>
          </a:p>
          <a:p>
            <a:pPr algn="l"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Closure &amp; project delivery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s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CONTRACTING &amp; STRUCTURE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Core structural contracting, led by a civil engineer with 35 years' experience, including Saudi Binladen Group.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574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057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Concrete Works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788920"/>
            <a:ext cx="3291840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834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Steel Works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3291840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3977640"/>
            <a:ext cx="3291840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605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0749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years of civil engineering leadership</a:t>
            </a:r>
            <a:endParaRPr lang="en-US" sz="1100" dirty="0"/>
          </a:p>
        </p:txBody>
      </p:sp>
      <p:pic>
        <p:nvPicPr>
          <p:cNvPr id="16" name="Image 1" descr="/home/user/NVIConsult/build/assets/str_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259" y="2057400"/>
            <a:ext cx="3305556" cy="41605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f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FIT-OUT &amp; FINISHING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Interior design and every finishing trade, delivered under one roof.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011680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Interior design &amp; fit-out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496312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54203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542032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Landscaping works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3026664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072384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Tile works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3557016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60273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602736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Woodworking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087368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75608" y="201168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724248" y="2011680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Glass works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175608" y="2496312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75608" y="254203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724248" y="2542032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Painting works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175608" y="3026664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175608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724248" y="3072384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Gypsum works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4175608" y="3557016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75608" y="360273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724248" y="3602736"/>
            <a:ext cx="2712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Aluminium &amp; metal structures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175608" y="4087368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pic>
        <p:nvPicPr>
          <p:cNvPr id="31" name="Image 1" descr="/home/user/NVIConsult/build/assets/fit_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343400"/>
            <a:ext cx="3261208" cy="1920240"/>
          </a:xfrm>
          <a:prstGeom prst="rect">
            <a:avLst/>
          </a:prstGeom>
        </p:spPr>
      </p:pic>
      <p:pic>
        <p:nvPicPr>
          <p:cNvPr id="32" name="Image 2" descr="/home/user/NVIConsult/build/assets/fit_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608" y="4343400"/>
            <a:ext cx="3261208" cy="192024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e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ELECTRICAL WORKS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Complete electrical installation, from main cables to the final point.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011680"/>
            <a:ext cx="6339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Lighting fixtures &amp; points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551176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596896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596896"/>
            <a:ext cx="6339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Raceways &amp; cabling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3136392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182112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182112"/>
            <a:ext cx="6339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Power outlets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72160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767328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767328"/>
            <a:ext cx="6339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Electrical panels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4306824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352544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4352544"/>
            <a:ext cx="6339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Main cables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4892040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937760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0" y="4937760"/>
            <a:ext cx="6339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Grounding &amp; earthing systems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5477256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522976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" y="5522976"/>
            <a:ext cx="6339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Lightning protection systems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6062472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LOW CURRENT SYSTEMS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Integrated building systems for data, safety, security and communications.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011680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Data systems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624328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67004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670048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IP telephone systems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282696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32841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328416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Fire alarm systems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941064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98678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3986784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CCTV systems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599432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64515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4645152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Public address systems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25780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035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0" y="5303520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Nurse call systems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16168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175608" y="20116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724248" y="2011680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Access control systems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175608" y="2624328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75608" y="267004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724248" y="2670048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Master clock systems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175608" y="3282696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75608" y="332841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4724248" y="3328416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Building management systems (BMS)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75608" y="3941064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175608" y="398678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724248" y="3986784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IPTV &amp; audio / video systems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175608" y="4599432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175608" y="464515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724248" y="4645152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Intercom systems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175608" y="525780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175608" y="530352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41" name="Text 38"/>
          <p:cNvSpPr txBox="1"/>
          <p:nvPr/>
        </p:nvSpPr>
        <p:spPr>
          <a:xfrm>
            <a:off x="4724248" y="5303520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integrated systems, one installer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me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MECHANICAL &amp; HVAC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Cooling, air handling and air distribution systems.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5740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057400"/>
            <a:ext cx="6339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Chillers &amp; package units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0175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3017520"/>
            <a:ext cx="6339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Fan coil &amp; air handling units (FCU / AHU)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97764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977640"/>
            <a:ext cx="6339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Ductwork &amp; grilles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4892040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93776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4937760"/>
            <a:ext cx="6339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Cold &amp; hot water piping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5852160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pl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04.7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PLUMBING &amp; FIRE FIGHTING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Water supply, drainage and fire-fighting networks.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3261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PLUMBING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48716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487168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Sanitary fixtures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099816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14553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3145536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Cold &amp; hot water piping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8039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3803904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Water &amp; submersible pumps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416552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46227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4462272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Sewage piping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507492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75608" y="2011680"/>
            <a:ext cx="3261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 FIGHTING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175608" y="2395728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175608" y="248716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724248" y="2487168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Fire-fighting piping &amp; pumps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175608" y="3099816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75608" y="314553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724248" y="3145536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Valves, insulation &amp; fittings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4175608" y="3758184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175608" y="38039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724248" y="3803904"/>
            <a:ext cx="2712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Fire hose cabinets &amp; sprinklers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175608" y="4416552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s_m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04.8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384048"/>
            <a:ext cx="6110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FACILITY MAINTENANCE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024128"/>
            <a:ext cx="688817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34440"/>
            <a:ext cx="6888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Preventive maintenance, planned from the beginning, to protect our clients' investment over the long term.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011680"/>
            <a:ext cx="2712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Buildings &amp; exterior façades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78892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834640"/>
            <a:ext cx="2712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Interior decoration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61188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657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657600"/>
            <a:ext cx="2712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Electrical works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480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4480560"/>
            <a:ext cx="2712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Low-voltage systems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525780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75608" y="20116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724248" y="2011680"/>
            <a:ext cx="2712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Networks &amp; CCTV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175608" y="278892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75608" y="28346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724248" y="2834640"/>
            <a:ext cx="2712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Mechanical works &amp; air conditioning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175608" y="361188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175608" y="3657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724248" y="3657600"/>
            <a:ext cx="2712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Plumbing works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4175608" y="4434840"/>
            <a:ext cx="326120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6446520"/>
            <a:ext cx="6339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68881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384048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TRUSTED BY ESTABLISHED BRANDS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selection of the clients we have delivered for.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45429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6596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01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8600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spc="2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DUKAN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718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Dabbagh Group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68698" y="1828800"/>
            <a:ext cx="345429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68698" y="196596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02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368698" y="228600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spc="2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PANDA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368698" y="29718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Savola Group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8757" y="1828800"/>
            <a:ext cx="3454298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88757" y="196596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03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188757" y="228600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spc="2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MAZDA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188757" y="29718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Haji Husein Alireza &amp; Co. Ltd.</a:t>
            </a:r>
            <a:endParaRPr lang="en-US" sz="1200" dirty="0"/>
          </a:p>
        </p:txBody>
      </p:sp>
      <p:pic>
        <p:nvPicPr>
          <p:cNvPr id="18" name="Image 0" descr="/home/user/NVIConsult/build/assets/cli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6200"/>
            <a:ext cx="11094415" cy="23774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48640" y="644652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384048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spc="100" kern="0" dirty="0">
                <a:solidFill>
                  <a:srgbClr val="4D4D4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LEADERSHIP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pic>
        <p:nvPicPr>
          <p:cNvPr id="5" name="Image 0" descr="/home/user/NVIConsult/build/assets/p_azz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92608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GENERAL MANAGER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303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Azzam Al Sayeh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68756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Civil Engineer  ·  35 years' experience, including Saudi Binladen Group</a:t>
            </a:r>
            <a:endParaRPr lang="en-US" sz="1000" dirty="0"/>
          </a:p>
        </p:txBody>
      </p:sp>
      <p:pic>
        <p:nvPicPr>
          <p:cNvPr id="9" name="Image 1" descr="/home/user/NVIConsult/build/assets/p_haz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1722044" cy="208457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931920" y="3547619"/>
            <a:ext cx="1722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MANAGER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3931920" y="3821939"/>
            <a:ext cx="17220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Hazem Ghorbal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4352291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Interior Designer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931920" y="4736339"/>
            <a:ext cx="172204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31920" y="4827779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480560" y="4827779"/>
            <a:ext cx="1173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years' experience</a:t>
            </a:r>
            <a:endParaRPr lang="en-US" sz="950" dirty="0"/>
          </a:p>
        </p:txBody>
      </p:sp>
      <p:pic>
        <p:nvPicPr>
          <p:cNvPr id="16" name="Image 2" descr="/home/user/NVIConsult/build/assets/p_mohamma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284" y="1325880"/>
            <a:ext cx="1722044" cy="208457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928284" y="3547619"/>
            <a:ext cx="1722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MANAGER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5928284" y="3821939"/>
            <a:ext cx="17220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Mohammad Khayat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28284" y="4352291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Network Engineer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928284" y="4736339"/>
            <a:ext cx="172204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28284" y="4827779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6476924" y="4827779"/>
            <a:ext cx="1173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years' experience</a:t>
            </a:r>
            <a:endParaRPr lang="en-US" sz="950" dirty="0"/>
          </a:p>
        </p:txBody>
      </p:sp>
      <p:pic>
        <p:nvPicPr>
          <p:cNvPr id="23" name="Image 3" descr="/home/user/NVIConsult/build/assets/p_nad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48" y="1325880"/>
            <a:ext cx="1722044" cy="208457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924648" y="3547619"/>
            <a:ext cx="1722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MANAGER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7924648" y="3821939"/>
            <a:ext cx="17220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Nader M. Abdulhadi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7924648" y="4352291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Electrical Engineer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924648" y="4736339"/>
            <a:ext cx="172204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924648" y="4827779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473288" y="4827779"/>
            <a:ext cx="1173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years' experience</a:t>
            </a:r>
            <a:endParaRPr lang="en-US" sz="950" dirty="0"/>
          </a:p>
        </p:txBody>
      </p:sp>
      <p:pic>
        <p:nvPicPr>
          <p:cNvPr id="30" name="Image 4" descr="/home/user/NVIConsult/build/assets/p_ana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011" y="1325880"/>
            <a:ext cx="1722044" cy="2084579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921011" y="3547619"/>
            <a:ext cx="1722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MANAGER</a:t>
            </a:r>
            <a:endParaRPr lang="en-US" sz="950" dirty="0"/>
          </a:p>
        </p:txBody>
      </p:sp>
      <p:sp>
        <p:nvSpPr>
          <p:cNvPr id="32" name="Text 25"/>
          <p:cNvSpPr txBox="1"/>
          <p:nvPr/>
        </p:nvSpPr>
        <p:spPr>
          <a:xfrm>
            <a:off x="9921011" y="3821939"/>
            <a:ext cx="17220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Anas Khayat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9921011" y="4352291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37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Mechanical Engineer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921011" y="4736339"/>
            <a:ext cx="1722044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921011" y="4827779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36" name="Text 29"/>
          <p:cNvSpPr txBox="1"/>
          <p:nvPr/>
        </p:nvSpPr>
        <p:spPr>
          <a:xfrm>
            <a:off x="10469651" y="4827779"/>
            <a:ext cx="1173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years' experience</a:t>
            </a:r>
            <a:endParaRPr lang="en-US" sz="950" dirty="0"/>
          </a:p>
        </p:txBody>
      </p:sp>
      <p:sp>
        <p:nvSpPr>
          <p:cNvPr id="37" name="Text 30"/>
          <p:cNvSpPr txBox="1"/>
          <p:nvPr/>
        </p:nvSpPr>
        <p:spPr>
          <a:xfrm>
            <a:off x="548640" y="644652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38" name="Text 3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VIConsult/build/assets/lin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NVIConsult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408" y="502920"/>
            <a:ext cx="2468880" cy="159383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377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3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New Vision Integral for Maintenance &amp; Contracting</a:t>
            </a:r>
            <a:endParaRPr lang="en-US" sz="1500" dirty="0"/>
          </a:p>
        </p:txBody>
      </p:sp>
      <p:sp>
        <p:nvSpPr>
          <p:cNvPr id="5" name="Shape 1"/>
          <p:cNvSpPr/>
          <p:nvPr/>
        </p:nvSpPr>
        <p:spPr>
          <a:xfrm>
            <a:off x="2255368" y="3429000"/>
            <a:ext cx="3566160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2255368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GENERAL MANAGER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2255368" y="3858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Azzam Al Sayeh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2255368" y="4297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u="sng" dirty="0">
                <a:solidFill>
                  <a:srgbClr val="5B54A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a.alsayeh@nvi-sa.com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255368" y="45902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spc="2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WhatsApp  </a:t>
            </a:r>
            <a:pPr algn="ctr" indent="0" marL="0">
              <a:buNone/>
            </a:pPr>
            <a:r>
              <a:rPr lang="en-US" sz="1150" u="sng" dirty="0">
                <a:solidFill>
                  <a:srgbClr val="5B54A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+966 50 597 6970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370168" y="3429000"/>
            <a:ext cx="3566160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70168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5B54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MANAGING DIRECTOR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370168" y="3858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D4D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Abdulhai Hambrouch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370168" y="4297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u="sng" dirty="0">
                <a:solidFill>
                  <a:srgbClr val="5B54A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a.ahmed@nvi-sa.com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370168" y="45902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spc="2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WhatsApp  </a:t>
            </a:r>
            <a:pPr algn="ctr" indent="0" marL="0">
              <a:buNone/>
            </a:pPr>
            <a:r>
              <a:rPr lang="en-US" sz="1150" u="sng" dirty="0">
                <a:solidFill>
                  <a:srgbClr val="5B54A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+966 55 069 6190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2255368" y="5166360"/>
            <a:ext cx="7680960" cy="0"/>
          </a:xfrm>
          <a:prstGeom prst="line">
            <a:avLst/>
          </a:prstGeom>
          <a:noFill/>
          <a:ln w="9525">
            <a:solidFill>
              <a:srgbClr val="CDD1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53492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u="sng" dirty="0">
                <a:solidFill>
                  <a:srgbClr val="5B54A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www.nvi-sa.com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15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Jeddah  ·  Kingdom of Saudi Arabia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44652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VISION INTEGRAL  ·  COMPANY PROFILE</a:t>
            </a:r>
            <a:endParaRPr lang="en-US" sz="750" dirty="0"/>
          </a:p>
        </p:txBody>
      </p:sp>
      <p:sp>
        <p:nvSpPr>
          <p:cNvPr id="19" name="Text 15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2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New Vision Integral for Maintenance and Contracting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Company Profile</dc:title>
  <dc:subject>PptxGenJS Presentation</dc:subject>
  <dc:creator>New Vision Integral for Maintenance and Contracting</dc:creator>
  <cp:lastModifiedBy>New Vision Integral for Maintenance and Contracting</cp:lastModifiedBy>
  <cp:revision>1</cp:revision>
  <dcterms:created xsi:type="dcterms:W3CDTF">2026-09-29T16:17:04Z</dcterms:created>
  <dcterms:modified xsi:type="dcterms:W3CDTF">2026-09-29T16:17:04Z</dcterms:modified>
</cp:coreProperties>
</file>