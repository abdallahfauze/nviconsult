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nvimc_her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0"/>
            <a:ext cx="597377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760720" y="0"/>
            <a:ext cx="731520" cy="6858000"/>
          </a:xfrm>
          <a:prstGeom prst="rect">
            <a:avLst/>
          </a:prstGeom>
          <a:solidFill>
            <a:srgbClr val="0A1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914400"/>
            <a:ext cx="2926080" cy="36576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A111E"/>
                </a:solidFill>
                <a:latin typeface="Trebuchet MS"/>
              </a:defRPr>
            </a:pPr>
            <a:r>
              <a:t>NEW VISION INTEGRAL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5303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8FAFC"/>
                </a:solidFill>
                <a:latin typeface="Georgia"/>
              </a:defRPr>
            </a:pPr>
            <a:r>
              <a:t>NEXT-GEN CONTRACTING &amp; FACILITIES CARE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657600"/>
            <a:ext cx="4754880" cy="508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84048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94A3B8"/>
                </a:solidFill>
                <a:latin typeface="Trebuchet MS"/>
              </a:defRPr>
            </a:pPr>
            <a:r>
              <a:t>Pioneering 'Worry-Free Construction' &amp; Turnkey Engineering Solutions Across Saudi Arabia.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212080"/>
            <a:ext cx="1554480" cy="1005840"/>
          </a:xfrm>
          <a:prstGeom prst="roundRect">
            <a:avLst/>
          </a:prstGeom>
          <a:solidFill>
            <a:srgbClr val="152238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D4AF37"/>
                </a:solidFill>
                <a:latin typeface="Trebuchet MS"/>
              </a:defRPr>
            </a:pPr>
            <a:r>
              <a:t>ESTABLISHED</a:t>
            </a:r>
          </a:p>
          <a:p>
            <a:pPr algn="ctr">
              <a:defRPr sz="1300" b="1">
                <a:solidFill>
                  <a:srgbClr val="F8FAFC"/>
                </a:solidFill>
                <a:latin typeface="Georgia"/>
              </a:defRPr>
            </a:pPr>
            <a:r>
              <a:t>2024 (Jeddah)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23160" y="5212080"/>
            <a:ext cx="1554480" cy="1005840"/>
          </a:xfrm>
          <a:prstGeom prst="roundRect">
            <a:avLst/>
          </a:prstGeom>
          <a:solidFill>
            <a:srgbClr val="152238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D4AF37"/>
                </a:solidFill>
                <a:latin typeface="Trebuchet MS"/>
              </a:defRPr>
            </a:pPr>
            <a:r>
              <a:t>SENIOR EXP.</a:t>
            </a:r>
          </a:p>
          <a:p>
            <a:pPr algn="ctr">
              <a:defRPr sz="1300" b="1">
                <a:solidFill>
                  <a:srgbClr val="F8FAFC"/>
                </a:solidFill>
                <a:latin typeface="Georgia"/>
              </a:defRPr>
            </a:pPr>
            <a:r>
              <a:t>35+ Years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0" y="5212080"/>
            <a:ext cx="1554480" cy="1005840"/>
          </a:xfrm>
          <a:prstGeom prst="roundRect">
            <a:avLst/>
          </a:prstGeom>
          <a:solidFill>
            <a:srgbClr val="152238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D4AF37"/>
                </a:solidFill>
                <a:latin typeface="Trebuchet MS"/>
              </a:defRPr>
            </a:pPr>
            <a:r>
              <a:t>LIFECYCLE</a:t>
            </a:r>
          </a:p>
          <a:p>
            <a:pPr algn="ctr">
              <a:defRPr sz="1300" b="1">
                <a:solidFill>
                  <a:srgbClr val="F8FAFC"/>
                </a:solidFill>
                <a:latin typeface="Georgia"/>
              </a:defRPr>
            </a:pPr>
            <a:r>
              <a:t>14 Stages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15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D4AF37"/>
                </a:solidFill>
                <a:latin typeface="Trebuchet MS"/>
              </a:defRPr>
            </a:pPr>
            <a:r>
              <a:t>CORPORATE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Georgia"/>
              </a:defRPr>
            </a:pPr>
            <a:r>
              <a:t>Executive Summary &amp; Foundational Vision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10728655" cy="381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nvimc_faca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4389120" cy="46634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1005840" y="5669280"/>
            <a:ext cx="3840480" cy="457200"/>
          </a:xfrm>
          <a:prstGeom prst="roundRect">
            <a:avLst/>
          </a:prstGeom>
          <a:solidFill>
            <a:srgbClr val="15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D4AF37"/>
                </a:solidFill>
                <a:latin typeface="Trebuchet MS"/>
              </a:defRPr>
            </a:pPr>
            <a:r>
              <a:t>HEADQUARTERS: JEDDAH, KINGDOM OF SAUDI ARABIA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94960" y="1645920"/>
            <a:ext cx="603504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577840" y="1828800"/>
            <a:ext cx="640080" cy="640080"/>
          </a:xfrm>
          <a:prstGeom prst="rect">
            <a:avLst/>
          </a:prstGeom>
          <a:solidFill>
            <a:srgbClr val="15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D4AF37"/>
                </a:solidFill>
                <a:latin typeface="Georgia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737360"/>
            <a:ext cx="4846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Georgia"/>
              </a:defRPr>
            </a:pPr>
            <a:r>
              <a:t>Turnkey Building Solutions</a:t>
            </a:r>
          </a:p>
          <a:p>
            <a:pPr>
              <a:defRPr sz="1100">
                <a:solidFill>
                  <a:srgbClr val="64748B"/>
                </a:solidFill>
                <a:latin typeface="Trebuchet MS"/>
              </a:defRPr>
            </a:pPr>
            <a:r>
              <a:t>Founded in 2024 in Jeddah, NVIMC delivers comprehensive, high-precision engineering, construction, and total facilities care tailored to modern Saudi commercial standards.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94960" y="3200400"/>
            <a:ext cx="603504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577840" y="3383280"/>
            <a:ext cx="640080" cy="640080"/>
          </a:xfrm>
          <a:prstGeom prst="rect">
            <a:avLst/>
          </a:prstGeom>
          <a:solidFill>
            <a:srgbClr val="15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D4AF37"/>
                </a:solidFill>
                <a:latin typeface="Georgia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291840"/>
            <a:ext cx="4846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Georgia"/>
              </a:defRPr>
            </a:pPr>
            <a:r>
              <a:t>'Worry-Free Construction'</a:t>
            </a:r>
          </a:p>
          <a:p>
            <a:pPr>
              <a:defRPr sz="1100">
                <a:solidFill>
                  <a:srgbClr val="64748B"/>
                </a:solidFill>
                <a:latin typeface="Trebuchet MS"/>
              </a:defRPr>
            </a:pPr>
            <a:r>
              <a:t>Built around complete project transparency, proactive communication, and strict adherence to client schedules, ensuring zero friction from inception to handover.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94960" y="4754880"/>
            <a:ext cx="603504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577840" y="4937760"/>
            <a:ext cx="640080" cy="640080"/>
          </a:xfrm>
          <a:prstGeom prst="rect">
            <a:avLst/>
          </a:prstGeom>
          <a:solidFill>
            <a:srgbClr val="15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D4AF37"/>
                </a:solidFill>
                <a:latin typeface="Georgia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4846320"/>
            <a:ext cx="4846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Georgia"/>
              </a:defRPr>
            </a:pPr>
            <a:r>
              <a:t>Preventive Maintenance Design</a:t>
            </a:r>
          </a:p>
          <a:p>
            <a:pPr>
              <a:defRPr sz="1100">
                <a:solidFill>
                  <a:srgbClr val="64748B"/>
                </a:solidFill>
                <a:latin typeface="Trebuchet MS"/>
              </a:defRPr>
            </a:pPr>
            <a:r>
              <a:t>Integrating maintenance intelligence into early structural &amp; MEP engineering designs to guarantee maximum asset longevity and long-term cost reduction.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15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D4AF37"/>
                </a:solidFill>
                <a:latin typeface="Trebuchet MS"/>
              </a:defRPr>
            </a:pPr>
            <a:r>
              <a:t>STRATEGIC FOUNDATION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Georgia"/>
              </a:defRPr>
            </a:pPr>
            <a:r>
              <a:t>Vision, Mission &amp; Operating Principles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10728655" cy="381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383280" cy="4663440"/>
          </a:xfrm>
          <a:prstGeom prst="roundRect">
            <a:avLst/>
          </a:prstGeom>
          <a:solidFill>
            <a:srgbClr val="152238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05840" y="1920240"/>
            <a:ext cx="2834640" cy="36576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A111E"/>
                </a:solidFill>
                <a:latin typeface="Trebuchet MS"/>
              </a:defRPr>
            </a:pPr>
            <a:r>
              <a:t>OUR VISION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468880"/>
            <a:ext cx="28346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8FAFC"/>
                </a:solidFill>
                <a:latin typeface="Georgia"/>
              </a:defRPr>
            </a:pPr>
            <a:r>
              <a:t>Kingdom-Wide Excellence</a:t>
            </a:r>
          </a:p>
          <a:p>
            <a:pPr>
              <a:defRPr sz="1200">
                <a:solidFill>
                  <a:srgbClr val="94A3B8"/>
                </a:solidFill>
                <a:latin typeface="Trebuchet MS"/>
              </a:defRPr>
            </a:pPr>
            <a:r>
              <a:t>To be recognized across Saudi Arabia as the premier benchmark for high-precision construction and resilient facilities management, shaping modern infrastructure with zero compromise on quality.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645920"/>
            <a:ext cx="3383280" cy="4663440"/>
          </a:xfrm>
          <a:prstGeom prst="roundRect">
            <a:avLst/>
          </a:prstGeom>
          <a:solidFill>
            <a:srgbClr val="152238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0" y="1920240"/>
            <a:ext cx="2834640" cy="36576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A111E"/>
                </a:solidFill>
                <a:latin typeface="Trebuchet MS"/>
              </a:defRPr>
            </a:pPr>
            <a:r>
              <a:t>OUR MISSION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468880"/>
            <a:ext cx="28346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8FAFC"/>
                </a:solidFill>
                <a:latin typeface="Georgia"/>
              </a:defRPr>
            </a:pPr>
            <a:r>
              <a:t>Worry-Free Execution</a:t>
            </a:r>
          </a:p>
          <a:p>
            <a:pPr>
              <a:defRPr sz="1200">
                <a:solidFill>
                  <a:srgbClr val="94A3B8"/>
                </a:solidFill>
                <a:latin typeface="Trebuchet MS"/>
              </a:defRPr>
            </a:pPr>
            <a:r>
              <a:t>Delivering flawless turnkey project execution by combining Tier-1 engineering expertise, transparent communication, and preventive maintenance frameworks that safeguard client investments.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63840" y="1645920"/>
            <a:ext cx="3383280" cy="4663440"/>
          </a:xfrm>
          <a:prstGeom prst="roundRect">
            <a:avLst/>
          </a:prstGeom>
          <a:solidFill>
            <a:srgbClr val="152238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38160" y="1920240"/>
            <a:ext cx="2834640" cy="36576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A111E"/>
                </a:solidFill>
                <a:latin typeface="Trebuchet MS"/>
              </a:defRPr>
            </a:pPr>
            <a:r>
              <a:t>CORE VALUES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2468880"/>
            <a:ext cx="28346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8FAFC"/>
                </a:solidFill>
                <a:latin typeface="Georgia"/>
              </a:defRPr>
            </a:pPr>
            <a:r>
              <a:t>Uncompromising Integrity</a:t>
            </a:r>
          </a:p>
          <a:p>
            <a:pPr>
              <a:defRPr sz="1200">
                <a:solidFill>
                  <a:srgbClr val="94A3B8"/>
                </a:solidFill>
                <a:latin typeface="Trebuchet MS"/>
              </a:defRPr>
            </a:pPr>
            <a:r>
              <a:t>• Professional Integrity &amp; Ethics</a:t>
            </a:r>
            <a:br/>
            <a:r>
              <a:t>• Uncompromising Quality Control</a:t>
            </a:r>
            <a:br/>
            <a:r>
              <a:t>• Environmental Sustainability</a:t>
            </a:r>
            <a:br/>
            <a:r>
              <a:t>• Client-Centric Collaboration</a:t>
            </a:r>
            <a:br/>
            <a:r>
              <a:t>• Lifelong Safety Standards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15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D4AF37"/>
                </a:solidFill>
                <a:latin typeface="Trebuchet MS"/>
              </a:defRPr>
            </a:pPr>
            <a:r>
              <a:t>PROJECT GOVERNANCE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Georgia"/>
              </a:defRPr>
            </a:pPr>
            <a:r>
              <a:t>End-to-End 14-Stage Project Lifecycle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10728655" cy="381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256032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2560320" cy="548640"/>
          </a:xfrm>
          <a:prstGeom prst="rect">
            <a:avLst/>
          </a:prstGeom>
          <a:solidFill>
            <a:srgbClr val="15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D4AF37"/>
                </a:solidFill>
                <a:latin typeface="Trebuchet MS"/>
              </a:defRPr>
            </a:pPr>
            <a:r>
              <a:t>PHASE 1: STRATEGY &amp; INITIATION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286000"/>
            <a:ext cx="22860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0F172A"/>
                </a:solidFill>
                <a:latin typeface="Trebuchet MS"/>
              </a:defRPr>
            </a:pPr>
            <a:r>
              <a:t>1. Project Feasibility Study</a:t>
            </a:r>
          </a:p>
          <a:p>
            <a:pPr>
              <a:spcAft>
                <a:spcPts val="800"/>
              </a:spcAft>
              <a:defRPr sz="1100" b="0">
                <a:solidFill>
                  <a:srgbClr val="0F172A"/>
                </a:solidFill>
                <a:latin typeface="Trebuchet MS"/>
              </a:defRPr>
            </a:pPr>
            <a:r>
              <a:t>2. Portfolio Alignment</a:t>
            </a:r>
          </a:p>
          <a:p>
            <a:pPr>
              <a:spcAft>
                <a:spcPts val="800"/>
              </a:spcAft>
              <a:defRPr sz="1100" b="0">
                <a:solidFill>
                  <a:srgbClr val="0F172A"/>
                </a:solidFill>
                <a:latin typeface="Trebuchet MS"/>
              </a:defRPr>
            </a:pPr>
            <a:r>
              <a:t>3. Charter Development</a:t>
            </a:r>
          </a:p>
          <a:p>
            <a:pPr>
              <a:spcAft>
                <a:spcPts val="800"/>
              </a:spcAft>
              <a:defRPr sz="1100" b="0">
                <a:solidFill>
                  <a:srgbClr val="0F172A"/>
                </a:solidFill>
                <a:latin typeface="Trebuchet MS"/>
              </a:defRPr>
            </a:pPr>
            <a:r>
              <a:t>4. Stakeholder Onboarding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645920"/>
            <a:ext cx="256032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29000" y="1645920"/>
            <a:ext cx="2560320" cy="548640"/>
          </a:xfrm>
          <a:prstGeom prst="rect">
            <a:avLst/>
          </a:prstGeom>
          <a:solidFill>
            <a:srgbClr val="15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D4AF37"/>
                </a:solidFill>
                <a:latin typeface="Trebuchet MS"/>
              </a:defRPr>
            </a:pPr>
            <a:r>
              <a:t>PHASE 2: SCOPING &amp; DESIGN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2286000"/>
            <a:ext cx="22860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0F172A"/>
                </a:solidFill>
                <a:latin typeface="Trebuchet MS"/>
              </a:defRPr>
            </a:pPr>
            <a:r>
              <a:t>5. Scope &amp; Requirements</a:t>
            </a:r>
          </a:p>
          <a:p>
            <a:pPr>
              <a:spcAft>
                <a:spcPts val="800"/>
              </a:spcAft>
              <a:defRPr sz="1100" b="0">
                <a:solidFill>
                  <a:srgbClr val="0F172A"/>
                </a:solidFill>
                <a:latin typeface="Trebuchet MS"/>
              </a:defRPr>
            </a:pPr>
            <a:r>
              <a:t>6. Work Breakdown (WBS)</a:t>
            </a:r>
          </a:p>
          <a:p>
            <a:pPr>
              <a:spcAft>
                <a:spcPts val="800"/>
              </a:spcAft>
              <a:defRPr sz="1100" b="0">
                <a:solidFill>
                  <a:srgbClr val="0F172A"/>
                </a:solidFill>
                <a:latin typeface="Trebuchet MS"/>
              </a:defRPr>
            </a:pPr>
            <a:r>
              <a:t>7. Detailed Scheduling</a:t>
            </a:r>
          </a:p>
          <a:p>
            <a:pPr>
              <a:spcAft>
                <a:spcPts val="800"/>
              </a:spcAft>
              <a:defRPr sz="1100" b="0">
                <a:solidFill>
                  <a:srgbClr val="0F172A"/>
                </a:solidFill>
                <a:latin typeface="Trebuchet MS"/>
              </a:defRPr>
            </a:pPr>
            <a:r>
              <a:t>8. Resource Allocation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645920"/>
            <a:ext cx="256032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80" y="1645920"/>
            <a:ext cx="2560320" cy="548640"/>
          </a:xfrm>
          <a:prstGeom prst="rect">
            <a:avLst/>
          </a:prstGeom>
          <a:solidFill>
            <a:srgbClr val="15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D4AF37"/>
                </a:solidFill>
                <a:latin typeface="Trebuchet MS"/>
              </a:defRPr>
            </a:pPr>
            <a:r>
              <a:t>PHASE 3: COST &amp; RISK CONTROL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2286000"/>
            <a:ext cx="22860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0F172A"/>
                </a:solidFill>
                <a:latin typeface="Trebuchet MS"/>
              </a:defRPr>
            </a:pPr>
            <a:r>
              <a:t>9. Budgeting &amp; Financials</a:t>
            </a:r>
          </a:p>
          <a:p>
            <a:pPr>
              <a:spcAft>
                <a:spcPts val="800"/>
              </a:spcAft>
              <a:defRPr sz="1100" b="0">
                <a:solidFill>
                  <a:srgbClr val="0F172A"/>
                </a:solidFill>
                <a:latin typeface="Trebuchet MS"/>
              </a:defRPr>
            </a:pPr>
            <a:r>
              <a:t>10. Procurement Strategy</a:t>
            </a:r>
          </a:p>
          <a:p>
            <a:pPr>
              <a:spcAft>
                <a:spcPts val="800"/>
              </a:spcAft>
              <a:defRPr sz="1100" b="0">
                <a:solidFill>
                  <a:srgbClr val="0F172A"/>
                </a:solidFill>
                <a:latin typeface="Trebuchet MS"/>
              </a:defRPr>
            </a:pPr>
            <a:r>
              <a:t>11. Quality &amp; Safety Plan</a:t>
            </a:r>
          </a:p>
          <a:p>
            <a:pPr>
              <a:spcAft>
                <a:spcPts val="800"/>
              </a:spcAft>
              <a:defRPr sz="1100" b="0">
                <a:solidFill>
                  <a:srgbClr val="0F172A"/>
                </a:solidFill>
                <a:latin typeface="Trebuchet MS"/>
              </a:defRPr>
            </a:pPr>
            <a:r>
              <a:t>12. Risk Management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23960" y="1645920"/>
            <a:ext cx="256032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823960" y="1645920"/>
            <a:ext cx="2560320" cy="548640"/>
          </a:xfrm>
          <a:prstGeom prst="rect">
            <a:avLst/>
          </a:prstGeom>
          <a:solidFill>
            <a:srgbClr val="15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D4AF37"/>
                </a:solidFill>
                <a:latin typeface="Trebuchet MS"/>
              </a:defRPr>
            </a:pPr>
            <a:r>
              <a:t>PHASE 4: EXECUTION &amp; CLOSURE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0" y="2286000"/>
            <a:ext cx="22860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0F172A"/>
                </a:solidFill>
                <a:latin typeface="Trebuchet MS"/>
              </a:defRPr>
            </a:pPr>
            <a:r>
              <a:t>13. Execution &amp; Change Control</a:t>
            </a:r>
          </a:p>
          <a:p>
            <a:pPr>
              <a:spcAft>
                <a:spcPts val="800"/>
              </a:spcAft>
              <a:defRPr sz="1100" b="0">
                <a:solidFill>
                  <a:srgbClr val="0F172A"/>
                </a:solidFill>
                <a:latin typeface="Trebuchet MS"/>
              </a:defRPr>
            </a:pPr>
            <a:r>
              <a:t>14. Final Handover &amp; Closure</a:t>
            </a:r>
          </a:p>
          <a:p>
            <a:pPr>
              <a:spcAft>
                <a:spcPts val="800"/>
              </a:spcAft>
              <a:defRPr sz="1100" b="1">
                <a:solidFill>
                  <a:srgbClr val="0284C7"/>
                </a:solidFill>
                <a:latin typeface="Trebuchet MS"/>
              </a:defRPr>
            </a:pPr>
            <a:r>
              <a:t>• Integrated Preventive Care</a:t>
            </a:r>
          </a:p>
          <a:p>
            <a:pPr>
              <a:spcAft>
                <a:spcPts val="800"/>
              </a:spcAft>
              <a:defRPr sz="1100" b="1">
                <a:solidFill>
                  <a:srgbClr val="0284C7"/>
                </a:solidFill>
                <a:latin typeface="Trebuchet MS"/>
              </a:defRPr>
            </a:pPr>
            <a:r>
              <a:t>• Seamless Facility Transfer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989320"/>
            <a:ext cx="10728655" cy="502920"/>
          </a:xfrm>
          <a:prstGeom prst="roundRect">
            <a:avLst/>
          </a:prstGeom>
          <a:solidFill>
            <a:srgbClr val="152238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8FAFC"/>
                </a:solidFill>
                <a:latin typeface="Trebuchet MS"/>
              </a:defRPr>
            </a:pPr>
            <a:r>
              <a:t>100% LIFECYCLE GOVERNANCE: Guaranteeing zero friction, budget control, and complete transparency from blueprint to operations.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15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D4AF37"/>
                </a:solidFill>
                <a:latin typeface="Trebuchet MS"/>
              </a:defRPr>
            </a:pPr>
            <a:r>
              <a:t>CONSTRUCTION &amp; AESTHETICS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Georgia"/>
              </a:defRPr>
            </a:pPr>
            <a:r>
              <a:t>Structural Engineering &amp; Interior Fit-Out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10728655" cy="381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nvimc_fito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645920"/>
            <a:ext cx="4754880" cy="46634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1645920"/>
            <a:ext cx="576072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83080"/>
            <a:ext cx="53949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Trebuchet MS"/>
              </a:defRPr>
            </a:pPr>
            <a:r>
              <a:t>CIVIL &amp; STRUCTURAL WORKS</a:t>
            </a:r>
          </a:p>
          <a:p>
            <a:pPr>
              <a:spcAft>
                <a:spcPts val="400"/>
              </a:spcAft>
              <a:defRPr sz="1500" b="1">
                <a:solidFill>
                  <a:srgbClr val="0F172A"/>
                </a:solidFill>
                <a:latin typeface="Georgia"/>
              </a:defRPr>
            </a:pPr>
            <a:r>
              <a:t>Heavy Foundation &amp; Structural Execution</a:t>
            </a:r>
          </a:p>
          <a:p>
            <a:pPr>
              <a:defRPr sz="1100">
                <a:solidFill>
                  <a:srgbClr val="64748B"/>
                </a:solidFill>
                <a:latin typeface="Trebuchet MS"/>
              </a:defRPr>
            </a:pPr>
            <a:r>
              <a:t>•  Reinforced Concrete Works &amp; Foundations</a:t>
            </a:r>
          </a:p>
          <a:p>
            <a:pPr>
              <a:defRPr sz="1100">
                <a:solidFill>
                  <a:srgbClr val="64748B"/>
                </a:solidFill>
                <a:latin typeface="Trebuchet MS"/>
              </a:defRPr>
            </a:pPr>
            <a:r>
              <a:t>•  Structural Steel Fabrication &amp; Erection</a:t>
            </a:r>
          </a:p>
          <a:p>
            <a:pPr>
              <a:defRPr sz="1100">
                <a:solidFill>
                  <a:srgbClr val="64748B"/>
                </a:solidFill>
                <a:latin typeface="Trebuchet MS"/>
              </a:defRPr>
            </a:pPr>
            <a:r>
              <a:t>•  Custom Architectural Landscaping &amp; Hardscapes</a:t>
            </a:r>
          </a:p>
          <a:p>
            <a:pPr>
              <a:defRPr sz="1100">
                <a:solidFill>
                  <a:srgbClr val="64748B"/>
                </a:solidFill>
                <a:latin typeface="Trebuchet MS"/>
              </a:defRPr>
            </a:pPr>
            <a:r>
              <a:t>•  Exterior Facades &amp; Waterproofing Systems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069080"/>
            <a:ext cx="576072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206240"/>
            <a:ext cx="53949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Trebuchet MS"/>
              </a:defRPr>
            </a:pPr>
            <a:r>
              <a:t>ARCHITECTURAL FIT-OUT &amp; JOINERY</a:t>
            </a:r>
          </a:p>
          <a:p>
            <a:pPr>
              <a:spcAft>
                <a:spcPts val="400"/>
              </a:spcAft>
              <a:defRPr sz="1500" b="1">
                <a:solidFill>
                  <a:srgbClr val="0F172A"/>
                </a:solidFill>
                <a:latin typeface="Georgia"/>
              </a:defRPr>
            </a:pPr>
            <a:r>
              <a:t>Luxury Spatial &amp; Interior Craftsmanship</a:t>
            </a:r>
          </a:p>
          <a:p>
            <a:pPr>
              <a:defRPr sz="1100">
                <a:solidFill>
                  <a:srgbClr val="64748B"/>
                </a:solidFill>
                <a:latin typeface="Trebuchet MS"/>
              </a:defRPr>
            </a:pPr>
            <a:r>
              <a:t>•  Bespoke Woodworking &amp; Executive Joinery</a:t>
            </a:r>
          </a:p>
          <a:p>
            <a:pPr>
              <a:defRPr sz="1100">
                <a:solidFill>
                  <a:srgbClr val="64748B"/>
                </a:solidFill>
                <a:latin typeface="Trebuchet MS"/>
              </a:defRPr>
            </a:pPr>
            <a:r>
              <a:t>•  Architectural Glass &amp; Custom Metal Partitioning</a:t>
            </a:r>
          </a:p>
          <a:p>
            <a:pPr>
              <a:defRPr sz="1100">
                <a:solidFill>
                  <a:srgbClr val="64748B"/>
                </a:solidFill>
                <a:latin typeface="Trebuchet MS"/>
              </a:defRPr>
            </a:pPr>
            <a:r>
              <a:t>•  Gypsum Ceilings, Decorative Paneling &amp; Tiling</a:t>
            </a:r>
          </a:p>
          <a:p>
            <a:pPr>
              <a:defRPr sz="1100">
                <a:solidFill>
                  <a:srgbClr val="64748B"/>
                </a:solidFill>
                <a:latin typeface="Trebuchet MS"/>
              </a:defRPr>
            </a:pPr>
            <a:r>
              <a:t>•  Turnkey Interior Finishes for Commercial Spaces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15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D4AF37"/>
                </a:solidFill>
                <a:latin typeface="Trebuchet MS"/>
              </a:defRPr>
            </a:pPr>
            <a:r>
              <a:t>TECHNICAL INFRASTRUCTURE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Georgia"/>
              </a:defRPr>
            </a:pPr>
            <a:r>
              <a:t>MEP &amp; Low-Current Systems Mastery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10728655" cy="381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nvimc_me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4389120" cy="46634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394960" y="1645920"/>
            <a:ext cx="603504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577840" y="1783080"/>
            <a:ext cx="5669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EAB308"/>
                </a:solidFill>
                <a:latin typeface="Trebuchet MS"/>
              </a:defRPr>
            </a:pPr>
            <a:r>
              <a:t>MECHANICAL &amp; HVAC INFRASTRUCTURE</a:t>
            </a:r>
          </a:p>
          <a:p>
            <a:pPr>
              <a:defRPr sz="1400" b="1">
                <a:solidFill>
                  <a:srgbClr val="0F172A"/>
                </a:solidFill>
                <a:latin typeface="Georgia"/>
              </a:defRPr>
            </a:pPr>
            <a:r>
              <a:t>Heavy Industrial &amp; Commercial Cooling</a:t>
            </a:r>
          </a:p>
          <a:p>
            <a:pPr>
              <a:defRPr sz="1100">
                <a:solidFill>
                  <a:srgbClr val="64748B"/>
                </a:solidFill>
                <a:latin typeface="Trebuchet MS"/>
              </a:defRPr>
            </a:pPr>
            <a:r>
              <a:t>Chillers, Air Handling Units (AHU), Fan Coil Units (FCU), Ducts, Fire Suppression &amp; Industrial Plumbing.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94960" y="3200400"/>
            <a:ext cx="603504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77840" y="3337560"/>
            <a:ext cx="5669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EAB308"/>
                </a:solidFill>
                <a:latin typeface="Trebuchet MS"/>
              </a:defRPr>
            </a:pPr>
            <a:r>
              <a:t>ELECTRICAL &amp; POWER DISTRIBUTION</a:t>
            </a:r>
          </a:p>
          <a:p>
            <a:pPr>
              <a:defRPr sz="1400" b="1">
                <a:solidFill>
                  <a:srgbClr val="0F172A"/>
                </a:solidFill>
                <a:latin typeface="Georgia"/>
              </a:defRPr>
            </a:pPr>
            <a:r>
              <a:t>High-Precision Electrical Engineering</a:t>
            </a:r>
          </a:p>
          <a:p>
            <a:pPr>
              <a:defRPr sz="1100">
                <a:solidFill>
                  <a:srgbClr val="64748B"/>
                </a:solidFill>
                <a:latin typeface="Trebuchet MS"/>
              </a:defRPr>
            </a:pPr>
            <a:r>
              <a:t>Main Distribution Boards (MDB), Sub-panels, Earthing &amp; Grounding, Power Cabling &amp; Emergency Systems.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94960" y="4754880"/>
            <a:ext cx="603504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77840" y="4892040"/>
            <a:ext cx="5669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EAB308"/>
                </a:solidFill>
                <a:latin typeface="Trebuchet MS"/>
              </a:defRPr>
            </a:pPr>
            <a:r>
              <a:t>SMART LOW-CURRENT &amp; BMS</a:t>
            </a:r>
          </a:p>
          <a:p>
            <a:pPr>
              <a:defRPr sz="1400" b="1">
                <a:solidFill>
                  <a:srgbClr val="0F172A"/>
                </a:solidFill>
                <a:latin typeface="Georgia"/>
              </a:defRPr>
            </a:pPr>
            <a:r>
              <a:t>Integrated Building Intelligence</a:t>
            </a:r>
          </a:p>
          <a:p>
            <a:pPr>
              <a:defRPr sz="1100">
                <a:solidFill>
                  <a:srgbClr val="64748B"/>
                </a:solidFill>
                <a:latin typeface="Trebuchet MS"/>
              </a:defRPr>
            </a:pPr>
            <a:r>
              <a:t>Building Management Systems (BMS), CCTV, Access Control, Fire Alarms, IP Telephony &amp; Data Networks.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15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D4AF37"/>
                </a:solidFill>
                <a:latin typeface="Trebuchet MS"/>
              </a:defRPr>
            </a:pPr>
            <a:r>
              <a:t>ASSET OPTIMIZATION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Georgia"/>
              </a:defRPr>
            </a:pPr>
            <a:r>
              <a:t>Total Facilities Management &amp; Maintenance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10728655" cy="381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5780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74520"/>
            <a:ext cx="47091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52238"/>
                </a:solidFill>
                <a:latin typeface="Georgia"/>
              </a:defRPr>
            </a:pPr>
            <a:r>
              <a:t>FACADE &amp; EXTERIOR CARE</a:t>
            </a:r>
          </a:p>
          <a:p>
            <a:pPr>
              <a:defRPr sz="1200">
                <a:solidFill>
                  <a:srgbClr val="64748B"/>
                </a:solidFill>
                <a:latin typeface="Trebuchet MS"/>
              </a:defRPr>
            </a:pPr>
            <a:r>
              <a:t>High-rise exterior glass cleaning, structural cladding maintenance, weather sealing, and facade preservation.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645920"/>
            <a:ext cx="525780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874520"/>
            <a:ext cx="47091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52238"/>
                </a:solidFill>
                <a:latin typeface="Georgia"/>
              </a:defRPr>
            </a:pPr>
            <a:r>
              <a:t>MECHANICAL &amp; HVAC UPKEEP</a:t>
            </a:r>
          </a:p>
          <a:p>
            <a:pPr>
              <a:defRPr sz="1200">
                <a:solidFill>
                  <a:srgbClr val="64748B"/>
                </a:solidFill>
                <a:latin typeface="Trebuchet MS"/>
              </a:defRPr>
            </a:pPr>
            <a:r>
              <a:t>Preventive chiller servicing, AHU/FCU maintenance, pump overhauls, and air quality filter management.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069080"/>
            <a:ext cx="525780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297680"/>
            <a:ext cx="47091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52238"/>
                </a:solidFill>
                <a:latin typeface="Georgia"/>
              </a:defRPr>
            </a:pPr>
            <a:r>
              <a:t>LOW-VOLTAGE &amp; NETWORKS</a:t>
            </a:r>
          </a:p>
          <a:p>
            <a:pPr>
              <a:defRPr sz="1200">
                <a:solidFill>
                  <a:srgbClr val="64748B"/>
                </a:solidFill>
                <a:latin typeface="Trebuchet MS"/>
              </a:defRPr>
            </a:pPr>
            <a:r>
              <a:t>24/7 CCTV system audits, BMS optimization, access control maintenance, and data line integrity.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4069080"/>
            <a:ext cx="525780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4297680"/>
            <a:ext cx="47091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52238"/>
                </a:solidFill>
                <a:latin typeface="Georgia"/>
              </a:defRPr>
            </a:pPr>
            <a:r>
              <a:t>INTERIOR REFURBISHMENT</a:t>
            </a:r>
          </a:p>
          <a:p>
            <a:pPr>
              <a:defRPr sz="1200">
                <a:solidFill>
                  <a:srgbClr val="64748B"/>
                </a:solidFill>
                <a:latin typeface="Trebuchet MS"/>
              </a:defRPr>
            </a:pPr>
            <a:r>
              <a:t>Ongoing fit-out repairs, wood/glass restoration, wall decor upkeep, and routine carpentry servicing.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15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D4AF37"/>
                </a:solidFill>
                <a:latin typeface="Trebuchet MS"/>
              </a:defRPr>
            </a:pPr>
            <a:r>
              <a:t>HUMAN CAPITAL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Georgia"/>
              </a:defRPr>
            </a:pPr>
            <a:r>
              <a:t>Tier-1 Executive Leadership &amp; Technical Expertise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10728655" cy="381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nvimc_leadersh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4114800" cy="46634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120640" y="1645920"/>
            <a:ext cx="6309360" cy="1051560"/>
          </a:xfrm>
          <a:prstGeom prst="roundRect">
            <a:avLst/>
          </a:prstGeom>
          <a:solidFill>
            <a:srgbClr val="152238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0" y="1737360"/>
            <a:ext cx="5943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D4AF37"/>
                </a:solidFill>
                <a:latin typeface="Georgia"/>
              </a:defRPr>
            </a:pPr>
            <a:r>
              <a:t>Azzam Al Sayeh  —  General Manager</a:t>
            </a:r>
          </a:p>
          <a:p>
            <a:pPr>
              <a:defRPr sz="1100">
                <a:solidFill>
                  <a:srgbClr val="F8FAFC"/>
                </a:solidFill>
                <a:latin typeface="Trebuchet MS"/>
              </a:defRPr>
            </a:pPr>
            <a:r>
              <a:t>Strategic direction, corporate growth, and operational governance.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20640" y="2788920"/>
            <a:ext cx="6309360" cy="1051560"/>
          </a:xfrm>
          <a:prstGeom prst="roundRect">
            <a:avLst/>
          </a:prstGeom>
          <a:solidFill>
            <a:srgbClr val="152238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0" y="2880360"/>
            <a:ext cx="5943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D4AF37"/>
                </a:solidFill>
                <a:latin typeface="Georgia"/>
              </a:defRPr>
            </a:pPr>
            <a:r>
              <a:t>Hazem Ghorbal  —  Project Manager / Civil Lead (35+ Yrs Exp.)</a:t>
            </a:r>
          </a:p>
          <a:p>
            <a:pPr>
              <a:defRPr sz="1100">
                <a:solidFill>
                  <a:srgbClr val="F8FAFC"/>
                </a:solidFill>
                <a:latin typeface="Trebuchet MS"/>
              </a:defRPr>
            </a:pPr>
            <a:r>
              <a:t>Decades of landmark contractor leadership, including Saudi Binladen Group.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20640" y="3931920"/>
            <a:ext cx="6309360" cy="1051560"/>
          </a:xfrm>
          <a:prstGeom prst="roundRect">
            <a:avLst/>
          </a:prstGeom>
          <a:solidFill>
            <a:srgbClr val="152238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0" y="4023360"/>
            <a:ext cx="5943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D4AF37"/>
                </a:solidFill>
                <a:latin typeface="Georgia"/>
              </a:defRPr>
            </a:pPr>
            <a:r>
              <a:t>Mohammad Khayat  —  Project Manager / Interior Lead (18 Yrs Exp.)</a:t>
            </a:r>
          </a:p>
          <a:p>
            <a:pPr>
              <a:defRPr sz="1100">
                <a:solidFill>
                  <a:srgbClr val="F8FAFC"/>
                </a:solidFill>
                <a:latin typeface="Trebuchet MS"/>
              </a:defRPr>
            </a:pPr>
            <a:r>
              <a:t>Expert in luxury commercial fit-out execution and spatial design.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20640" y="5074920"/>
            <a:ext cx="6309360" cy="1051560"/>
          </a:xfrm>
          <a:prstGeom prst="roundRect">
            <a:avLst/>
          </a:prstGeom>
          <a:solidFill>
            <a:srgbClr val="152238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0" y="5166360"/>
            <a:ext cx="5943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D4AF37"/>
                </a:solidFill>
                <a:latin typeface="Georgia"/>
              </a:defRPr>
            </a:pPr>
            <a:r>
              <a:t>Anas Khayat &amp; Systems Team  —  PM Network Lead (15 Yrs) &amp; Engineering Leads</a:t>
            </a:r>
          </a:p>
          <a:p>
            <a:pPr>
              <a:defRPr sz="1100">
                <a:solidFill>
                  <a:srgbClr val="F8FAFC"/>
                </a:solidFill>
                <a:latin typeface="Trebuchet MS"/>
              </a:defRPr>
            </a:pPr>
            <a:r>
              <a:t>Electrical Lead (11 Yrs) &amp; Mechanical Lead Nader Abdulhadi (5 Yrs).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914400"/>
            <a:ext cx="9448495" cy="5029200"/>
          </a:xfrm>
          <a:prstGeom prst="roundRect">
            <a:avLst/>
          </a:prstGeom>
          <a:solidFill>
            <a:srgbClr val="152238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1280160"/>
            <a:ext cx="853409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D4AF37"/>
                </a:solidFill>
                <a:latin typeface="Trebuchet MS"/>
              </a:defRPr>
            </a:pPr>
            <a:r>
              <a:t>NEW VISION INTEGRAL FOR MAINTENANCE &amp; CONSTRUCTION</a:t>
            </a:r>
          </a:p>
          <a:p>
            <a:pPr algn="ctr">
              <a:spcAft>
                <a:spcPts val="2000"/>
              </a:spcAft>
              <a:defRPr sz="2800" b="1">
                <a:solidFill>
                  <a:srgbClr val="F8FAFC"/>
                </a:solidFill>
                <a:latin typeface="Georgia"/>
              </a:defRPr>
            </a:pPr>
            <a:r>
              <a:t>Partner with Us for 'Worry-Free Construction'</a:t>
            </a:r>
          </a:p>
          <a:p>
            <a:pPr algn="ctr">
              <a:spcAft>
                <a:spcPts val="800"/>
              </a:spcAft>
              <a:defRPr sz="1400">
                <a:solidFill>
                  <a:srgbClr val="94A3B8"/>
                </a:solidFill>
                <a:latin typeface="Trebuchet MS"/>
              </a:defRPr>
            </a:pPr>
            <a:r>
              <a:t>HEADQUARTERS: Jeddah, Kingdom of Saudi Arabia</a:t>
            </a:r>
          </a:p>
          <a:p>
            <a:pPr algn="ctr">
              <a:spcAft>
                <a:spcPts val="800"/>
              </a:spcAft>
              <a:defRPr sz="1400">
                <a:solidFill>
                  <a:srgbClr val="94A3B8"/>
                </a:solidFill>
                <a:latin typeface="Trebuchet MS"/>
              </a:defRPr>
            </a:pPr>
            <a:r>
              <a:t>COMMERCIAL INQUIRIES: Corporate Contracting &amp; Turnkey Projects</a:t>
            </a:r>
          </a:p>
          <a:p>
            <a:pPr algn="ctr">
              <a:spcAft>
                <a:spcPts val="800"/>
              </a:spcAft>
              <a:defRPr sz="1400">
                <a:solidFill>
                  <a:srgbClr val="94A3B8"/>
                </a:solidFill>
                <a:latin typeface="Trebuchet MS"/>
              </a:defRPr>
            </a:pPr>
            <a:r>
              <a:t>GENERAL MANAGER: Azzam Al Sayeh</a:t>
            </a:r>
          </a:p>
          <a:p>
            <a:pPr algn="ctr">
              <a:spcAft>
                <a:spcPts val="800"/>
              </a:spcAft>
              <a:defRPr sz="1400">
                <a:solidFill>
                  <a:srgbClr val="94A3B8"/>
                </a:solidFill>
                <a:latin typeface="Trebuchet MS"/>
              </a:defRPr>
            </a:pPr>
            <a:r>
              <a:t>CIVIL &amp; PROJECT LEAD: Hazem Ghorbal</a:t>
            </a:r>
          </a:p>
          <a:p>
            <a:pPr algn="ctr">
              <a:spcAft>
                <a:spcPts val="800"/>
              </a:spcAft>
              <a:defRPr sz="1400">
                <a:solidFill>
                  <a:srgbClr val="94A3B8"/>
                </a:solidFill>
                <a:latin typeface="Trebuchet MS"/>
              </a:defRPr>
            </a:pPr>
            <a:r>
              <a:t>WEBSITE &amp; COMMINUCATIONS: Available via official NVIMC corporate channels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