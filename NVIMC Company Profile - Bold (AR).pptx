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image" Target="../media/image-5-9.jp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5" Type="http://schemas.openxmlformats.org/officeDocument/2006/relationships/hyperlink" Target="mailto:a.alsayeh@nvi-sa.com" TargetMode="External"/><Relationship Id="rId7" Type="http://schemas.openxmlformats.org/officeDocument/2006/relationships/hyperlink" Target="https://wa.me/966505976970" TargetMode="External"/><Relationship Id="rId9" Type="http://schemas.openxmlformats.org/officeDocument/2006/relationships/hyperlink" Target="mailto:a.ahmed@nvi-sa.com" TargetMode="External"/><Relationship Id="rId11" Type="http://schemas.openxmlformats.org/officeDocument/2006/relationships/hyperlink" Target="https://wa.me/966550696190" TargetMode="External"/><Relationship Id="rId13" Type="http://schemas.openxmlformats.org/officeDocument/2006/relationships/hyperlink" Target="https://www.nvi-sa.com" TargetMode="External"/><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6" Type="http://schemas.openxmlformats.org/officeDocument/2006/relationships/image" Target="../media/image-16-5.png"/><Relationship Id="rId8" Type="http://schemas.openxmlformats.org/officeDocument/2006/relationships/image" Target="../media/image-16-6.png"/><Relationship Id="rId10" Type="http://schemas.openxmlformats.org/officeDocument/2006/relationships/image" Target="../media/image-16-7.png"/><Relationship Id="rId12" Type="http://schemas.openxmlformats.org/officeDocument/2006/relationships/image" Target="../media/image-16-8.png"/><Relationship Id="rId14" Type="http://schemas.openxmlformats.org/officeDocument/2006/relationships/slideLayout" Target="../slideLayouts/slideLayout1.xml"/><Relationship Id="rId1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cover.jpg">    </p:cNvPr>
          <p:cNvPicPr>
            <a:picLocks noChangeAspect="1"/>
          </p:cNvPicPr>
          <p:nvPr/>
        </p:nvPicPr>
        <p:blipFill>
          <a:blip r:embed="rId1"/>
          <a:stretch>
            <a:fillRect/>
          </a:stretch>
        </p:blipFill>
        <p:spPr>
          <a:xfrm>
            <a:off x="0" y="0"/>
            <a:ext cx="7436815" cy="6858000"/>
          </a:xfrm>
          <a:prstGeom prst="rect">
            <a:avLst/>
          </a:prstGeom>
        </p:spPr>
      </p:pic>
      <p:sp>
        <p:nvSpPr>
          <p:cNvPr id="3" name="Shape 0"/>
          <p:cNvSpPr/>
          <p:nvPr/>
        </p:nvSpPr>
        <p:spPr>
          <a:xfrm>
            <a:off x="0" y="0"/>
            <a:ext cx="7436815" cy="6858000"/>
          </a:xfrm>
          <a:prstGeom prst="rect">
            <a:avLst/>
          </a:prstGeom>
          <a:solidFill>
            <a:srgbClr val="0E1420">
              <a:alpha val="62000"/>
            </a:srgbClr>
          </a:solidFill>
          <a:ln w="12700">
            <a:solidFill>
              <a:srgbClr val="0E1420"/>
            </a:solidFill>
            <a:prstDash val="solid"/>
          </a:ln>
        </p:spPr>
      </p:sp>
      <p:pic>
        <p:nvPicPr>
          <p:cNvPr id="4" name="Image 1" descr="/home/user/NVIConsult/build/assets_bold/logo.png">    </p:cNvPr>
          <p:cNvPicPr>
            <a:picLocks noChangeAspect="1"/>
          </p:cNvPicPr>
          <p:nvPr/>
        </p:nvPicPr>
        <p:blipFill>
          <a:blip r:embed="rId2"/>
          <a:stretch>
            <a:fillRect/>
          </a:stretch>
        </p:blipFill>
        <p:spPr>
          <a:xfrm>
            <a:off x="8168335" y="868680"/>
            <a:ext cx="3291840" cy="2125112"/>
          </a:xfrm>
          <a:prstGeom prst="rect">
            <a:avLst/>
          </a:prstGeom>
        </p:spPr>
      </p:pic>
      <p:pic>
        <p:nvPicPr>
          <p:cNvPr id="5" name="Image 2" descr="/home/user/NVIConsult/build/assets_bold/logo_mark.png">    </p:cNvPr>
          <p:cNvPicPr>
            <a:picLocks noChangeAspect="1"/>
          </p:cNvPicPr>
          <p:nvPr/>
        </p:nvPicPr>
        <p:blipFill>
          <a:blip r:embed="rId3"/>
          <a:stretch>
            <a:fillRect/>
          </a:stretch>
        </p:blipFill>
        <p:spPr>
          <a:xfrm>
            <a:off x="11146089" y="3639312"/>
            <a:ext cx="314086" cy="173736"/>
          </a:xfrm>
          <a:prstGeom prst="rect">
            <a:avLst/>
          </a:prstGeom>
        </p:spPr>
      </p:pic>
      <p:sp>
        <p:nvSpPr>
          <p:cNvPr id="6" name="Text 1"/>
          <p:cNvSpPr txBox="1"/>
          <p:nvPr/>
        </p:nvSpPr>
        <p:spPr>
          <a:xfrm>
            <a:off x="7802575" y="3611880"/>
            <a:ext cx="3200400" cy="256032"/>
          </a:xfrm>
          <a:prstGeom prst="rect">
            <a:avLst/>
          </a:prstGeom>
          <a:noFill/>
          <a:ln/>
        </p:spPr>
        <p:txBody>
          <a:bodyPr wrap="square" lIns="0" tIns="0" rIns="0" bIns="0" rtlCol="0" anchor="ctr"/>
          <a:lstStyle/>
          <a:p>
            <a:pPr rtl="1" algn="r" indent="0" marL="0">
              <a:buNone/>
            </a:pPr>
            <a:r>
              <a:rPr lang="ar-SA" altLang="en-US" sz="1260" b="1" dirty="0">
                <a:solidFill>
                  <a:srgbClr val="E5177B"/>
                </a:solidFill>
                <a:latin typeface="Segoe UI" pitchFamily="34" charset="0"/>
                <a:ea typeface="Segoe UI" pitchFamily="34" charset="-122"/>
                <a:cs typeface="Segoe UI" pitchFamily="34" charset="-120"/>
              </a:rPr>
              <a:t>ملف الشركة</a:t>
            </a:r>
            <a:endParaRPr lang="ar-SA" sz="1260" dirty="0"/>
          </a:p>
        </p:txBody>
      </p:sp>
      <p:sp>
        <p:nvSpPr>
          <p:cNvPr id="7" name="Text 2"/>
          <p:cNvSpPr txBox="1"/>
          <p:nvPr/>
        </p:nvSpPr>
        <p:spPr>
          <a:xfrm>
            <a:off x="7711135" y="3977640"/>
            <a:ext cx="3749040" cy="914400"/>
          </a:xfrm>
          <a:prstGeom prst="rect">
            <a:avLst/>
          </a:prstGeom>
          <a:noFill/>
          <a:ln/>
        </p:spPr>
        <p:txBody>
          <a:bodyPr wrap="square" lIns="0" tIns="0" rIns="0" bIns="0" rtlCol="0" anchor="t"/>
          <a:lstStyle/>
          <a:p>
            <a:pPr rtl="1" algn="r" indent="0" marL="0">
              <a:buNone/>
            </a:pPr>
            <a:r>
              <a:rPr lang="ar-SA" altLang="en-US" sz="2200" b="1" dirty="0">
                <a:solidFill>
                  <a:srgbClr val="0E1420"/>
                </a:solidFill>
                <a:latin typeface="Segoe UI" pitchFamily="34" charset="0"/>
                <a:ea typeface="Segoe UI" pitchFamily="34" charset="-122"/>
                <a:cs typeface="Segoe UI" pitchFamily="34" charset="-120"/>
              </a:rPr>
              <a:t>الرؤية الجديدة التكاملية</a:t>
            </a:r>
            <a:endParaRPr lang="ar-SA" sz="2200" dirty="0"/>
          </a:p>
          <a:p>
            <a:pPr rtl="1" algn="r" indent="0" marL="0">
              <a:buNone/>
            </a:pPr>
            <a:r>
              <a:rPr lang="ar-SA" altLang="en-US" sz="1600" dirty="0">
                <a:solidFill>
                  <a:srgbClr val="3F4856"/>
                </a:solidFill>
                <a:latin typeface="Segoe UI" pitchFamily="34" charset="0"/>
                <a:ea typeface="Segoe UI" pitchFamily="34" charset="-122"/>
                <a:cs typeface="Segoe UI" pitchFamily="34" charset="-120"/>
              </a:rPr>
              <a:t>للصيانة والمقاولات</a:t>
            </a:r>
            <a:endParaRPr lang="ar-SA" sz="2200" dirty="0"/>
          </a:p>
        </p:txBody>
      </p:sp>
      <p:sp>
        <p:nvSpPr>
          <p:cNvPr id="8" name="Text 3"/>
          <p:cNvSpPr txBox="1"/>
          <p:nvPr/>
        </p:nvSpPr>
        <p:spPr>
          <a:xfrm>
            <a:off x="7711135" y="4937760"/>
            <a:ext cx="3749040" cy="548640"/>
          </a:xfrm>
          <a:prstGeom prst="rect">
            <a:avLst/>
          </a:prstGeom>
          <a:noFill/>
          <a:ln/>
        </p:spPr>
        <p:txBody>
          <a:bodyPr wrap="square" lIns="0" tIns="0" rIns="0" bIns="0" rtlCol="0" anchor="t"/>
          <a:lstStyle/>
          <a:p>
            <a:pPr rtl="1" algn="r" indent="0" marL="0">
              <a:buNone/>
            </a:pPr>
            <a:r>
              <a:rPr lang="ar-SA" altLang="en-US" sz="1150" dirty="0">
                <a:solidFill>
                  <a:srgbClr val="667080"/>
                </a:solidFill>
                <a:latin typeface="Segoe UI" pitchFamily="34" charset="0"/>
                <a:ea typeface="Segoe UI" pitchFamily="34" charset="-122"/>
                <a:cs typeface="Segoe UI" pitchFamily="34" charset="-120"/>
              </a:rPr>
              <a:t>الهندسة  ·  المقاولات  ·  التجهيز  ·  الأعمال الكهروميكانيكية  ·  صيانة المرافق</a:t>
            </a:r>
            <a:endParaRPr lang="ar-SA" sz="1150" dirty="0"/>
          </a:p>
        </p:txBody>
      </p:sp>
      <p:sp>
        <p:nvSpPr>
          <p:cNvPr id="9" name="Text 4"/>
          <p:cNvSpPr txBox="1"/>
          <p:nvPr/>
        </p:nvSpPr>
        <p:spPr>
          <a:xfrm>
            <a:off x="7711135" y="5897880"/>
            <a:ext cx="3749040" cy="274320"/>
          </a:xfrm>
          <a:prstGeom prst="rect">
            <a:avLst/>
          </a:prstGeom>
          <a:noFill/>
          <a:ln/>
        </p:spPr>
        <p:txBody>
          <a:bodyPr wrap="square" lIns="0" tIns="0" rIns="0" bIns="0" rtlCol="0" anchor="t"/>
          <a:lstStyle/>
          <a:p>
            <a:pPr rtl="1" algn="r" indent="0" marL="0">
              <a:buNone/>
            </a:pPr>
            <a:r>
              <a:rPr lang="ar-SA" altLang="en-US" sz="1260" dirty="0">
                <a:solidFill>
                  <a:srgbClr val="667080"/>
                </a:solidFill>
                <a:latin typeface="Segoe UI" pitchFamily="34" charset="0"/>
                <a:ea typeface="Segoe UI" pitchFamily="34" charset="-122"/>
                <a:cs typeface="Segoe UI" pitchFamily="34" charset="-120"/>
              </a:rPr>
              <a:t>جدة  ·  المملكة العربية السعودية</a:t>
            </a:r>
            <a:endParaRPr lang="ar-SA" sz="1260" dirty="0"/>
          </a:p>
        </p:txBody>
      </p:sp>
      <p:sp>
        <p:nvSpPr>
          <p:cNvPr id="10" name="Text 5"/>
          <p:cNvSpPr txBox="1"/>
          <p:nvPr/>
        </p:nvSpPr>
        <p:spPr>
          <a:xfrm>
            <a:off x="7711135" y="6172200"/>
            <a:ext cx="3749040" cy="274320"/>
          </a:xfrm>
          <a:prstGeom prst="rect">
            <a:avLst/>
          </a:prstGeom>
          <a:noFill/>
          <a:ln/>
        </p:spPr>
        <p:txBody>
          <a:bodyPr wrap="square" lIns="0" tIns="0" rIns="0" bIns="0" rtlCol="0" anchor="t"/>
          <a:lstStyle/>
          <a:p>
            <a:pPr rtl="1" algn="r" indent="0" marL="0">
              <a:buNone/>
            </a:pPr>
            <a:r>
              <a:rPr lang="ar-SA" altLang="en-US" sz="1100" b="1" dirty="0">
                <a:solidFill>
                  <a:srgbClr val="E5177B"/>
                </a:solidFill>
                <a:latin typeface="Bahnschrift" pitchFamily="34" charset="0"/>
                <a:ea typeface="Bahnschrift" pitchFamily="34" charset="-122"/>
                <a:cs typeface="Bahnschrift" pitchFamily="34" charset="-120"/>
              </a:rPr>
              <a:t>www.nvi-sa.com</a:t>
            </a:r>
            <a:endParaRPr lang="ar-SA" sz="1100" dirty="0"/>
          </a:p>
        </p:txBody>
      </p:sp>
      <p:sp>
        <p:nvSpPr>
          <p:cNvPr id="11" name="Shape 6"/>
          <p:cNvSpPr/>
          <p:nvPr/>
        </p:nvSpPr>
        <p:spPr>
          <a:xfrm>
            <a:off x="6321247" y="1828800"/>
            <a:ext cx="384048" cy="146304"/>
          </a:xfrm>
          <a:prstGeom prst="parallelogram">
            <a:avLst/>
          </a:prstGeom>
          <a:solidFill>
            <a:srgbClr val="FBBA16"/>
          </a:solidFill>
          <a:ln w="12700">
            <a:solidFill>
              <a:srgbClr val="FBBA16"/>
            </a:solidFill>
            <a:prstDash val="solid"/>
          </a:ln>
        </p:spPr>
      </p:sp>
      <p:sp>
        <p:nvSpPr>
          <p:cNvPr id="12" name="Shape 7"/>
          <p:cNvSpPr/>
          <p:nvPr/>
        </p:nvSpPr>
        <p:spPr>
          <a:xfrm>
            <a:off x="5845759" y="1828800"/>
            <a:ext cx="384048" cy="146304"/>
          </a:xfrm>
          <a:prstGeom prst="parallelogram">
            <a:avLst/>
          </a:prstGeom>
          <a:solidFill>
            <a:srgbClr val="E5177B"/>
          </a:solidFill>
          <a:ln w="12700">
            <a:solidFill>
              <a:srgbClr val="E5177B"/>
            </a:solidFill>
            <a:prstDash val="solid"/>
          </a:ln>
        </p:spPr>
      </p:sp>
      <p:sp>
        <p:nvSpPr>
          <p:cNvPr id="13" name="Shape 8"/>
          <p:cNvSpPr/>
          <p:nvPr/>
        </p:nvSpPr>
        <p:spPr>
          <a:xfrm>
            <a:off x="5370271" y="1828800"/>
            <a:ext cx="384048" cy="146304"/>
          </a:xfrm>
          <a:prstGeom prst="parallelogram">
            <a:avLst/>
          </a:prstGeom>
          <a:solidFill>
            <a:srgbClr val="2DB8E0"/>
          </a:solidFill>
          <a:ln w="12700">
            <a:solidFill>
              <a:srgbClr val="2DB8E0"/>
            </a:solidFill>
            <a:prstDash val="solid"/>
          </a:ln>
        </p:spPr>
      </p:sp>
      <p:sp>
        <p:nvSpPr>
          <p:cNvPr id="14" name="Shape 9"/>
          <p:cNvSpPr/>
          <p:nvPr/>
        </p:nvSpPr>
        <p:spPr>
          <a:xfrm>
            <a:off x="4894783" y="1828800"/>
            <a:ext cx="384048" cy="146304"/>
          </a:xfrm>
          <a:prstGeom prst="parallelogram">
            <a:avLst/>
          </a:prstGeom>
          <a:solidFill>
            <a:srgbClr val="5B54A4"/>
          </a:solidFill>
          <a:ln w="12700">
            <a:solidFill>
              <a:srgbClr val="5B54A4"/>
            </a:solidFill>
            <a:prstDash val="solid"/>
          </a:ln>
        </p:spPr>
      </p:sp>
      <p:sp>
        <p:nvSpPr>
          <p:cNvPr id="15" name="Text 10"/>
          <p:cNvSpPr txBox="1"/>
          <p:nvPr/>
        </p:nvSpPr>
        <p:spPr>
          <a:xfrm>
            <a:off x="487375" y="2194560"/>
            <a:ext cx="6217920" cy="2194560"/>
          </a:xfrm>
          <a:prstGeom prst="rect">
            <a:avLst/>
          </a:prstGeom>
          <a:noFill/>
          <a:ln/>
        </p:spPr>
        <p:txBody>
          <a:bodyPr wrap="square" lIns="0" tIns="0" rIns="0" bIns="0" rtlCol="0" anchor="t"/>
          <a:lstStyle/>
          <a:p>
            <a:pPr rtl="1" algn="r" indent="0" marL="0">
              <a:lnSpc>
                <a:spcPct val="95000"/>
              </a:lnSpc>
              <a:buNone/>
            </a:pPr>
            <a:r>
              <a:rPr lang="ar-SA" altLang="en-US" sz="6000" b="1" dirty="0">
                <a:solidFill>
                  <a:srgbClr val="FFFFFF"/>
                </a:solidFill>
                <a:latin typeface="Segoe UI" pitchFamily="34" charset="0"/>
                <a:ea typeface="Segoe UI" pitchFamily="34" charset="-122"/>
                <a:cs typeface="Segoe UI" pitchFamily="34" charset="-120"/>
              </a:rPr>
              <a:t>بناءٌ خالٍ</a:t>
            </a:r>
            <a:endParaRPr lang="ar-SA" sz="6000" dirty="0"/>
          </a:p>
          <a:p>
            <a:pPr rtl="1" algn="r" indent="0" marL="0">
              <a:lnSpc>
                <a:spcPct val="95000"/>
              </a:lnSpc>
              <a:buNone/>
            </a:pPr>
            <a:r>
              <a:rPr lang="ar-SA" altLang="en-US" sz="6000" b="1" dirty="0">
                <a:solidFill>
                  <a:srgbClr val="FFFFFF"/>
                </a:solidFill>
                <a:latin typeface="Segoe UI" pitchFamily="34" charset="0"/>
                <a:ea typeface="Segoe UI" pitchFamily="34" charset="-122"/>
                <a:cs typeface="Segoe UI" pitchFamily="34" charset="-120"/>
              </a:rPr>
              <a:t>من القلق.</a:t>
            </a:r>
            <a:endParaRPr lang="ar-SA" sz="6000" dirty="0"/>
          </a:p>
        </p:txBody>
      </p:sp>
      <p:sp>
        <p:nvSpPr>
          <p:cNvPr id="16" name="Text 11"/>
          <p:cNvSpPr txBox="1"/>
          <p:nvPr/>
        </p:nvSpPr>
        <p:spPr>
          <a:xfrm>
            <a:off x="944575" y="4526280"/>
            <a:ext cx="5760720" cy="822960"/>
          </a:xfrm>
          <a:prstGeom prst="rect">
            <a:avLst/>
          </a:prstGeom>
          <a:noFill/>
          <a:ln/>
        </p:spPr>
        <p:txBody>
          <a:bodyPr wrap="square" lIns="0" tIns="0" rIns="0" bIns="0" rtlCol="0" anchor="t"/>
          <a:lstStyle/>
          <a:p>
            <a:pPr rtl="1" algn="r" indent="0" marL="0">
              <a:buNone/>
            </a:pPr>
            <a:r>
              <a:rPr lang="ar-SA" altLang="en-US" sz="1800" dirty="0">
                <a:solidFill>
                  <a:srgbClr val="DCE3EA"/>
                </a:solidFill>
                <a:latin typeface="Segoe UI" pitchFamily="34" charset="0"/>
                <a:ea typeface="Segoe UI" pitchFamily="34" charset="-122"/>
                <a:cs typeface="Segoe UI" pitchFamily="34" charset="-120"/>
              </a:rPr>
              <a:t>من التصميم والهندسة إلى التنفيذ والتسليم والصيانة.</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about.jpg">    </p:cNvPr>
          <p:cNvPicPr>
            <a:picLocks noChangeAspect="1"/>
          </p:cNvPicPr>
          <p:nvPr/>
        </p:nvPicPr>
        <p:blipFill>
          <a:blip r:embed="rId1"/>
          <a:stretch>
            <a:fillRect/>
          </a:stretch>
        </p:blipFill>
        <p:spPr>
          <a:xfrm>
            <a:off x="0" y="0"/>
            <a:ext cx="5120640" cy="6858000"/>
          </a:xfrm>
          <a:prstGeom prst="rect">
            <a:avLst/>
          </a:prstGeom>
        </p:spPr>
      </p:pic>
      <p:pic>
        <p:nvPicPr>
          <p:cNvPr id="3" name="Image 1" descr="/home/user/NVIConsult/build/assets_bold/logo_mark.png">    </p:cNvPr>
          <p:cNvPicPr>
            <a:picLocks noChangeAspect="1"/>
          </p:cNvPicPr>
          <p:nvPr/>
        </p:nvPicPr>
        <p:blipFill>
          <a:blip r:embed="rId2"/>
          <a:stretch>
            <a:fillRect/>
          </a:stretch>
        </p:blipFill>
        <p:spPr>
          <a:xfrm>
            <a:off x="11328969" y="621792"/>
            <a:ext cx="314086" cy="173736"/>
          </a:xfrm>
          <a:prstGeom prst="rect">
            <a:avLst/>
          </a:prstGeom>
        </p:spPr>
      </p:pic>
      <p:sp>
        <p:nvSpPr>
          <p:cNvPr id="4" name="Text 0"/>
          <p:cNvSpPr txBox="1"/>
          <p:nvPr/>
        </p:nvSpPr>
        <p:spPr>
          <a:xfrm>
            <a:off x="5516575" y="594360"/>
            <a:ext cx="5669280" cy="256032"/>
          </a:xfrm>
          <a:prstGeom prst="rect">
            <a:avLst/>
          </a:prstGeom>
          <a:noFill/>
          <a:ln/>
        </p:spPr>
        <p:txBody>
          <a:bodyPr wrap="square" lIns="0" tIns="0" rIns="0" bIns="0" rtlCol="0" anchor="ctr"/>
          <a:lstStyle/>
          <a:p>
            <a:pPr rtl="1" algn="r" indent="0" marL="0">
              <a:buNone/>
            </a:pPr>
            <a:r>
              <a:rPr lang="ar-SA" altLang="en-US" sz="1260" b="1" dirty="0">
                <a:solidFill>
                  <a:srgbClr val="E5177B"/>
                </a:solidFill>
                <a:latin typeface="Segoe UI" pitchFamily="34" charset="0"/>
                <a:ea typeface="Segoe UI" pitchFamily="34" charset="-122"/>
                <a:cs typeface="Segoe UI" pitchFamily="34" charset="-120"/>
              </a:rPr>
              <a:t>01  ·  من نحن</a:t>
            </a:r>
            <a:endParaRPr lang="ar-SA" sz="1260" dirty="0"/>
          </a:p>
        </p:txBody>
      </p:sp>
      <p:sp>
        <p:nvSpPr>
          <p:cNvPr id="5" name="Text 1"/>
          <p:cNvSpPr txBox="1"/>
          <p:nvPr/>
        </p:nvSpPr>
        <p:spPr>
          <a:xfrm>
            <a:off x="5516575" y="960120"/>
            <a:ext cx="6126480" cy="1143000"/>
          </a:xfrm>
          <a:prstGeom prst="rect">
            <a:avLst/>
          </a:prstGeom>
          <a:noFill/>
          <a:ln/>
        </p:spPr>
        <p:txBody>
          <a:bodyPr wrap="square" lIns="0" tIns="0" rIns="0" bIns="0" rtlCol="0" anchor="t"/>
          <a:lstStyle/>
          <a:p>
            <a:pPr rtl="1" algn="r" indent="0" marL="0">
              <a:buNone/>
            </a:pPr>
            <a:r>
              <a:rPr lang="ar-SA" altLang="en-US" sz="2500" b="1" dirty="0">
                <a:solidFill>
                  <a:srgbClr val="0E1420"/>
                </a:solidFill>
                <a:latin typeface="Segoe UI" pitchFamily="34" charset="0"/>
                <a:ea typeface="Segoe UI" pitchFamily="34" charset="-122"/>
                <a:cs typeface="Segoe UI" pitchFamily="34" charset="-120"/>
              </a:rPr>
              <a:t>شركة مقاولات جديدة في جدة، بخبرة تتجاوز 35 عامًا.</a:t>
            </a:r>
            <a:endParaRPr lang="ar-SA" sz="2500" dirty="0"/>
          </a:p>
        </p:txBody>
      </p:sp>
      <p:sp>
        <p:nvSpPr>
          <p:cNvPr id="6" name="Text 2"/>
          <p:cNvSpPr txBox="1"/>
          <p:nvPr/>
        </p:nvSpPr>
        <p:spPr>
          <a:xfrm>
            <a:off x="5516575" y="2286000"/>
            <a:ext cx="6126480" cy="1920240"/>
          </a:xfrm>
          <a:prstGeom prst="rect">
            <a:avLst/>
          </a:prstGeom>
          <a:noFill/>
          <a:ln/>
        </p:spPr>
        <p:txBody>
          <a:bodyPr wrap="square" lIns="0" tIns="0" rIns="0" bIns="0" rtlCol="0" anchor="t"/>
          <a:lstStyle/>
          <a:p>
            <a:pPr rtl="1" algn="r" indent="0" marL="0">
              <a:lnSpc>
                <a:spcPct val="115000"/>
              </a:lnSpc>
              <a:buNone/>
            </a:pPr>
            <a:r>
              <a:rPr lang="ar-SA" altLang="en-US" sz="1450" dirty="0">
                <a:solidFill>
                  <a:srgbClr val="3F4856"/>
                </a:solidFill>
                <a:latin typeface="Segoe UI" pitchFamily="34" charset="0"/>
                <a:ea typeface="Segoe UI" pitchFamily="34" charset="-122"/>
                <a:cs typeface="Segoe UI" pitchFamily="34" charset="-120"/>
              </a:rPr>
              <a:t>شركة الرؤية الجديدة التكاملية للصيانة والمقاولات شركة مقرها جدة، تأسست عام 2024، متخصصة في تقديم حلول شاملة للصيانة والمقاولات مصممة لتلبية الاحتياجات الخاصة لكل عميل.</a:t>
            </a:r>
            <a:endParaRPr lang="ar-SA" sz="1450" dirty="0"/>
          </a:p>
          <a:p>
            <a:pPr rtl="1" algn="r" indent="0" marL="0">
              <a:lnSpc>
                <a:spcPct val="115000"/>
              </a:lnSpc>
              <a:buNone/>
            </a:pPr>
            <a:endParaRPr lang="ar-SA" sz="1450" dirty="0"/>
          </a:p>
          <a:p>
            <a:pPr rtl="1" algn="r" indent="0" marL="0">
              <a:lnSpc>
                <a:spcPct val="115000"/>
              </a:lnSpc>
              <a:buNone/>
            </a:pPr>
            <a:r>
              <a:rPr lang="ar-SA" altLang="en-US" sz="1450" dirty="0">
                <a:solidFill>
                  <a:srgbClr val="3F4856"/>
                </a:solidFill>
                <a:latin typeface="Segoe UI" pitchFamily="34" charset="0"/>
                <a:ea typeface="Segoe UI" pitchFamily="34" charset="-122"/>
                <a:cs typeface="Segoe UI" pitchFamily="34" charset="-120"/>
              </a:rPr>
              <a:t>يضم فريقنا محترفين بخبرة عملية تزيد عن 35 عامًا، ويتيح لنا موقعنا الاستراتيجي في قلب جدة خدمة مجموعة متنوعة من القطاعات بكفاءة.</a:t>
            </a:r>
            <a:endParaRPr lang="ar-SA" sz="1450" dirty="0"/>
          </a:p>
        </p:txBody>
      </p:sp>
      <p:sp>
        <p:nvSpPr>
          <p:cNvPr id="7" name="Shape 3"/>
          <p:cNvSpPr/>
          <p:nvPr/>
        </p:nvSpPr>
        <p:spPr>
          <a:xfrm>
            <a:off x="11313871" y="4434840"/>
            <a:ext cx="329184" cy="128016"/>
          </a:xfrm>
          <a:prstGeom prst="parallelogram">
            <a:avLst/>
          </a:prstGeom>
          <a:solidFill>
            <a:srgbClr val="E5177B"/>
          </a:solidFill>
          <a:ln w="12700">
            <a:solidFill>
              <a:srgbClr val="E5177B"/>
            </a:solidFill>
            <a:prstDash val="solid"/>
          </a:ln>
        </p:spPr>
      </p:sp>
      <p:sp>
        <p:nvSpPr>
          <p:cNvPr id="8" name="Text 4"/>
          <p:cNvSpPr txBox="1"/>
          <p:nvPr/>
        </p:nvSpPr>
        <p:spPr>
          <a:xfrm>
            <a:off x="8716975" y="4617720"/>
            <a:ext cx="2926080" cy="502920"/>
          </a:xfrm>
          <a:prstGeom prst="rect">
            <a:avLst/>
          </a:prstGeom>
          <a:noFill/>
          <a:ln/>
        </p:spPr>
        <p:txBody>
          <a:bodyPr wrap="square" lIns="0" tIns="0" rIns="0" bIns="0" rtlCol="0" anchor="ctr"/>
          <a:lstStyle/>
          <a:p>
            <a:pPr rtl="1" algn="r" indent="0" marL="0">
              <a:buNone/>
            </a:pPr>
            <a:r>
              <a:rPr lang="ar-SA" altLang="en-US" sz="3200" b="1" dirty="0">
                <a:solidFill>
                  <a:srgbClr val="0E1420"/>
                </a:solidFill>
                <a:latin typeface="Consolas" pitchFamily="34" charset="0"/>
                <a:ea typeface="Consolas" pitchFamily="34" charset="-122"/>
                <a:cs typeface="Consolas" pitchFamily="34" charset="-120"/>
              </a:rPr>
              <a:t>2024</a:t>
            </a:r>
            <a:endParaRPr lang="ar-SA" sz="3200" dirty="0"/>
          </a:p>
        </p:txBody>
      </p:sp>
      <p:sp>
        <p:nvSpPr>
          <p:cNvPr id="9" name="Text 5"/>
          <p:cNvSpPr txBox="1"/>
          <p:nvPr/>
        </p:nvSpPr>
        <p:spPr>
          <a:xfrm>
            <a:off x="8716975" y="5120640"/>
            <a:ext cx="2926080" cy="228600"/>
          </a:xfrm>
          <a:prstGeom prst="rect">
            <a:avLst/>
          </a:prstGeom>
          <a:noFill/>
          <a:ln/>
        </p:spPr>
        <p:txBody>
          <a:bodyPr wrap="square" lIns="0" tIns="0" rIns="0" bIns="0" rtlCol="0" anchor="t"/>
          <a:lstStyle/>
          <a:p>
            <a:pPr rtl="1" algn="r" indent="0" marL="0">
              <a:buNone/>
            </a:pPr>
            <a:r>
              <a:rPr lang="ar-SA" altLang="en-US" sz="1150" b="1" dirty="0">
                <a:solidFill>
                  <a:srgbClr val="667080"/>
                </a:solidFill>
                <a:latin typeface="Segoe UI" pitchFamily="34" charset="0"/>
                <a:ea typeface="Segoe UI" pitchFamily="34" charset="-122"/>
                <a:cs typeface="Segoe UI" pitchFamily="34" charset="-120"/>
              </a:rPr>
              <a:t>سنة التأسيس</a:t>
            </a:r>
            <a:endParaRPr lang="ar-SA" sz="1150" dirty="0"/>
          </a:p>
        </p:txBody>
      </p:sp>
      <p:sp>
        <p:nvSpPr>
          <p:cNvPr id="10" name="Shape 6"/>
          <p:cNvSpPr/>
          <p:nvPr/>
        </p:nvSpPr>
        <p:spPr>
          <a:xfrm>
            <a:off x="8204911" y="4434840"/>
            <a:ext cx="329184" cy="128016"/>
          </a:xfrm>
          <a:prstGeom prst="parallelogram">
            <a:avLst/>
          </a:prstGeom>
          <a:solidFill>
            <a:srgbClr val="2DB8E0"/>
          </a:solidFill>
          <a:ln w="12700">
            <a:solidFill>
              <a:srgbClr val="2DB8E0"/>
            </a:solidFill>
            <a:prstDash val="solid"/>
          </a:ln>
        </p:spPr>
      </p:sp>
      <p:sp>
        <p:nvSpPr>
          <p:cNvPr id="11" name="Text 7"/>
          <p:cNvSpPr txBox="1"/>
          <p:nvPr/>
        </p:nvSpPr>
        <p:spPr>
          <a:xfrm>
            <a:off x="5608015" y="4617720"/>
            <a:ext cx="2926080" cy="502920"/>
          </a:xfrm>
          <a:prstGeom prst="rect">
            <a:avLst/>
          </a:prstGeom>
          <a:noFill/>
          <a:ln/>
        </p:spPr>
        <p:txBody>
          <a:bodyPr wrap="square" lIns="0" tIns="0" rIns="0" bIns="0" rtlCol="0" anchor="ctr"/>
          <a:lstStyle/>
          <a:p>
            <a:pPr rtl="1" algn="r" indent="0" marL="0">
              <a:buNone/>
            </a:pPr>
            <a:r>
              <a:rPr lang="ar-SA" altLang="en-US" sz="3200" b="1" dirty="0">
                <a:solidFill>
                  <a:srgbClr val="0E1420"/>
                </a:solidFill>
                <a:latin typeface="Segoe UI" pitchFamily="34" charset="0"/>
                <a:ea typeface="Segoe UI" pitchFamily="34" charset="-122"/>
                <a:cs typeface="Segoe UI" pitchFamily="34" charset="-120"/>
              </a:rPr>
              <a:t>جدة</a:t>
            </a:r>
            <a:endParaRPr lang="ar-SA" sz="3200" dirty="0"/>
          </a:p>
        </p:txBody>
      </p:sp>
      <p:sp>
        <p:nvSpPr>
          <p:cNvPr id="12" name="Text 8"/>
          <p:cNvSpPr txBox="1"/>
          <p:nvPr/>
        </p:nvSpPr>
        <p:spPr>
          <a:xfrm>
            <a:off x="5608015" y="5120640"/>
            <a:ext cx="2926080" cy="228600"/>
          </a:xfrm>
          <a:prstGeom prst="rect">
            <a:avLst/>
          </a:prstGeom>
          <a:noFill/>
          <a:ln/>
        </p:spPr>
        <p:txBody>
          <a:bodyPr wrap="square" lIns="0" tIns="0" rIns="0" bIns="0" rtlCol="0" anchor="t"/>
          <a:lstStyle/>
          <a:p>
            <a:pPr rtl="1" algn="r" indent="0" marL="0">
              <a:buNone/>
            </a:pPr>
            <a:r>
              <a:rPr lang="ar-SA" altLang="en-US" sz="1150" b="1" dirty="0">
                <a:solidFill>
                  <a:srgbClr val="667080"/>
                </a:solidFill>
                <a:latin typeface="Segoe UI" pitchFamily="34" charset="0"/>
                <a:ea typeface="Segoe UI" pitchFamily="34" charset="-122"/>
                <a:cs typeface="Segoe UI" pitchFamily="34" charset="-120"/>
              </a:rPr>
              <a:t>المقر الرئيسي</a:t>
            </a:r>
            <a:endParaRPr lang="ar-SA" sz="1150" dirty="0"/>
          </a:p>
        </p:txBody>
      </p:sp>
      <p:sp>
        <p:nvSpPr>
          <p:cNvPr id="13" name="Shape 9"/>
          <p:cNvSpPr/>
          <p:nvPr/>
        </p:nvSpPr>
        <p:spPr>
          <a:xfrm>
            <a:off x="11313871" y="5440680"/>
            <a:ext cx="329184" cy="128016"/>
          </a:xfrm>
          <a:prstGeom prst="parallelogram">
            <a:avLst/>
          </a:prstGeom>
          <a:solidFill>
            <a:srgbClr val="FBBA16"/>
          </a:solidFill>
          <a:ln w="12700">
            <a:solidFill>
              <a:srgbClr val="FBBA16"/>
            </a:solidFill>
            <a:prstDash val="solid"/>
          </a:ln>
        </p:spPr>
      </p:sp>
      <p:sp>
        <p:nvSpPr>
          <p:cNvPr id="14" name="Text 10"/>
          <p:cNvSpPr txBox="1"/>
          <p:nvPr/>
        </p:nvSpPr>
        <p:spPr>
          <a:xfrm>
            <a:off x="8716975" y="5623560"/>
            <a:ext cx="2926080" cy="502920"/>
          </a:xfrm>
          <a:prstGeom prst="rect">
            <a:avLst/>
          </a:prstGeom>
          <a:noFill/>
          <a:ln/>
        </p:spPr>
        <p:txBody>
          <a:bodyPr wrap="square" lIns="0" tIns="0" rIns="0" bIns="0" rtlCol="0" anchor="ctr"/>
          <a:lstStyle/>
          <a:p>
            <a:pPr rtl="1" algn="r" indent="0" marL="0">
              <a:buNone/>
            </a:pPr>
            <a:r>
              <a:rPr lang="ar-SA" altLang="en-US" sz="3200" b="1" dirty="0">
                <a:solidFill>
                  <a:srgbClr val="0E1420"/>
                </a:solidFill>
                <a:latin typeface="Consolas" pitchFamily="34" charset="0"/>
                <a:ea typeface="Consolas" pitchFamily="34" charset="-122"/>
                <a:cs typeface="Consolas" pitchFamily="34" charset="-120"/>
              </a:rPr>
              <a:t>+35</a:t>
            </a:r>
            <a:endParaRPr lang="ar-SA" sz="3200" dirty="0"/>
          </a:p>
        </p:txBody>
      </p:sp>
      <p:sp>
        <p:nvSpPr>
          <p:cNvPr id="15" name="Text 11"/>
          <p:cNvSpPr txBox="1"/>
          <p:nvPr/>
        </p:nvSpPr>
        <p:spPr>
          <a:xfrm>
            <a:off x="8716975" y="6126480"/>
            <a:ext cx="2926080" cy="228600"/>
          </a:xfrm>
          <a:prstGeom prst="rect">
            <a:avLst/>
          </a:prstGeom>
          <a:noFill/>
          <a:ln/>
        </p:spPr>
        <p:txBody>
          <a:bodyPr wrap="square" lIns="0" tIns="0" rIns="0" bIns="0" rtlCol="0" anchor="t"/>
          <a:lstStyle/>
          <a:p>
            <a:pPr rtl="1" algn="r" indent="0" marL="0">
              <a:buNone/>
            </a:pPr>
            <a:r>
              <a:rPr lang="ar-SA" altLang="en-US" sz="1150" b="1" dirty="0">
                <a:solidFill>
                  <a:srgbClr val="667080"/>
                </a:solidFill>
                <a:latin typeface="Segoe UI" pitchFamily="34" charset="0"/>
                <a:ea typeface="Segoe UI" pitchFamily="34" charset="-122"/>
                <a:cs typeface="Segoe UI" pitchFamily="34" charset="-120"/>
              </a:rPr>
              <a:t>عامًا من الخبرة</a:t>
            </a:r>
            <a:endParaRPr lang="ar-SA" sz="1150" dirty="0"/>
          </a:p>
        </p:txBody>
      </p:sp>
      <p:sp>
        <p:nvSpPr>
          <p:cNvPr id="16" name="Shape 12"/>
          <p:cNvSpPr/>
          <p:nvPr/>
        </p:nvSpPr>
        <p:spPr>
          <a:xfrm>
            <a:off x="8204911" y="5440680"/>
            <a:ext cx="329184" cy="128016"/>
          </a:xfrm>
          <a:prstGeom prst="parallelogram">
            <a:avLst/>
          </a:prstGeom>
          <a:solidFill>
            <a:srgbClr val="5B54A4"/>
          </a:solidFill>
          <a:ln w="12700">
            <a:solidFill>
              <a:srgbClr val="5B54A4"/>
            </a:solidFill>
            <a:prstDash val="solid"/>
          </a:ln>
        </p:spPr>
      </p:sp>
      <p:sp>
        <p:nvSpPr>
          <p:cNvPr id="17" name="Text 13"/>
          <p:cNvSpPr txBox="1"/>
          <p:nvPr/>
        </p:nvSpPr>
        <p:spPr>
          <a:xfrm>
            <a:off x="5608015" y="5623560"/>
            <a:ext cx="2926080" cy="502920"/>
          </a:xfrm>
          <a:prstGeom prst="rect">
            <a:avLst/>
          </a:prstGeom>
          <a:noFill/>
          <a:ln/>
        </p:spPr>
        <p:txBody>
          <a:bodyPr wrap="square" lIns="0" tIns="0" rIns="0" bIns="0" rtlCol="0" anchor="ctr"/>
          <a:lstStyle/>
          <a:p>
            <a:pPr rtl="1" algn="r" indent="0" marL="0">
              <a:buNone/>
            </a:pPr>
            <a:r>
              <a:rPr lang="ar-SA" altLang="en-US" sz="3200" b="1" dirty="0">
                <a:solidFill>
                  <a:srgbClr val="0E1420"/>
                </a:solidFill>
                <a:latin typeface="Consolas" pitchFamily="34" charset="0"/>
                <a:ea typeface="Consolas" pitchFamily="34" charset="-122"/>
                <a:cs typeface="Consolas" pitchFamily="34" charset="-120"/>
              </a:rPr>
              <a:t>8</a:t>
            </a:r>
            <a:endParaRPr lang="ar-SA" sz="3200" dirty="0"/>
          </a:p>
        </p:txBody>
      </p:sp>
      <p:sp>
        <p:nvSpPr>
          <p:cNvPr id="18" name="Text 14"/>
          <p:cNvSpPr txBox="1"/>
          <p:nvPr/>
        </p:nvSpPr>
        <p:spPr>
          <a:xfrm>
            <a:off x="5608015" y="6126480"/>
            <a:ext cx="2926080" cy="228600"/>
          </a:xfrm>
          <a:prstGeom prst="rect">
            <a:avLst/>
          </a:prstGeom>
          <a:noFill/>
          <a:ln/>
        </p:spPr>
        <p:txBody>
          <a:bodyPr wrap="square" lIns="0" tIns="0" rIns="0" bIns="0" rtlCol="0" anchor="t"/>
          <a:lstStyle/>
          <a:p>
            <a:pPr rtl="1" algn="r" indent="0" marL="0">
              <a:buNone/>
            </a:pPr>
            <a:r>
              <a:rPr lang="ar-SA" altLang="en-US" sz="1150" b="1" dirty="0">
                <a:solidFill>
                  <a:srgbClr val="667080"/>
                </a:solidFill>
                <a:latin typeface="Segoe UI" pitchFamily="34" charset="0"/>
                <a:ea typeface="Segoe UI" pitchFamily="34" charset="-122"/>
                <a:cs typeface="Segoe UI" pitchFamily="34" charset="-120"/>
              </a:rPr>
              <a:t>خطوط خدمات</a:t>
            </a:r>
            <a:endParaRPr lang="ar-SA" sz="1150" dirty="0"/>
          </a:p>
        </p:txBody>
      </p:sp>
      <p:sp>
        <p:nvSpPr>
          <p:cNvPr id="19" name="Text 15"/>
          <p:cNvSpPr txBox="1"/>
          <p:nvPr/>
        </p:nvSpPr>
        <p:spPr>
          <a:xfrm>
            <a:off x="6065215" y="6446520"/>
            <a:ext cx="5577840"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20" name="Text 16"/>
          <p:cNvSpPr txBox="1"/>
          <p:nvPr/>
        </p:nvSpPr>
        <p:spPr>
          <a:xfrm>
            <a:off x="5516575"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02</a:t>
            </a:r>
            <a:endParaRPr lang="ar-SA"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vision.jpg">    </p:cNvPr>
          <p:cNvPicPr>
            <a:picLocks noChangeAspect="1"/>
          </p:cNvPicPr>
          <p:nvPr/>
        </p:nvPicPr>
        <p:blipFill>
          <a:blip r:embed="rId1"/>
          <a:stretch>
            <a:fillRect/>
          </a:stretch>
        </p:blipFill>
        <p:spPr>
          <a:xfrm>
            <a:off x="7985455" y="0"/>
            <a:ext cx="4206240" cy="6858000"/>
          </a:xfrm>
          <a:prstGeom prst="rect">
            <a:avLst/>
          </a:prstGeom>
        </p:spPr>
      </p:pic>
      <p:pic>
        <p:nvPicPr>
          <p:cNvPr id="3" name="Image 1" descr="/home/user/NVIConsult/build/assets_bold/logo_mark.png">    </p:cNvPr>
          <p:cNvPicPr>
            <a:picLocks noChangeAspect="1"/>
          </p:cNvPicPr>
          <p:nvPr/>
        </p:nvPicPr>
        <p:blipFill>
          <a:blip r:embed="rId2"/>
          <a:stretch>
            <a:fillRect/>
          </a:stretch>
        </p:blipFill>
        <p:spPr>
          <a:xfrm>
            <a:off x="7122729" y="621792"/>
            <a:ext cx="314086" cy="173736"/>
          </a:xfrm>
          <a:prstGeom prst="rect">
            <a:avLst/>
          </a:prstGeom>
        </p:spPr>
      </p:pic>
      <p:sp>
        <p:nvSpPr>
          <p:cNvPr id="4" name="Text 0"/>
          <p:cNvSpPr txBox="1"/>
          <p:nvPr/>
        </p:nvSpPr>
        <p:spPr>
          <a:xfrm>
            <a:off x="548640" y="594360"/>
            <a:ext cx="6430975" cy="256032"/>
          </a:xfrm>
          <a:prstGeom prst="rect">
            <a:avLst/>
          </a:prstGeom>
          <a:noFill/>
          <a:ln/>
        </p:spPr>
        <p:txBody>
          <a:bodyPr wrap="square" lIns="0" tIns="0" rIns="0" bIns="0" rtlCol="0" anchor="ctr"/>
          <a:lstStyle/>
          <a:p>
            <a:pPr rtl="1" algn="r" indent="0" marL="0">
              <a:buNone/>
            </a:pPr>
            <a:r>
              <a:rPr lang="ar-SA" altLang="en-US" sz="1260" b="1" dirty="0">
                <a:solidFill>
                  <a:srgbClr val="E5177B"/>
                </a:solidFill>
                <a:latin typeface="Segoe UI" pitchFamily="34" charset="0"/>
                <a:ea typeface="Segoe UI" pitchFamily="34" charset="-122"/>
                <a:cs typeface="Segoe UI" pitchFamily="34" charset="-120"/>
              </a:rPr>
              <a:t>02  ·  توجهنا</a:t>
            </a:r>
            <a:endParaRPr lang="ar-SA" sz="1260" dirty="0"/>
          </a:p>
        </p:txBody>
      </p:sp>
      <p:sp>
        <p:nvSpPr>
          <p:cNvPr id="5" name="Text 1"/>
          <p:cNvSpPr txBox="1"/>
          <p:nvPr/>
        </p:nvSpPr>
        <p:spPr>
          <a:xfrm>
            <a:off x="548640" y="960120"/>
            <a:ext cx="6888175" cy="640080"/>
          </a:xfrm>
          <a:prstGeom prst="rect">
            <a:avLst/>
          </a:prstGeom>
          <a:noFill/>
          <a:ln/>
        </p:spPr>
        <p:txBody>
          <a:bodyPr wrap="square" lIns="0" tIns="0" rIns="0" bIns="0" rtlCol="0" anchor="t"/>
          <a:lstStyle/>
          <a:p>
            <a:pPr rtl="1" algn="r" indent="0" marL="0">
              <a:buNone/>
            </a:pPr>
            <a:r>
              <a:rPr lang="ar-SA" altLang="en-US" sz="3400" b="1" dirty="0">
                <a:solidFill>
                  <a:srgbClr val="0E1420"/>
                </a:solidFill>
                <a:latin typeface="Segoe UI" pitchFamily="34" charset="0"/>
                <a:ea typeface="Segoe UI" pitchFamily="34" charset="-122"/>
                <a:cs typeface="Segoe UI" pitchFamily="34" charset="-120"/>
              </a:rPr>
              <a:t>الرؤية والرسالة والقيم</a:t>
            </a:r>
            <a:endParaRPr lang="ar-SA" sz="3400" dirty="0"/>
          </a:p>
        </p:txBody>
      </p:sp>
      <p:sp>
        <p:nvSpPr>
          <p:cNvPr id="6" name="Shape 2"/>
          <p:cNvSpPr/>
          <p:nvPr/>
        </p:nvSpPr>
        <p:spPr>
          <a:xfrm>
            <a:off x="7125919" y="1938528"/>
            <a:ext cx="310896" cy="128016"/>
          </a:xfrm>
          <a:prstGeom prst="parallelogram">
            <a:avLst/>
          </a:prstGeom>
          <a:solidFill>
            <a:srgbClr val="E5177B"/>
          </a:solidFill>
          <a:ln w="12700">
            <a:solidFill>
              <a:srgbClr val="E5177B"/>
            </a:solidFill>
            <a:prstDash val="solid"/>
          </a:ln>
        </p:spPr>
      </p:sp>
      <p:sp>
        <p:nvSpPr>
          <p:cNvPr id="7" name="Text 3"/>
          <p:cNvSpPr txBox="1"/>
          <p:nvPr/>
        </p:nvSpPr>
        <p:spPr>
          <a:xfrm>
            <a:off x="4175608" y="1874520"/>
            <a:ext cx="2804008" cy="256032"/>
          </a:xfrm>
          <a:prstGeom prst="rect">
            <a:avLst/>
          </a:prstGeom>
          <a:noFill/>
          <a:ln/>
        </p:spPr>
        <p:txBody>
          <a:bodyPr wrap="square" lIns="0" tIns="0" rIns="0" bIns="0" rtlCol="0" anchor="ctr"/>
          <a:lstStyle/>
          <a:p>
            <a:pPr rtl="1" algn="r" indent="0" marL="0">
              <a:buNone/>
            </a:pPr>
            <a:r>
              <a:rPr lang="ar-SA" altLang="en-US" sz="1380" b="1" dirty="0">
                <a:solidFill>
                  <a:srgbClr val="E5177B"/>
                </a:solidFill>
                <a:latin typeface="Segoe UI" pitchFamily="34" charset="0"/>
                <a:ea typeface="Segoe UI" pitchFamily="34" charset="-122"/>
                <a:cs typeface="Segoe UI" pitchFamily="34" charset="-120"/>
              </a:rPr>
              <a:t>رؤيتنا</a:t>
            </a:r>
            <a:endParaRPr lang="ar-SA" sz="1380" dirty="0"/>
          </a:p>
        </p:txBody>
      </p:sp>
      <p:sp>
        <p:nvSpPr>
          <p:cNvPr id="8" name="Text 4"/>
          <p:cNvSpPr txBox="1"/>
          <p:nvPr/>
        </p:nvSpPr>
        <p:spPr>
          <a:xfrm>
            <a:off x="4175608" y="2286000"/>
            <a:ext cx="3261208" cy="173736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0E1420"/>
                </a:solidFill>
                <a:latin typeface="Segoe UI" pitchFamily="34" charset="0"/>
                <a:ea typeface="Segoe UI" pitchFamily="34" charset="-122"/>
                <a:cs typeface="Segoe UI" pitchFamily="34" charset="-120"/>
              </a:rPr>
              <a:t>أن نصبح شركة بناء رائدة، من حلول التصميم الإبداعي والصيانة إلى التنفيذ والتسليم، تلبي احتياجات عملائنا الاجتماعية والبيئية والاقتصادية.</a:t>
            </a:r>
            <a:endParaRPr lang="ar-SA" sz="1500" dirty="0"/>
          </a:p>
        </p:txBody>
      </p:sp>
      <p:sp>
        <p:nvSpPr>
          <p:cNvPr id="9" name="Shape 5"/>
          <p:cNvSpPr/>
          <p:nvPr/>
        </p:nvSpPr>
        <p:spPr>
          <a:xfrm>
            <a:off x="3498952" y="1938528"/>
            <a:ext cx="310896" cy="128016"/>
          </a:xfrm>
          <a:prstGeom prst="parallelogram">
            <a:avLst/>
          </a:prstGeom>
          <a:solidFill>
            <a:srgbClr val="5B54A4"/>
          </a:solidFill>
          <a:ln w="12700">
            <a:solidFill>
              <a:srgbClr val="5B54A4"/>
            </a:solidFill>
            <a:prstDash val="solid"/>
          </a:ln>
        </p:spPr>
      </p:sp>
      <p:sp>
        <p:nvSpPr>
          <p:cNvPr id="10" name="Text 6"/>
          <p:cNvSpPr txBox="1"/>
          <p:nvPr/>
        </p:nvSpPr>
        <p:spPr>
          <a:xfrm>
            <a:off x="548640" y="1874520"/>
            <a:ext cx="2804008" cy="256032"/>
          </a:xfrm>
          <a:prstGeom prst="rect">
            <a:avLst/>
          </a:prstGeom>
          <a:noFill/>
          <a:ln/>
        </p:spPr>
        <p:txBody>
          <a:bodyPr wrap="square" lIns="0" tIns="0" rIns="0" bIns="0" rtlCol="0" anchor="ctr"/>
          <a:lstStyle/>
          <a:p>
            <a:pPr rtl="1" algn="r" indent="0" marL="0">
              <a:buNone/>
            </a:pPr>
            <a:r>
              <a:rPr lang="ar-SA" altLang="en-US" sz="1380" b="1" dirty="0">
                <a:solidFill>
                  <a:srgbClr val="5B54A4"/>
                </a:solidFill>
                <a:latin typeface="Segoe UI" pitchFamily="34" charset="0"/>
                <a:ea typeface="Segoe UI" pitchFamily="34" charset="-122"/>
                <a:cs typeface="Segoe UI" pitchFamily="34" charset="-120"/>
              </a:rPr>
              <a:t>رسالتنا</a:t>
            </a:r>
            <a:endParaRPr lang="ar-SA" sz="1380" dirty="0"/>
          </a:p>
        </p:txBody>
      </p:sp>
      <p:sp>
        <p:nvSpPr>
          <p:cNvPr id="11" name="Text 7"/>
          <p:cNvSpPr txBox="1"/>
          <p:nvPr/>
        </p:nvSpPr>
        <p:spPr>
          <a:xfrm>
            <a:off x="548640" y="2286000"/>
            <a:ext cx="3261208" cy="173736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0E1420"/>
                </a:solidFill>
                <a:latin typeface="Segoe UI" pitchFamily="34" charset="0"/>
                <a:ea typeface="Segoe UI" pitchFamily="34" charset="-122"/>
                <a:cs typeface="Segoe UI" pitchFamily="34" charset="-120"/>
              </a:rPr>
              <a:t>كسب ثقة عملائنا ورضاهم، وبناء علاقات طويلة الأمد من خلال المشاريع التي ننفذها ونتولى صيانتها.</a:t>
            </a:r>
            <a:endParaRPr lang="ar-SA" sz="1500" dirty="0"/>
          </a:p>
        </p:txBody>
      </p:sp>
      <p:sp>
        <p:nvSpPr>
          <p:cNvPr id="12" name="Text 8"/>
          <p:cNvSpPr txBox="1"/>
          <p:nvPr/>
        </p:nvSpPr>
        <p:spPr>
          <a:xfrm>
            <a:off x="548640" y="4343400"/>
            <a:ext cx="6888175" cy="256032"/>
          </a:xfrm>
          <a:prstGeom prst="rect">
            <a:avLst/>
          </a:prstGeom>
          <a:noFill/>
          <a:ln/>
        </p:spPr>
        <p:txBody>
          <a:bodyPr wrap="square" lIns="0" tIns="0" rIns="0" bIns="0" rtlCol="0" anchor="ctr"/>
          <a:lstStyle/>
          <a:p>
            <a:pPr rtl="1" algn="r" indent="0" marL="0">
              <a:buNone/>
            </a:pPr>
            <a:r>
              <a:rPr lang="ar-SA" altLang="en-US" sz="1380" b="1" dirty="0">
                <a:solidFill>
                  <a:srgbClr val="667080"/>
                </a:solidFill>
                <a:latin typeface="Segoe UI" pitchFamily="34" charset="0"/>
                <a:ea typeface="Segoe UI" pitchFamily="34" charset="-122"/>
                <a:cs typeface="Segoe UI" pitchFamily="34" charset="-120"/>
              </a:rPr>
              <a:t>قيمنا</a:t>
            </a:r>
            <a:endParaRPr lang="ar-SA" sz="1380" dirty="0"/>
          </a:p>
        </p:txBody>
      </p:sp>
      <p:sp>
        <p:nvSpPr>
          <p:cNvPr id="13" name="Shape 9"/>
          <p:cNvSpPr/>
          <p:nvPr/>
        </p:nvSpPr>
        <p:spPr>
          <a:xfrm>
            <a:off x="5851931" y="4754880"/>
            <a:ext cx="1584884" cy="1417320"/>
          </a:xfrm>
          <a:prstGeom prst="rect">
            <a:avLst/>
          </a:prstGeom>
          <a:solidFill>
            <a:srgbClr val="F2F4F7"/>
          </a:solidFill>
          <a:ln w="12700">
            <a:solidFill>
              <a:srgbClr val="F2F4F7"/>
            </a:solidFill>
            <a:prstDash val="solid"/>
          </a:ln>
        </p:spPr>
      </p:sp>
      <p:sp>
        <p:nvSpPr>
          <p:cNvPr id="14" name="Shape 10"/>
          <p:cNvSpPr/>
          <p:nvPr/>
        </p:nvSpPr>
        <p:spPr>
          <a:xfrm>
            <a:off x="6961327" y="4956048"/>
            <a:ext cx="274320" cy="109728"/>
          </a:xfrm>
          <a:prstGeom prst="parallelogram">
            <a:avLst/>
          </a:prstGeom>
          <a:solidFill>
            <a:srgbClr val="E5177B"/>
          </a:solidFill>
          <a:ln w="12700">
            <a:solidFill>
              <a:srgbClr val="E5177B"/>
            </a:solidFill>
            <a:prstDash val="solid"/>
          </a:ln>
        </p:spPr>
      </p:sp>
      <p:sp>
        <p:nvSpPr>
          <p:cNvPr id="15" name="Text 11"/>
          <p:cNvSpPr txBox="1"/>
          <p:nvPr/>
        </p:nvSpPr>
        <p:spPr>
          <a:xfrm>
            <a:off x="6053099" y="5212080"/>
            <a:ext cx="1182548" cy="868680"/>
          </a:xfrm>
          <a:prstGeom prst="rect">
            <a:avLst/>
          </a:prstGeom>
          <a:noFill/>
          <a:ln/>
        </p:spPr>
        <p:txBody>
          <a:bodyPr wrap="square" lIns="0" tIns="0" rIns="0" bIns="0" rtlCol="0" anchor="t"/>
          <a:lstStyle/>
          <a:p>
            <a:pPr rtl="1" algn="r" indent="0" marL="0">
              <a:buNone/>
            </a:pPr>
            <a:r>
              <a:rPr lang="ar-SA" altLang="en-US" sz="1300" b="1" dirty="0">
                <a:solidFill>
                  <a:srgbClr val="0E1420"/>
                </a:solidFill>
                <a:latin typeface="Segoe UI" pitchFamily="34" charset="0"/>
                <a:ea typeface="Segoe UI" pitchFamily="34" charset="-122"/>
                <a:cs typeface="Segoe UI" pitchFamily="34" charset="-120"/>
              </a:rPr>
              <a:t>رضا العملاء دون أي مساومة</a:t>
            </a:r>
            <a:endParaRPr lang="ar-SA" sz="1300" dirty="0"/>
          </a:p>
        </p:txBody>
      </p:sp>
      <p:sp>
        <p:nvSpPr>
          <p:cNvPr id="16" name="Shape 12"/>
          <p:cNvSpPr/>
          <p:nvPr/>
        </p:nvSpPr>
        <p:spPr>
          <a:xfrm>
            <a:off x="4084168" y="4754880"/>
            <a:ext cx="1584884" cy="1417320"/>
          </a:xfrm>
          <a:prstGeom prst="rect">
            <a:avLst/>
          </a:prstGeom>
          <a:solidFill>
            <a:srgbClr val="F2F4F7"/>
          </a:solidFill>
          <a:ln w="12700">
            <a:solidFill>
              <a:srgbClr val="F2F4F7"/>
            </a:solidFill>
            <a:prstDash val="solid"/>
          </a:ln>
        </p:spPr>
      </p:sp>
      <p:sp>
        <p:nvSpPr>
          <p:cNvPr id="17" name="Shape 13"/>
          <p:cNvSpPr/>
          <p:nvPr/>
        </p:nvSpPr>
        <p:spPr>
          <a:xfrm>
            <a:off x="5193563" y="4956048"/>
            <a:ext cx="274320" cy="109728"/>
          </a:xfrm>
          <a:prstGeom prst="parallelogram">
            <a:avLst/>
          </a:prstGeom>
          <a:solidFill>
            <a:srgbClr val="2DB8E0"/>
          </a:solidFill>
          <a:ln w="12700">
            <a:solidFill>
              <a:srgbClr val="2DB8E0"/>
            </a:solidFill>
            <a:prstDash val="solid"/>
          </a:ln>
        </p:spPr>
      </p:sp>
      <p:sp>
        <p:nvSpPr>
          <p:cNvPr id="18" name="Text 14"/>
          <p:cNvSpPr txBox="1"/>
          <p:nvPr/>
        </p:nvSpPr>
        <p:spPr>
          <a:xfrm>
            <a:off x="4285336" y="5212080"/>
            <a:ext cx="1182548" cy="868680"/>
          </a:xfrm>
          <a:prstGeom prst="rect">
            <a:avLst/>
          </a:prstGeom>
          <a:noFill/>
          <a:ln/>
        </p:spPr>
        <p:txBody>
          <a:bodyPr wrap="square" lIns="0" tIns="0" rIns="0" bIns="0" rtlCol="0" anchor="t"/>
          <a:lstStyle/>
          <a:p>
            <a:pPr rtl="1" algn="r" indent="0" marL="0">
              <a:buNone/>
            </a:pPr>
            <a:r>
              <a:rPr lang="ar-SA" altLang="en-US" sz="1300" b="1" dirty="0">
                <a:solidFill>
                  <a:srgbClr val="0E1420"/>
                </a:solidFill>
                <a:latin typeface="Segoe UI" pitchFamily="34" charset="0"/>
                <a:ea typeface="Segoe UI" pitchFamily="34" charset="-122"/>
                <a:cs typeface="Segoe UI" pitchFamily="34" charset="-120"/>
              </a:rPr>
              <a:t>النزاهة والصدق</a:t>
            </a:r>
            <a:endParaRPr lang="ar-SA" sz="1300" dirty="0"/>
          </a:p>
        </p:txBody>
      </p:sp>
      <p:sp>
        <p:nvSpPr>
          <p:cNvPr id="19" name="Shape 15"/>
          <p:cNvSpPr/>
          <p:nvPr/>
        </p:nvSpPr>
        <p:spPr>
          <a:xfrm>
            <a:off x="2316404" y="4754880"/>
            <a:ext cx="1584884" cy="1417320"/>
          </a:xfrm>
          <a:prstGeom prst="rect">
            <a:avLst/>
          </a:prstGeom>
          <a:solidFill>
            <a:srgbClr val="F2F4F7"/>
          </a:solidFill>
          <a:ln w="12700">
            <a:solidFill>
              <a:srgbClr val="F2F4F7"/>
            </a:solidFill>
            <a:prstDash val="solid"/>
          </a:ln>
        </p:spPr>
      </p:sp>
      <p:sp>
        <p:nvSpPr>
          <p:cNvPr id="20" name="Shape 16"/>
          <p:cNvSpPr/>
          <p:nvPr/>
        </p:nvSpPr>
        <p:spPr>
          <a:xfrm>
            <a:off x="3425800" y="4956048"/>
            <a:ext cx="274320" cy="109728"/>
          </a:xfrm>
          <a:prstGeom prst="parallelogram">
            <a:avLst/>
          </a:prstGeom>
          <a:solidFill>
            <a:srgbClr val="FBBA16"/>
          </a:solidFill>
          <a:ln w="12700">
            <a:solidFill>
              <a:srgbClr val="FBBA16"/>
            </a:solidFill>
            <a:prstDash val="solid"/>
          </a:ln>
        </p:spPr>
      </p:sp>
      <p:sp>
        <p:nvSpPr>
          <p:cNvPr id="21" name="Text 17"/>
          <p:cNvSpPr txBox="1"/>
          <p:nvPr/>
        </p:nvSpPr>
        <p:spPr>
          <a:xfrm>
            <a:off x="2517572" y="5212080"/>
            <a:ext cx="1182548" cy="868680"/>
          </a:xfrm>
          <a:prstGeom prst="rect">
            <a:avLst/>
          </a:prstGeom>
          <a:noFill/>
          <a:ln/>
        </p:spPr>
        <p:txBody>
          <a:bodyPr wrap="square" lIns="0" tIns="0" rIns="0" bIns="0" rtlCol="0" anchor="t"/>
          <a:lstStyle/>
          <a:p>
            <a:pPr rtl="1" algn="r" indent="0" marL="0">
              <a:buNone/>
            </a:pPr>
            <a:r>
              <a:rPr lang="ar-SA" altLang="en-US" sz="1300" b="1" dirty="0">
                <a:solidFill>
                  <a:srgbClr val="0E1420"/>
                </a:solidFill>
                <a:latin typeface="Segoe UI" pitchFamily="34" charset="0"/>
                <a:ea typeface="Segoe UI" pitchFamily="34" charset="-122"/>
                <a:cs typeface="Segoe UI" pitchFamily="34" charset="-120"/>
              </a:rPr>
              <a:t>إدارة فعّالة بمبادئ راسخة</a:t>
            </a:r>
            <a:endParaRPr lang="ar-SA" sz="1300" dirty="0"/>
          </a:p>
        </p:txBody>
      </p:sp>
      <p:sp>
        <p:nvSpPr>
          <p:cNvPr id="22" name="Shape 18"/>
          <p:cNvSpPr/>
          <p:nvPr/>
        </p:nvSpPr>
        <p:spPr>
          <a:xfrm>
            <a:off x="548640" y="4754880"/>
            <a:ext cx="1584884" cy="1417320"/>
          </a:xfrm>
          <a:prstGeom prst="rect">
            <a:avLst/>
          </a:prstGeom>
          <a:solidFill>
            <a:srgbClr val="F2F4F7"/>
          </a:solidFill>
          <a:ln w="12700">
            <a:solidFill>
              <a:srgbClr val="F2F4F7"/>
            </a:solidFill>
            <a:prstDash val="solid"/>
          </a:ln>
        </p:spPr>
      </p:sp>
      <p:sp>
        <p:nvSpPr>
          <p:cNvPr id="23" name="Shape 19"/>
          <p:cNvSpPr/>
          <p:nvPr/>
        </p:nvSpPr>
        <p:spPr>
          <a:xfrm>
            <a:off x="1658036" y="4956048"/>
            <a:ext cx="274320" cy="109728"/>
          </a:xfrm>
          <a:prstGeom prst="parallelogram">
            <a:avLst/>
          </a:prstGeom>
          <a:solidFill>
            <a:srgbClr val="5B54A4"/>
          </a:solidFill>
          <a:ln w="12700">
            <a:solidFill>
              <a:srgbClr val="5B54A4"/>
            </a:solidFill>
            <a:prstDash val="solid"/>
          </a:ln>
        </p:spPr>
      </p:sp>
      <p:sp>
        <p:nvSpPr>
          <p:cNvPr id="24" name="Text 20"/>
          <p:cNvSpPr txBox="1"/>
          <p:nvPr/>
        </p:nvSpPr>
        <p:spPr>
          <a:xfrm>
            <a:off x="749808" y="5212080"/>
            <a:ext cx="1182548" cy="868680"/>
          </a:xfrm>
          <a:prstGeom prst="rect">
            <a:avLst/>
          </a:prstGeom>
          <a:noFill/>
          <a:ln/>
        </p:spPr>
        <p:txBody>
          <a:bodyPr wrap="square" lIns="0" tIns="0" rIns="0" bIns="0" rtlCol="0" anchor="t"/>
          <a:lstStyle/>
          <a:p>
            <a:pPr rtl="1" algn="r" indent="0" marL="0">
              <a:buNone/>
            </a:pPr>
            <a:r>
              <a:rPr lang="ar-SA" altLang="en-US" sz="1300" b="1" dirty="0">
                <a:solidFill>
                  <a:srgbClr val="0E1420"/>
                </a:solidFill>
                <a:latin typeface="Segoe UI" pitchFamily="34" charset="0"/>
                <a:ea typeface="Segoe UI" pitchFamily="34" charset="-122"/>
                <a:cs typeface="Segoe UI" pitchFamily="34" charset="-120"/>
              </a:rPr>
              <a:t>التطوير المستمر</a:t>
            </a:r>
            <a:endParaRPr lang="ar-SA" sz="1300" dirty="0"/>
          </a:p>
        </p:txBody>
      </p:sp>
      <p:sp>
        <p:nvSpPr>
          <p:cNvPr id="25" name="Text 21"/>
          <p:cNvSpPr txBox="1"/>
          <p:nvPr/>
        </p:nvSpPr>
        <p:spPr>
          <a:xfrm>
            <a:off x="1097280" y="6446520"/>
            <a:ext cx="6339535"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26" name="Text 22"/>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03</a:t>
            </a:r>
            <a:endParaRPr lang="ar-SA"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0"/>
        </a:solidFill>
      </p:bgPr>
    </p:bg>
    <p:spTree>
      <p:nvGrpSpPr>
        <p:cNvPr id="1" name=""/>
        <p:cNvGrpSpPr/>
        <p:nvPr/>
      </p:nvGrpSpPr>
      <p:grpSpPr>
        <a:xfrm>
          <a:off x="0" y="0"/>
          <a:ext cx="0" cy="0"/>
          <a:chOff x="0" y="0"/>
          <a:chExt cx="0" cy="0"/>
        </a:xfrm>
      </p:grpSpPr>
      <p:pic>
        <p:nvPicPr>
          <p:cNvPr id="2" name="Image 0" descr="/home/user/NVIConsult/build/assets_bold/logo_mark.png">    </p:cNvPr>
          <p:cNvPicPr>
            <a:picLocks noChangeAspect="1"/>
          </p:cNvPicPr>
          <p:nvPr/>
        </p:nvPicPr>
        <p:blipFill>
          <a:blip r:embed="rId1"/>
          <a:stretch>
            <a:fillRect/>
          </a:stretch>
        </p:blipFill>
        <p:spPr>
          <a:xfrm>
            <a:off x="548640" y="548640"/>
            <a:ext cx="2194560" cy="1213916"/>
          </a:xfrm>
          <a:prstGeom prst="rect">
            <a:avLst/>
          </a:prstGeom>
        </p:spPr>
      </p:pic>
      <p:pic>
        <p:nvPicPr>
          <p:cNvPr id="3" name="Image 1" descr="/home/user/NVIConsult/build/assets_bold/logo_mark.png">    </p:cNvPr>
          <p:cNvPicPr>
            <a:picLocks noChangeAspect="1"/>
          </p:cNvPicPr>
          <p:nvPr/>
        </p:nvPicPr>
        <p:blipFill>
          <a:blip r:embed="rId2"/>
          <a:stretch>
            <a:fillRect/>
          </a:stretch>
        </p:blipFill>
        <p:spPr>
          <a:xfrm>
            <a:off x="11328969" y="621792"/>
            <a:ext cx="314086" cy="173736"/>
          </a:xfrm>
          <a:prstGeom prst="rect">
            <a:avLst/>
          </a:prstGeom>
        </p:spPr>
      </p:pic>
      <p:sp>
        <p:nvSpPr>
          <p:cNvPr id="4" name="Text 0"/>
          <p:cNvSpPr txBox="1"/>
          <p:nvPr/>
        </p:nvSpPr>
        <p:spPr>
          <a:xfrm>
            <a:off x="4327855" y="594360"/>
            <a:ext cx="6858000" cy="256032"/>
          </a:xfrm>
          <a:prstGeom prst="rect">
            <a:avLst/>
          </a:prstGeom>
          <a:noFill/>
          <a:ln/>
        </p:spPr>
        <p:txBody>
          <a:bodyPr wrap="square" lIns="0" tIns="0" rIns="0" bIns="0" rtlCol="0" anchor="ctr"/>
          <a:lstStyle/>
          <a:p>
            <a:pPr rtl="1" algn="r" indent="0" marL="0">
              <a:buNone/>
            </a:pPr>
            <a:r>
              <a:rPr lang="ar-SA" altLang="en-US" sz="1260" b="1" dirty="0">
                <a:solidFill>
                  <a:srgbClr val="2DB8E0"/>
                </a:solidFill>
                <a:latin typeface="Segoe UI" pitchFamily="34" charset="0"/>
                <a:ea typeface="Segoe UI" pitchFamily="34" charset="-122"/>
                <a:cs typeface="Segoe UI" pitchFamily="34" charset="-120"/>
              </a:rPr>
              <a:t>03  ·  منهجنا</a:t>
            </a:r>
            <a:endParaRPr lang="ar-SA" sz="1260" dirty="0"/>
          </a:p>
        </p:txBody>
      </p:sp>
      <p:sp>
        <p:nvSpPr>
          <p:cNvPr id="5" name="Text 1"/>
          <p:cNvSpPr txBox="1"/>
          <p:nvPr/>
        </p:nvSpPr>
        <p:spPr>
          <a:xfrm>
            <a:off x="3779215" y="960120"/>
            <a:ext cx="7863840" cy="731520"/>
          </a:xfrm>
          <a:prstGeom prst="rect">
            <a:avLst/>
          </a:prstGeom>
          <a:noFill/>
          <a:ln/>
        </p:spPr>
        <p:txBody>
          <a:bodyPr wrap="square" lIns="0" tIns="0" rIns="0" bIns="0" rtlCol="0" anchor="t"/>
          <a:lstStyle/>
          <a:p>
            <a:pPr rtl="1" algn="r" indent="0" marL="0">
              <a:buNone/>
            </a:pPr>
            <a:r>
              <a:rPr lang="ar-SA" altLang="en-US" sz="4000" b="1" dirty="0">
                <a:solidFill>
                  <a:srgbClr val="FFFFFF"/>
                </a:solidFill>
                <a:latin typeface="Segoe UI" pitchFamily="34" charset="0"/>
                <a:ea typeface="Segoe UI" pitchFamily="34" charset="-122"/>
                <a:cs typeface="Segoe UI" pitchFamily="34" charset="-120"/>
              </a:rPr>
              <a:t>بناءٌ خالٍ من القلق</a:t>
            </a:r>
            <a:endParaRPr lang="ar-SA" sz="4000" dirty="0"/>
          </a:p>
        </p:txBody>
      </p:sp>
      <p:sp>
        <p:nvSpPr>
          <p:cNvPr id="6" name="Text 2"/>
          <p:cNvSpPr txBox="1"/>
          <p:nvPr/>
        </p:nvSpPr>
        <p:spPr>
          <a:xfrm>
            <a:off x="3779215" y="1783080"/>
            <a:ext cx="7863840" cy="11887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C3CBD6"/>
                </a:solidFill>
                <a:latin typeface="Segoe UI" pitchFamily="34" charset="0"/>
                <a:ea typeface="Segoe UI" pitchFamily="34" charset="-122"/>
                <a:cs typeface="Segoe UI" pitchFamily="34" charset="-120"/>
              </a:rPr>
              <a:t>نحن لا نبني المنشآت فحسب، بل نلتزم بتحسين حياة الناس من خلال البيئة المبنية. إنجاز العمل بالشكل الصحيح من المرة الأولى، مع صيانة وقائية مخطط لها منذ البداية، يحقق لعملائنا وفورات على المدى الطويل.</a:t>
            </a:r>
            <a:endParaRPr lang="ar-SA" sz="1500" dirty="0"/>
          </a:p>
        </p:txBody>
      </p:sp>
      <p:sp>
        <p:nvSpPr>
          <p:cNvPr id="7" name="Shape 3"/>
          <p:cNvSpPr/>
          <p:nvPr/>
        </p:nvSpPr>
        <p:spPr>
          <a:xfrm>
            <a:off x="9040901" y="3337560"/>
            <a:ext cx="2602154" cy="2834640"/>
          </a:xfrm>
          <a:prstGeom prst="rect">
            <a:avLst/>
          </a:prstGeom>
          <a:solidFill>
            <a:srgbClr val="182131"/>
          </a:solidFill>
          <a:ln w="12700">
            <a:solidFill>
              <a:srgbClr val="182131"/>
            </a:solidFill>
            <a:prstDash val="solid"/>
          </a:ln>
        </p:spPr>
      </p:sp>
      <p:sp>
        <p:nvSpPr>
          <p:cNvPr id="8" name="Shape 4"/>
          <p:cNvSpPr/>
          <p:nvPr/>
        </p:nvSpPr>
        <p:spPr>
          <a:xfrm>
            <a:off x="10591495" y="3703320"/>
            <a:ext cx="731520" cy="731520"/>
          </a:xfrm>
          <a:prstGeom prst="ellipse">
            <a:avLst/>
          </a:prstGeom>
          <a:solidFill>
            <a:srgbClr val="E5177B"/>
          </a:solidFill>
          <a:ln w="12700">
            <a:solidFill>
              <a:srgbClr val="E5177B"/>
            </a:solidFill>
            <a:prstDash val="solid"/>
          </a:ln>
        </p:spPr>
      </p:sp>
      <p:pic>
        <p:nvPicPr>
          <p:cNvPr id="9" name="Image 2" descr="preencoded.png">    </p:cNvPr>
          <p:cNvPicPr>
            <a:picLocks noChangeAspect="1"/>
          </p:cNvPicPr>
          <p:nvPr/>
        </p:nvPicPr>
        <p:blipFill>
          <a:blip r:embed="rId3"/>
          <a:stretch>
            <a:fillRect/>
          </a:stretch>
        </p:blipFill>
        <p:spPr>
          <a:xfrm>
            <a:off x="10746943" y="3858768"/>
            <a:ext cx="420624" cy="420624"/>
          </a:xfrm>
          <a:prstGeom prst="rect">
            <a:avLst/>
          </a:prstGeom>
        </p:spPr>
      </p:pic>
      <p:sp>
        <p:nvSpPr>
          <p:cNvPr id="10" name="Text 5"/>
          <p:cNvSpPr txBox="1"/>
          <p:nvPr/>
        </p:nvSpPr>
        <p:spPr>
          <a:xfrm>
            <a:off x="9360941" y="3749040"/>
            <a:ext cx="548640" cy="320040"/>
          </a:xfrm>
          <a:prstGeom prst="rect">
            <a:avLst/>
          </a:prstGeom>
          <a:noFill/>
          <a:ln/>
        </p:spPr>
        <p:txBody>
          <a:bodyPr wrap="square" lIns="0" tIns="0" rIns="0" bIns="0" rtlCol="0" anchor="t"/>
          <a:lstStyle/>
          <a:p>
            <a:pPr rtl="1" algn="l" indent="0" marL="0">
              <a:buNone/>
            </a:pPr>
            <a:r>
              <a:rPr lang="ar-SA" altLang="en-US" sz="1200" b="1" dirty="0">
                <a:solidFill>
                  <a:srgbClr val="5C6778"/>
                </a:solidFill>
                <a:latin typeface="Consolas" pitchFamily="34" charset="0"/>
                <a:ea typeface="Consolas" pitchFamily="34" charset="-122"/>
                <a:cs typeface="Consolas" pitchFamily="34" charset="-120"/>
              </a:rPr>
              <a:t>01</a:t>
            </a:r>
            <a:endParaRPr lang="ar-SA" sz="1200" dirty="0"/>
          </a:p>
        </p:txBody>
      </p:sp>
      <p:sp>
        <p:nvSpPr>
          <p:cNvPr id="11" name="Text 6"/>
          <p:cNvSpPr txBox="1"/>
          <p:nvPr/>
        </p:nvSpPr>
        <p:spPr>
          <a:xfrm>
            <a:off x="9360941" y="4617720"/>
            <a:ext cx="1962074" cy="868680"/>
          </a:xfrm>
          <a:prstGeom prst="rect">
            <a:avLst/>
          </a:prstGeom>
          <a:noFill/>
          <a:ln/>
        </p:spPr>
        <p:txBody>
          <a:bodyPr wrap="square" lIns="0" tIns="0" rIns="0" bIns="0" rtlCol="0" anchor="t"/>
          <a:lstStyle/>
          <a:p>
            <a:pPr rtl="1" algn="r" indent="0" marL="0">
              <a:buNone/>
            </a:pPr>
            <a:r>
              <a:rPr lang="ar-SA" altLang="en-US" sz="1700" b="1" dirty="0">
                <a:solidFill>
                  <a:srgbClr val="FFFFFF"/>
                </a:solidFill>
                <a:latin typeface="Segoe UI" pitchFamily="34" charset="0"/>
                <a:ea typeface="Segoe UI" pitchFamily="34" charset="-122"/>
                <a:cs typeface="Segoe UI" pitchFamily="34" charset="-120"/>
              </a:rPr>
              <a:t>هندسة دقيقة</a:t>
            </a:r>
            <a:endParaRPr lang="ar-SA" sz="1700" dirty="0"/>
          </a:p>
        </p:txBody>
      </p:sp>
      <p:sp>
        <p:nvSpPr>
          <p:cNvPr id="12" name="Text 7"/>
          <p:cNvSpPr txBox="1"/>
          <p:nvPr/>
        </p:nvSpPr>
        <p:spPr>
          <a:xfrm>
            <a:off x="9360941" y="5532120"/>
            <a:ext cx="1962074" cy="548640"/>
          </a:xfrm>
          <a:prstGeom prst="rect">
            <a:avLst/>
          </a:prstGeom>
          <a:noFill/>
          <a:ln/>
        </p:spPr>
        <p:txBody>
          <a:bodyPr wrap="square" lIns="0" tIns="0" rIns="0" bIns="0" rtlCol="0" anchor="t"/>
          <a:lstStyle/>
          <a:p>
            <a:pPr rtl="1" algn="r" indent="0" marL="0">
              <a:buNone/>
            </a:pPr>
            <a:r>
              <a:rPr lang="ar-SA" altLang="en-US" sz="1250" dirty="0">
                <a:solidFill>
                  <a:srgbClr val="B4BDC9"/>
                </a:solidFill>
                <a:latin typeface="Segoe UI" pitchFamily="34" charset="0"/>
                <a:ea typeface="Segoe UI" pitchFamily="34" charset="-122"/>
                <a:cs typeface="Segoe UI" pitchFamily="34" charset="-120"/>
              </a:rPr>
              <a:t>إنجاز العمل بالشكل الصحيح من المرة الأولى.</a:t>
            </a:r>
            <a:endParaRPr lang="ar-SA" sz="1250" dirty="0"/>
          </a:p>
        </p:txBody>
      </p:sp>
      <p:sp>
        <p:nvSpPr>
          <p:cNvPr id="13" name="Shape 8"/>
          <p:cNvSpPr/>
          <p:nvPr/>
        </p:nvSpPr>
        <p:spPr>
          <a:xfrm>
            <a:off x="6210148" y="3337560"/>
            <a:ext cx="2602154" cy="2834640"/>
          </a:xfrm>
          <a:prstGeom prst="rect">
            <a:avLst/>
          </a:prstGeom>
          <a:solidFill>
            <a:srgbClr val="182131"/>
          </a:solidFill>
          <a:ln w="12700">
            <a:solidFill>
              <a:srgbClr val="182131"/>
            </a:solidFill>
            <a:prstDash val="solid"/>
          </a:ln>
        </p:spPr>
      </p:sp>
      <p:sp>
        <p:nvSpPr>
          <p:cNvPr id="14" name="Shape 9"/>
          <p:cNvSpPr/>
          <p:nvPr/>
        </p:nvSpPr>
        <p:spPr>
          <a:xfrm>
            <a:off x="7760741" y="3703320"/>
            <a:ext cx="731520" cy="731520"/>
          </a:xfrm>
          <a:prstGeom prst="ellipse">
            <a:avLst/>
          </a:prstGeom>
          <a:solidFill>
            <a:srgbClr val="2DB8E0"/>
          </a:solidFill>
          <a:ln w="12700">
            <a:solidFill>
              <a:srgbClr val="2DB8E0"/>
            </a:solidFill>
            <a:prstDash val="solid"/>
          </a:ln>
        </p:spPr>
      </p:sp>
      <p:pic>
        <p:nvPicPr>
          <p:cNvPr id="15" name="Image 3" descr="preencoded.png">    </p:cNvPr>
          <p:cNvPicPr>
            <a:picLocks noChangeAspect="1"/>
          </p:cNvPicPr>
          <p:nvPr/>
        </p:nvPicPr>
        <p:blipFill>
          <a:blip r:embed="rId4"/>
          <a:stretch>
            <a:fillRect/>
          </a:stretch>
        </p:blipFill>
        <p:spPr>
          <a:xfrm>
            <a:off x="7916189" y="3858768"/>
            <a:ext cx="420624" cy="420624"/>
          </a:xfrm>
          <a:prstGeom prst="rect">
            <a:avLst/>
          </a:prstGeom>
        </p:spPr>
      </p:pic>
      <p:sp>
        <p:nvSpPr>
          <p:cNvPr id="16" name="Text 10"/>
          <p:cNvSpPr txBox="1"/>
          <p:nvPr/>
        </p:nvSpPr>
        <p:spPr>
          <a:xfrm>
            <a:off x="6530188" y="3749040"/>
            <a:ext cx="548640" cy="320040"/>
          </a:xfrm>
          <a:prstGeom prst="rect">
            <a:avLst/>
          </a:prstGeom>
          <a:noFill/>
          <a:ln/>
        </p:spPr>
        <p:txBody>
          <a:bodyPr wrap="square" lIns="0" tIns="0" rIns="0" bIns="0" rtlCol="0" anchor="t"/>
          <a:lstStyle/>
          <a:p>
            <a:pPr rtl="1" algn="l" indent="0" marL="0">
              <a:buNone/>
            </a:pPr>
            <a:r>
              <a:rPr lang="ar-SA" altLang="en-US" sz="1200" b="1" dirty="0">
                <a:solidFill>
                  <a:srgbClr val="5C6778"/>
                </a:solidFill>
                <a:latin typeface="Consolas" pitchFamily="34" charset="0"/>
                <a:ea typeface="Consolas" pitchFamily="34" charset="-122"/>
                <a:cs typeface="Consolas" pitchFamily="34" charset="-120"/>
              </a:rPr>
              <a:t>02</a:t>
            </a:r>
            <a:endParaRPr lang="ar-SA" sz="1200" dirty="0"/>
          </a:p>
        </p:txBody>
      </p:sp>
      <p:sp>
        <p:nvSpPr>
          <p:cNvPr id="17" name="Text 11"/>
          <p:cNvSpPr txBox="1"/>
          <p:nvPr/>
        </p:nvSpPr>
        <p:spPr>
          <a:xfrm>
            <a:off x="6530188" y="4617720"/>
            <a:ext cx="1962074" cy="868680"/>
          </a:xfrm>
          <a:prstGeom prst="rect">
            <a:avLst/>
          </a:prstGeom>
          <a:noFill/>
          <a:ln/>
        </p:spPr>
        <p:txBody>
          <a:bodyPr wrap="square" lIns="0" tIns="0" rIns="0" bIns="0" rtlCol="0" anchor="t"/>
          <a:lstStyle/>
          <a:p>
            <a:pPr rtl="1" algn="r" indent="0" marL="0">
              <a:buNone/>
            </a:pPr>
            <a:r>
              <a:rPr lang="ar-SA" altLang="en-US" sz="1700" b="1" dirty="0">
                <a:solidFill>
                  <a:srgbClr val="FFFFFF"/>
                </a:solidFill>
                <a:latin typeface="Segoe UI" pitchFamily="34" charset="0"/>
                <a:ea typeface="Segoe UI" pitchFamily="34" charset="-122"/>
                <a:cs typeface="Segoe UI" pitchFamily="34" charset="-120"/>
              </a:rPr>
              <a:t>إدارة مشاريع تهتم بالتفاصيل</a:t>
            </a:r>
            <a:endParaRPr lang="ar-SA" sz="1700" dirty="0"/>
          </a:p>
        </p:txBody>
      </p:sp>
      <p:sp>
        <p:nvSpPr>
          <p:cNvPr id="18" name="Text 12"/>
          <p:cNvSpPr txBox="1"/>
          <p:nvPr/>
        </p:nvSpPr>
        <p:spPr>
          <a:xfrm>
            <a:off x="6530188" y="5532120"/>
            <a:ext cx="1962074" cy="548640"/>
          </a:xfrm>
          <a:prstGeom prst="rect">
            <a:avLst/>
          </a:prstGeom>
          <a:noFill/>
          <a:ln/>
        </p:spPr>
        <p:txBody>
          <a:bodyPr wrap="square" lIns="0" tIns="0" rIns="0" bIns="0" rtlCol="0" anchor="t"/>
          <a:lstStyle/>
          <a:p>
            <a:pPr rtl="1" algn="r" indent="0" marL="0">
              <a:buNone/>
            </a:pPr>
            <a:r>
              <a:rPr lang="ar-SA" altLang="en-US" sz="1250" dirty="0">
                <a:solidFill>
                  <a:srgbClr val="B4BDC9"/>
                </a:solidFill>
                <a:latin typeface="Segoe UI" pitchFamily="34" charset="0"/>
                <a:ea typeface="Segoe UI" pitchFamily="34" charset="-122"/>
                <a:cs typeface="Segoe UI" pitchFamily="34" charset="-120"/>
              </a:rPr>
              <a:t>تخطيط كل مرحلة ومتابعتها وضبطها.</a:t>
            </a:r>
            <a:endParaRPr lang="ar-SA" sz="1250" dirty="0"/>
          </a:p>
        </p:txBody>
      </p:sp>
      <p:sp>
        <p:nvSpPr>
          <p:cNvPr id="19" name="Shape 13"/>
          <p:cNvSpPr/>
          <p:nvPr/>
        </p:nvSpPr>
        <p:spPr>
          <a:xfrm>
            <a:off x="3379394" y="3337560"/>
            <a:ext cx="2602154" cy="2834640"/>
          </a:xfrm>
          <a:prstGeom prst="rect">
            <a:avLst/>
          </a:prstGeom>
          <a:solidFill>
            <a:srgbClr val="182131"/>
          </a:solidFill>
          <a:ln w="12700">
            <a:solidFill>
              <a:srgbClr val="182131"/>
            </a:solidFill>
            <a:prstDash val="solid"/>
          </a:ln>
        </p:spPr>
      </p:sp>
      <p:sp>
        <p:nvSpPr>
          <p:cNvPr id="20" name="Shape 14"/>
          <p:cNvSpPr/>
          <p:nvPr/>
        </p:nvSpPr>
        <p:spPr>
          <a:xfrm>
            <a:off x="4929988" y="3703320"/>
            <a:ext cx="731520" cy="731520"/>
          </a:xfrm>
          <a:prstGeom prst="ellipse">
            <a:avLst/>
          </a:prstGeom>
          <a:solidFill>
            <a:srgbClr val="FBBA16"/>
          </a:solidFill>
          <a:ln w="12700">
            <a:solidFill>
              <a:srgbClr val="FBBA16"/>
            </a:solidFill>
            <a:prstDash val="solid"/>
          </a:ln>
        </p:spPr>
      </p:sp>
      <p:pic>
        <p:nvPicPr>
          <p:cNvPr id="21" name="Image 4" descr="preencoded.png">    </p:cNvPr>
          <p:cNvPicPr>
            <a:picLocks noChangeAspect="1"/>
          </p:cNvPicPr>
          <p:nvPr/>
        </p:nvPicPr>
        <p:blipFill>
          <a:blip r:embed="rId5"/>
          <a:stretch>
            <a:fillRect/>
          </a:stretch>
        </p:blipFill>
        <p:spPr>
          <a:xfrm>
            <a:off x="5085436" y="3858768"/>
            <a:ext cx="420624" cy="420624"/>
          </a:xfrm>
          <a:prstGeom prst="rect">
            <a:avLst/>
          </a:prstGeom>
        </p:spPr>
      </p:pic>
      <p:sp>
        <p:nvSpPr>
          <p:cNvPr id="22" name="Text 15"/>
          <p:cNvSpPr txBox="1"/>
          <p:nvPr/>
        </p:nvSpPr>
        <p:spPr>
          <a:xfrm>
            <a:off x="3699434" y="3749040"/>
            <a:ext cx="548640" cy="320040"/>
          </a:xfrm>
          <a:prstGeom prst="rect">
            <a:avLst/>
          </a:prstGeom>
          <a:noFill/>
          <a:ln/>
        </p:spPr>
        <p:txBody>
          <a:bodyPr wrap="square" lIns="0" tIns="0" rIns="0" bIns="0" rtlCol="0" anchor="t"/>
          <a:lstStyle/>
          <a:p>
            <a:pPr rtl="1" algn="l" indent="0" marL="0">
              <a:buNone/>
            </a:pPr>
            <a:r>
              <a:rPr lang="ar-SA" altLang="en-US" sz="1200" b="1" dirty="0">
                <a:solidFill>
                  <a:srgbClr val="5C6778"/>
                </a:solidFill>
                <a:latin typeface="Consolas" pitchFamily="34" charset="0"/>
                <a:ea typeface="Consolas" pitchFamily="34" charset="-122"/>
                <a:cs typeface="Consolas" pitchFamily="34" charset="-120"/>
              </a:rPr>
              <a:t>03</a:t>
            </a:r>
            <a:endParaRPr lang="ar-SA" sz="1200" dirty="0"/>
          </a:p>
        </p:txBody>
      </p:sp>
      <p:sp>
        <p:nvSpPr>
          <p:cNvPr id="23" name="Text 16"/>
          <p:cNvSpPr txBox="1"/>
          <p:nvPr/>
        </p:nvSpPr>
        <p:spPr>
          <a:xfrm>
            <a:off x="3699434" y="4617720"/>
            <a:ext cx="1962074" cy="868680"/>
          </a:xfrm>
          <a:prstGeom prst="rect">
            <a:avLst/>
          </a:prstGeom>
          <a:noFill/>
          <a:ln/>
        </p:spPr>
        <p:txBody>
          <a:bodyPr wrap="square" lIns="0" tIns="0" rIns="0" bIns="0" rtlCol="0" anchor="t"/>
          <a:lstStyle/>
          <a:p>
            <a:pPr rtl="1" algn="r" indent="0" marL="0">
              <a:buNone/>
            </a:pPr>
            <a:r>
              <a:rPr lang="ar-SA" altLang="en-US" sz="1700" b="1" dirty="0">
                <a:solidFill>
                  <a:srgbClr val="FFFFFF"/>
                </a:solidFill>
                <a:latin typeface="Segoe UI" pitchFamily="34" charset="0"/>
                <a:ea typeface="Segoe UI" pitchFamily="34" charset="-122"/>
                <a:cs typeface="Segoe UI" pitchFamily="34" charset="-120"/>
              </a:rPr>
              <a:t>تواصل في الوقت المناسب</a:t>
            </a:r>
            <a:endParaRPr lang="ar-SA" sz="1700" dirty="0"/>
          </a:p>
        </p:txBody>
      </p:sp>
      <p:sp>
        <p:nvSpPr>
          <p:cNvPr id="24" name="Text 17"/>
          <p:cNvSpPr txBox="1"/>
          <p:nvPr/>
        </p:nvSpPr>
        <p:spPr>
          <a:xfrm>
            <a:off x="3699434" y="5532120"/>
            <a:ext cx="1962074" cy="548640"/>
          </a:xfrm>
          <a:prstGeom prst="rect">
            <a:avLst/>
          </a:prstGeom>
          <a:noFill/>
          <a:ln/>
        </p:spPr>
        <p:txBody>
          <a:bodyPr wrap="square" lIns="0" tIns="0" rIns="0" bIns="0" rtlCol="0" anchor="t"/>
          <a:lstStyle/>
          <a:p>
            <a:pPr rtl="1" algn="r" indent="0" marL="0">
              <a:buNone/>
            </a:pPr>
            <a:r>
              <a:rPr lang="ar-SA" altLang="en-US" sz="1250" dirty="0">
                <a:solidFill>
                  <a:srgbClr val="B4BDC9"/>
                </a:solidFill>
                <a:latin typeface="Segoe UI" pitchFamily="34" charset="0"/>
                <a:ea typeface="Segoe UI" pitchFamily="34" charset="-122"/>
                <a:cs typeface="Segoe UI" pitchFamily="34" charset="-120"/>
              </a:rPr>
              <a:t>إطلاع العميل على سير العمل في كل مرحلة.</a:t>
            </a:r>
            <a:endParaRPr lang="ar-SA" sz="1250" dirty="0"/>
          </a:p>
        </p:txBody>
      </p:sp>
      <p:sp>
        <p:nvSpPr>
          <p:cNvPr id="25" name="Shape 18"/>
          <p:cNvSpPr/>
          <p:nvPr/>
        </p:nvSpPr>
        <p:spPr>
          <a:xfrm>
            <a:off x="548640" y="3337560"/>
            <a:ext cx="2602154" cy="2834640"/>
          </a:xfrm>
          <a:prstGeom prst="rect">
            <a:avLst/>
          </a:prstGeom>
          <a:solidFill>
            <a:srgbClr val="182131"/>
          </a:solidFill>
          <a:ln w="12700">
            <a:solidFill>
              <a:srgbClr val="182131"/>
            </a:solidFill>
            <a:prstDash val="solid"/>
          </a:ln>
        </p:spPr>
      </p:sp>
      <p:sp>
        <p:nvSpPr>
          <p:cNvPr id="26" name="Shape 19"/>
          <p:cNvSpPr/>
          <p:nvPr/>
        </p:nvSpPr>
        <p:spPr>
          <a:xfrm>
            <a:off x="2099234" y="3703320"/>
            <a:ext cx="731520" cy="731520"/>
          </a:xfrm>
          <a:prstGeom prst="ellipse">
            <a:avLst/>
          </a:prstGeom>
          <a:solidFill>
            <a:srgbClr val="5B54A4"/>
          </a:solidFill>
          <a:ln w="12700">
            <a:solidFill>
              <a:srgbClr val="5B54A4"/>
            </a:solidFill>
            <a:prstDash val="solid"/>
          </a:ln>
        </p:spPr>
      </p:sp>
      <p:pic>
        <p:nvPicPr>
          <p:cNvPr id="27" name="Image 5" descr="preencoded.png">    </p:cNvPr>
          <p:cNvPicPr>
            <a:picLocks noChangeAspect="1"/>
          </p:cNvPicPr>
          <p:nvPr/>
        </p:nvPicPr>
        <p:blipFill>
          <a:blip r:embed="rId6"/>
          <a:stretch>
            <a:fillRect/>
          </a:stretch>
        </p:blipFill>
        <p:spPr>
          <a:xfrm>
            <a:off x="2254682" y="3858768"/>
            <a:ext cx="420624" cy="420624"/>
          </a:xfrm>
          <a:prstGeom prst="rect">
            <a:avLst/>
          </a:prstGeom>
        </p:spPr>
      </p:pic>
      <p:sp>
        <p:nvSpPr>
          <p:cNvPr id="28" name="Text 20"/>
          <p:cNvSpPr txBox="1"/>
          <p:nvPr/>
        </p:nvSpPr>
        <p:spPr>
          <a:xfrm>
            <a:off x="868680" y="3749040"/>
            <a:ext cx="548640" cy="320040"/>
          </a:xfrm>
          <a:prstGeom prst="rect">
            <a:avLst/>
          </a:prstGeom>
          <a:noFill/>
          <a:ln/>
        </p:spPr>
        <p:txBody>
          <a:bodyPr wrap="square" lIns="0" tIns="0" rIns="0" bIns="0" rtlCol="0" anchor="t"/>
          <a:lstStyle/>
          <a:p>
            <a:pPr rtl="1" algn="l" indent="0" marL="0">
              <a:buNone/>
            </a:pPr>
            <a:r>
              <a:rPr lang="ar-SA" altLang="en-US" sz="1200" b="1" dirty="0">
                <a:solidFill>
                  <a:srgbClr val="5C6778"/>
                </a:solidFill>
                <a:latin typeface="Consolas" pitchFamily="34" charset="0"/>
                <a:ea typeface="Consolas" pitchFamily="34" charset="-122"/>
                <a:cs typeface="Consolas" pitchFamily="34" charset="-120"/>
              </a:rPr>
              <a:t>04</a:t>
            </a:r>
            <a:endParaRPr lang="ar-SA" sz="1200" dirty="0"/>
          </a:p>
        </p:txBody>
      </p:sp>
      <p:sp>
        <p:nvSpPr>
          <p:cNvPr id="29" name="Text 21"/>
          <p:cNvSpPr txBox="1"/>
          <p:nvPr/>
        </p:nvSpPr>
        <p:spPr>
          <a:xfrm>
            <a:off x="868680" y="4617720"/>
            <a:ext cx="1962074" cy="868680"/>
          </a:xfrm>
          <a:prstGeom prst="rect">
            <a:avLst/>
          </a:prstGeom>
          <a:noFill/>
          <a:ln/>
        </p:spPr>
        <p:txBody>
          <a:bodyPr wrap="square" lIns="0" tIns="0" rIns="0" bIns="0" rtlCol="0" anchor="t"/>
          <a:lstStyle/>
          <a:p>
            <a:pPr rtl="1" algn="r" indent="0" marL="0">
              <a:buNone/>
            </a:pPr>
            <a:r>
              <a:rPr lang="ar-SA" altLang="en-US" sz="1700" b="1" dirty="0">
                <a:solidFill>
                  <a:srgbClr val="FFFFFF"/>
                </a:solidFill>
                <a:latin typeface="Segoe UI" pitchFamily="34" charset="0"/>
                <a:ea typeface="Segoe UI" pitchFamily="34" charset="-122"/>
                <a:cs typeface="Segoe UI" pitchFamily="34" charset="-120"/>
              </a:rPr>
              <a:t>صيانة وقائية</a:t>
            </a:r>
            <a:endParaRPr lang="ar-SA" sz="1700" dirty="0"/>
          </a:p>
        </p:txBody>
      </p:sp>
      <p:sp>
        <p:nvSpPr>
          <p:cNvPr id="30" name="Text 22"/>
          <p:cNvSpPr txBox="1"/>
          <p:nvPr/>
        </p:nvSpPr>
        <p:spPr>
          <a:xfrm>
            <a:off x="868680" y="5532120"/>
            <a:ext cx="1962074" cy="548640"/>
          </a:xfrm>
          <a:prstGeom prst="rect">
            <a:avLst/>
          </a:prstGeom>
          <a:noFill/>
          <a:ln/>
        </p:spPr>
        <p:txBody>
          <a:bodyPr wrap="square" lIns="0" tIns="0" rIns="0" bIns="0" rtlCol="0" anchor="t"/>
          <a:lstStyle/>
          <a:p>
            <a:pPr rtl="1" algn="r" indent="0" marL="0">
              <a:buNone/>
            </a:pPr>
            <a:r>
              <a:rPr lang="ar-SA" altLang="en-US" sz="1250" dirty="0">
                <a:solidFill>
                  <a:srgbClr val="B4BDC9"/>
                </a:solidFill>
                <a:latin typeface="Segoe UI" pitchFamily="34" charset="0"/>
                <a:ea typeface="Segoe UI" pitchFamily="34" charset="-122"/>
                <a:cs typeface="Segoe UI" pitchFamily="34" charset="-120"/>
              </a:rPr>
              <a:t>مخطط لها منذ اليوم الأول لتحقيق وفورات طويلة الأمد.</a:t>
            </a:r>
            <a:endParaRPr lang="ar-SA" sz="1250" dirty="0"/>
          </a:p>
        </p:txBody>
      </p:sp>
      <p:sp>
        <p:nvSpPr>
          <p:cNvPr id="31" name="Text 23"/>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980" dirty="0">
                <a:solidFill>
                  <a:srgbClr val="8D97A5"/>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32" name="Text 24"/>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8D97A5"/>
                </a:solidFill>
                <a:latin typeface="Consolas" pitchFamily="34" charset="0"/>
                <a:ea typeface="Consolas" pitchFamily="34" charset="-122"/>
                <a:cs typeface="Consolas" pitchFamily="34" charset="-120"/>
              </a:rPr>
              <a:t>04</a:t>
            </a:r>
            <a:endParaRPr lang="ar-SA"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7"/>
        </a:solidFill>
      </p:bgPr>
    </p:bg>
    <p:spTree>
      <p:nvGrpSpPr>
        <p:cNvPr id="1" name=""/>
        <p:cNvGrpSpPr/>
        <p:nvPr/>
      </p:nvGrpSpPr>
      <p:grpSpPr>
        <a:xfrm>
          <a:off x="0" y="0"/>
          <a:ext cx="0" cy="0"/>
          <a:chOff x="0" y="0"/>
          <a:chExt cx="0" cy="0"/>
        </a:xfrm>
      </p:grpSpPr>
      <p:pic>
        <p:nvPicPr>
          <p:cNvPr id="2" name="Image 0" descr="/home/user/NVIConsult/build/assets_bold/logo_mark.png">    </p:cNvPr>
          <p:cNvPicPr>
            <a:picLocks noChangeAspect="1"/>
          </p:cNvPicPr>
          <p:nvPr/>
        </p:nvPicPr>
        <p:blipFill>
          <a:blip r:embed="rId1"/>
          <a:stretch>
            <a:fillRect/>
          </a:stretch>
        </p:blipFill>
        <p:spPr>
          <a:xfrm>
            <a:off x="11328969" y="530352"/>
            <a:ext cx="314086" cy="173736"/>
          </a:xfrm>
          <a:prstGeom prst="rect">
            <a:avLst/>
          </a:prstGeom>
        </p:spPr>
      </p:pic>
      <p:sp>
        <p:nvSpPr>
          <p:cNvPr id="3" name="Text 0"/>
          <p:cNvSpPr txBox="1"/>
          <p:nvPr/>
        </p:nvSpPr>
        <p:spPr>
          <a:xfrm>
            <a:off x="4327855" y="502920"/>
            <a:ext cx="6858000" cy="256032"/>
          </a:xfrm>
          <a:prstGeom prst="rect">
            <a:avLst/>
          </a:prstGeom>
          <a:noFill/>
          <a:ln/>
        </p:spPr>
        <p:txBody>
          <a:bodyPr wrap="square" lIns="0" tIns="0" rIns="0" bIns="0" rtlCol="0" anchor="ctr"/>
          <a:lstStyle/>
          <a:p>
            <a:pPr rtl="1" algn="r" indent="0" marL="0">
              <a:buNone/>
            </a:pPr>
            <a:r>
              <a:rPr lang="ar-SA" altLang="en-US" sz="1260" b="1" dirty="0">
                <a:solidFill>
                  <a:srgbClr val="E5177B"/>
                </a:solidFill>
                <a:latin typeface="Segoe UI" pitchFamily="34" charset="0"/>
                <a:ea typeface="Segoe UI" pitchFamily="34" charset="-122"/>
                <a:cs typeface="Segoe UI" pitchFamily="34" charset="-120"/>
              </a:rPr>
              <a:t>04  ·  خدماتنا</a:t>
            </a:r>
            <a:endParaRPr lang="ar-SA" sz="1260" dirty="0"/>
          </a:p>
        </p:txBody>
      </p:sp>
      <p:sp>
        <p:nvSpPr>
          <p:cNvPr id="4" name="Text 1"/>
          <p:cNvSpPr txBox="1"/>
          <p:nvPr/>
        </p:nvSpPr>
        <p:spPr>
          <a:xfrm>
            <a:off x="548640" y="841248"/>
            <a:ext cx="11094415" cy="685800"/>
          </a:xfrm>
          <a:prstGeom prst="rect">
            <a:avLst/>
          </a:prstGeom>
          <a:noFill/>
          <a:ln/>
        </p:spPr>
        <p:txBody>
          <a:bodyPr wrap="square" lIns="0" tIns="0" rIns="0" bIns="0" rtlCol="0" anchor="t"/>
          <a:lstStyle/>
          <a:p>
            <a:pPr rtl="1" algn="r" indent="0" marL="0">
              <a:buNone/>
            </a:pPr>
            <a:r>
              <a:rPr lang="ar-SA" altLang="en-US" sz="2400" b="1" dirty="0">
                <a:solidFill>
                  <a:srgbClr val="0E1420"/>
                </a:solidFill>
                <a:latin typeface="Segoe UI" pitchFamily="34" charset="0"/>
                <a:ea typeface="Segoe UI" pitchFamily="34" charset="-122"/>
                <a:cs typeface="Segoe UI" pitchFamily="34" charset="-120"/>
              </a:rPr>
              <a:t>ثمانية خطوط خدمات متكاملة، وشريك واحد مسؤول.</a:t>
            </a:r>
            <a:endParaRPr lang="ar-SA" sz="2400" dirty="0"/>
          </a:p>
        </p:txBody>
      </p:sp>
      <p:sp>
        <p:nvSpPr>
          <p:cNvPr id="5" name="Shape 2"/>
          <p:cNvSpPr/>
          <p:nvPr/>
        </p:nvSpPr>
        <p:spPr>
          <a:xfrm>
            <a:off x="9040901" y="173736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6" name="Image 1" descr="/home/user/NVIConsult/build/assets_bold/t_eng.jpg">    </p:cNvPr>
          <p:cNvPicPr>
            <a:picLocks noChangeAspect="1"/>
          </p:cNvPicPr>
          <p:nvPr/>
        </p:nvPicPr>
        <p:blipFill>
          <a:blip r:embed="rId2"/>
          <a:stretch>
            <a:fillRect/>
          </a:stretch>
        </p:blipFill>
        <p:spPr>
          <a:xfrm>
            <a:off x="9040901" y="1737360"/>
            <a:ext cx="2602154" cy="1463040"/>
          </a:xfrm>
          <a:prstGeom prst="rect">
            <a:avLst/>
          </a:prstGeom>
        </p:spPr>
      </p:pic>
      <p:sp>
        <p:nvSpPr>
          <p:cNvPr id="7" name="Shape 3"/>
          <p:cNvSpPr/>
          <p:nvPr/>
        </p:nvSpPr>
        <p:spPr>
          <a:xfrm>
            <a:off x="10893247" y="3355848"/>
            <a:ext cx="566928" cy="237744"/>
          </a:xfrm>
          <a:prstGeom prst="parallelogram">
            <a:avLst/>
          </a:prstGeom>
          <a:solidFill>
            <a:srgbClr val="E5177B"/>
          </a:solidFill>
          <a:ln w="12700">
            <a:solidFill>
              <a:srgbClr val="E5177B"/>
            </a:solidFill>
            <a:prstDash val="solid"/>
          </a:ln>
        </p:spPr>
      </p:sp>
      <p:sp>
        <p:nvSpPr>
          <p:cNvPr id="8" name="Text 4"/>
          <p:cNvSpPr txBox="1"/>
          <p:nvPr/>
        </p:nvSpPr>
        <p:spPr>
          <a:xfrm>
            <a:off x="10893247" y="3355848"/>
            <a:ext cx="566928" cy="237744"/>
          </a:xfrm>
          <a:prstGeom prst="rect">
            <a:avLst/>
          </a:prstGeom>
          <a:noFill/>
          <a:ln/>
        </p:spPr>
        <p:txBody>
          <a:bodyPr wrap="square" lIns="0" tIns="0" rIns="0" bIns="0" rtlCol="0" anchor="ctr"/>
          <a:lstStyle/>
          <a:p>
            <a:pPr rtl="1" algn="ctr" indent="0" marL="0">
              <a:buNone/>
            </a:pPr>
            <a:r>
              <a:rPr lang="ar-SA" altLang="en-US" sz="1050" b="1" dirty="0">
                <a:solidFill>
                  <a:srgbClr val="FFFFFF"/>
                </a:solidFill>
                <a:latin typeface="Consolas" pitchFamily="34" charset="0"/>
                <a:ea typeface="Consolas" pitchFamily="34" charset="-122"/>
                <a:cs typeface="Consolas" pitchFamily="34" charset="-120"/>
              </a:rPr>
              <a:t>01</a:t>
            </a:r>
            <a:endParaRPr lang="ar-SA" sz="1050" dirty="0"/>
          </a:p>
        </p:txBody>
      </p:sp>
      <p:sp>
        <p:nvSpPr>
          <p:cNvPr id="9" name="Text 5"/>
          <p:cNvSpPr txBox="1"/>
          <p:nvPr/>
        </p:nvSpPr>
        <p:spPr>
          <a:xfrm>
            <a:off x="9178061" y="329184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Segoe UI" pitchFamily="34" charset="0"/>
                <a:ea typeface="Segoe UI" pitchFamily="34" charset="-122"/>
                <a:cs typeface="Segoe UI" pitchFamily="34" charset="-120"/>
              </a:rPr>
              <a:t>الهندسة والتخطيط</a:t>
            </a:r>
            <a:endParaRPr lang="ar-SA" sz="1350" dirty="0"/>
          </a:p>
        </p:txBody>
      </p:sp>
      <p:sp>
        <p:nvSpPr>
          <p:cNvPr id="10" name="Shape 6"/>
          <p:cNvSpPr/>
          <p:nvPr/>
        </p:nvSpPr>
        <p:spPr>
          <a:xfrm>
            <a:off x="6210148" y="173736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11" name="Image 2" descr="/home/user/NVIConsult/build/assets_bold/t_str.jpg">    </p:cNvPr>
          <p:cNvPicPr>
            <a:picLocks noChangeAspect="1"/>
          </p:cNvPicPr>
          <p:nvPr/>
        </p:nvPicPr>
        <p:blipFill>
          <a:blip r:embed="rId3"/>
          <a:stretch>
            <a:fillRect/>
          </a:stretch>
        </p:blipFill>
        <p:spPr>
          <a:xfrm>
            <a:off x="6210148" y="1737360"/>
            <a:ext cx="2602154" cy="1463040"/>
          </a:xfrm>
          <a:prstGeom prst="rect">
            <a:avLst/>
          </a:prstGeom>
        </p:spPr>
      </p:pic>
      <p:sp>
        <p:nvSpPr>
          <p:cNvPr id="12" name="Shape 7"/>
          <p:cNvSpPr/>
          <p:nvPr/>
        </p:nvSpPr>
        <p:spPr>
          <a:xfrm>
            <a:off x="8062493" y="3355848"/>
            <a:ext cx="566928" cy="237744"/>
          </a:xfrm>
          <a:prstGeom prst="parallelogram">
            <a:avLst/>
          </a:prstGeom>
          <a:solidFill>
            <a:srgbClr val="2DB8E0"/>
          </a:solidFill>
          <a:ln w="12700">
            <a:solidFill>
              <a:srgbClr val="2DB8E0"/>
            </a:solidFill>
            <a:prstDash val="solid"/>
          </a:ln>
        </p:spPr>
      </p:sp>
      <p:sp>
        <p:nvSpPr>
          <p:cNvPr id="13" name="Text 8"/>
          <p:cNvSpPr txBox="1"/>
          <p:nvPr/>
        </p:nvSpPr>
        <p:spPr>
          <a:xfrm>
            <a:off x="8062493" y="3355848"/>
            <a:ext cx="566928" cy="237744"/>
          </a:xfrm>
          <a:prstGeom prst="rect">
            <a:avLst/>
          </a:prstGeom>
          <a:noFill/>
          <a:ln/>
        </p:spPr>
        <p:txBody>
          <a:bodyPr wrap="square" lIns="0" tIns="0" rIns="0" bIns="0" rtlCol="0" anchor="ctr"/>
          <a:lstStyle/>
          <a:p>
            <a:pPr rtl="1" algn="ctr" indent="0" marL="0">
              <a:buNone/>
            </a:pPr>
            <a:r>
              <a:rPr lang="ar-SA" altLang="en-US" sz="1050" b="1" dirty="0">
                <a:solidFill>
                  <a:srgbClr val="0E1420"/>
                </a:solidFill>
                <a:latin typeface="Consolas" pitchFamily="34" charset="0"/>
                <a:ea typeface="Consolas" pitchFamily="34" charset="-122"/>
                <a:cs typeface="Consolas" pitchFamily="34" charset="-120"/>
              </a:rPr>
              <a:t>02</a:t>
            </a:r>
            <a:endParaRPr lang="ar-SA" sz="1050" dirty="0"/>
          </a:p>
        </p:txBody>
      </p:sp>
      <p:sp>
        <p:nvSpPr>
          <p:cNvPr id="14" name="Text 9"/>
          <p:cNvSpPr txBox="1"/>
          <p:nvPr/>
        </p:nvSpPr>
        <p:spPr>
          <a:xfrm>
            <a:off x="6347308" y="329184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Segoe UI" pitchFamily="34" charset="0"/>
                <a:ea typeface="Segoe UI" pitchFamily="34" charset="-122"/>
                <a:cs typeface="Segoe UI" pitchFamily="34" charset="-120"/>
              </a:rPr>
              <a:t>المقاولات والأعمال الإنشائية</a:t>
            </a:r>
            <a:endParaRPr lang="ar-SA" sz="1350" dirty="0"/>
          </a:p>
        </p:txBody>
      </p:sp>
      <p:sp>
        <p:nvSpPr>
          <p:cNvPr id="15" name="Shape 10"/>
          <p:cNvSpPr/>
          <p:nvPr/>
        </p:nvSpPr>
        <p:spPr>
          <a:xfrm>
            <a:off x="3379394" y="173736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16" name="Image 3" descr="/home/user/NVIConsult/build/assets_bold/t_fit.jpg">    </p:cNvPr>
          <p:cNvPicPr>
            <a:picLocks noChangeAspect="1"/>
          </p:cNvPicPr>
          <p:nvPr/>
        </p:nvPicPr>
        <p:blipFill>
          <a:blip r:embed="rId4"/>
          <a:stretch>
            <a:fillRect/>
          </a:stretch>
        </p:blipFill>
        <p:spPr>
          <a:xfrm>
            <a:off x="3379394" y="1737360"/>
            <a:ext cx="2602154" cy="1463040"/>
          </a:xfrm>
          <a:prstGeom prst="rect">
            <a:avLst/>
          </a:prstGeom>
        </p:spPr>
      </p:pic>
      <p:sp>
        <p:nvSpPr>
          <p:cNvPr id="17" name="Shape 11"/>
          <p:cNvSpPr/>
          <p:nvPr/>
        </p:nvSpPr>
        <p:spPr>
          <a:xfrm>
            <a:off x="5231740" y="3355848"/>
            <a:ext cx="566928" cy="237744"/>
          </a:xfrm>
          <a:prstGeom prst="parallelogram">
            <a:avLst/>
          </a:prstGeom>
          <a:solidFill>
            <a:srgbClr val="FBBA16"/>
          </a:solidFill>
          <a:ln w="12700">
            <a:solidFill>
              <a:srgbClr val="FBBA16"/>
            </a:solidFill>
            <a:prstDash val="solid"/>
          </a:ln>
        </p:spPr>
      </p:sp>
      <p:sp>
        <p:nvSpPr>
          <p:cNvPr id="18" name="Text 12"/>
          <p:cNvSpPr txBox="1"/>
          <p:nvPr/>
        </p:nvSpPr>
        <p:spPr>
          <a:xfrm>
            <a:off x="5231740" y="3355848"/>
            <a:ext cx="566928" cy="237744"/>
          </a:xfrm>
          <a:prstGeom prst="rect">
            <a:avLst/>
          </a:prstGeom>
          <a:noFill/>
          <a:ln/>
        </p:spPr>
        <p:txBody>
          <a:bodyPr wrap="square" lIns="0" tIns="0" rIns="0" bIns="0" rtlCol="0" anchor="ctr"/>
          <a:lstStyle/>
          <a:p>
            <a:pPr rtl="1" algn="ctr" indent="0" marL="0">
              <a:buNone/>
            </a:pPr>
            <a:r>
              <a:rPr lang="ar-SA" altLang="en-US" sz="1050" b="1" dirty="0">
                <a:solidFill>
                  <a:srgbClr val="0E1420"/>
                </a:solidFill>
                <a:latin typeface="Consolas" pitchFamily="34" charset="0"/>
                <a:ea typeface="Consolas" pitchFamily="34" charset="-122"/>
                <a:cs typeface="Consolas" pitchFamily="34" charset="-120"/>
              </a:rPr>
              <a:t>03</a:t>
            </a:r>
            <a:endParaRPr lang="ar-SA" sz="1050" dirty="0"/>
          </a:p>
        </p:txBody>
      </p:sp>
      <p:sp>
        <p:nvSpPr>
          <p:cNvPr id="19" name="Text 13"/>
          <p:cNvSpPr txBox="1"/>
          <p:nvPr/>
        </p:nvSpPr>
        <p:spPr>
          <a:xfrm>
            <a:off x="3516554" y="329184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Segoe UI" pitchFamily="34" charset="0"/>
                <a:ea typeface="Segoe UI" pitchFamily="34" charset="-122"/>
                <a:cs typeface="Segoe UI" pitchFamily="34" charset="-120"/>
              </a:rPr>
              <a:t>التجهيز والتشطيبات</a:t>
            </a:r>
            <a:endParaRPr lang="ar-SA" sz="1350" dirty="0"/>
          </a:p>
        </p:txBody>
      </p:sp>
      <p:sp>
        <p:nvSpPr>
          <p:cNvPr id="20" name="Shape 14"/>
          <p:cNvSpPr/>
          <p:nvPr/>
        </p:nvSpPr>
        <p:spPr>
          <a:xfrm>
            <a:off x="548640" y="173736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21" name="Image 4" descr="/home/user/NVIConsult/build/assets_bold/t_ele.jpg">    </p:cNvPr>
          <p:cNvPicPr>
            <a:picLocks noChangeAspect="1"/>
          </p:cNvPicPr>
          <p:nvPr/>
        </p:nvPicPr>
        <p:blipFill>
          <a:blip r:embed="rId5"/>
          <a:stretch>
            <a:fillRect/>
          </a:stretch>
        </p:blipFill>
        <p:spPr>
          <a:xfrm>
            <a:off x="548640" y="1737360"/>
            <a:ext cx="2602154" cy="1463040"/>
          </a:xfrm>
          <a:prstGeom prst="rect">
            <a:avLst/>
          </a:prstGeom>
        </p:spPr>
      </p:pic>
      <p:sp>
        <p:nvSpPr>
          <p:cNvPr id="22" name="Shape 15"/>
          <p:cNvSpPr/>
          <p:nvPr/>
        </p:nvSpPr>
        <p:spPr>
          <a:xfrm>
            <a:off x="2400986" y="3355848"/>
            <a:ext cx="566928" cy="237744"/>
          </a:xfrm>
          <a:prstGeom prst="parallelogram">
            <a:avLst/>
          </a:prstGeom>
          <a:solidFill>
            <a:srgbClr val="5B54A4"/>
          </a:solidFill>
          <a:ln w="12700">
            <a:solidFill>
              <a:srgbClr val="5B54A4"/>
            </a:solidFill>
            <a:prstDash val="solid"/>
          </a:ln>
        </p:spPr>
      </p:sp>
      <p:sp>
        <p:nvSpPr>
          <p:cNvPr id="23" name="Text 16"/>
          <p:cNvSpPr txBox="1"/>
          <p:nvPr/>
        </p:nvSpPr>
        <p:spPr>
          <a:xfrm>
            <a:off x="2400986" y="3355848"/>
            <a:ext cx="566928" cy="237744"/>
          </a:xfrm>
          <a:prstGeom prst="rect">
            <a:avLst/>
          </a:prstGeom>
          <a:noFill/>
          <a:ln/>
        </p:spPr>
        <p:txBody>
          <a:bodyPr wrap="square" lIns="0" tIns="0" rIns="0" bIns="0" rtlCol="0" anchor="ctr"/>
          <a:lstStyle/>
          <a:p>
            <a:pPr rtl="1" algn="ctr" indent="0" marL="0">
              <a:buNone/>
            </a:pPr>
            <a:r>
              <a:rPr lang="ar-SA" altLang="en-US" sz="1050" b="1" dirty="0">
                <a:solidFill>
                  <a:srgbClr val="FFFFFF"/>
                </a:solidFill>
                <a:latin typeface="Consolas" pitchFamily="34" charset="0"/>
                <a:ea typeface="Consolas" pitchFamily="34" charset="-122"/>
                <a:cs typeface="Consolas" pitchFamily="34" charset="-120"/>
              </a:rPr>
              <a:t>04</a:t>
            </a:r>
            <a:endParaRPr lang="ar-SA" sz="1050" dirty="0"/>
          </a:p>
        </p:txBody>
      </p:sp>
      <p:sp>
        <p:nvSpPr>
          <p:cNvPr id="24" name="Text 17"/>
          <p:cNvSpPr txBox="1"/>
          <p:nvPr/>
        </p:nvSpPr>
        <p:spPr>
          <a:xfrm>
            <a:off x="685800" y="329184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Segoe UI" pitchFamily="34" charset="0"/>
                <a:ea typeface="Segoe UI" pitchFamily="34" charset="-122"/>
                <a:cs typeface="Segoe UI" pitchFamily="34" charset="-120"/>
              </a:rPr>
              <a:t>الأعمال الكهربائية</a:t>
            </a:r>
            <a:endParaRPr lang="ar-SA" sz="1350" dirty="0"/>
          </a:p>
        </p:txBody>
      </p:sp>
      <p:sp>
        <p:nvSpPr>
          <p:cNvPr id="25" name="Shape 18"/>
          <p:cNvSpPr/>
          <p:nvPr/>
        </p:nvSpPr>
        <p:spPr>
          <a:xfrm>
            <a:off x="9040901" y="411480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26" name="Image 5" descr="/home/user/NVIConsult/build/assets_bold/t_low.jpg">    </p:cNvPr>
          <p:cNvPicPr>
            <a:picLocks noChangeAspect="1"/>
          </p:cNvPicPr>
          <p:nvPr/>
        </p:nvPicPr>
        <p:blipFill>
          <a:blip r:embed="rId6"/>
          <a:stretch>
            <a:fillRect/>
          </a:stretch>
        </p:blipFill>
        <p:spPr>
          <a:xfrm>
            <a:off x="9040901" y="4114800"/>
            <a:ext cx="2602154" cy="1463040"/>
          </a:xfrm>
          <a:prstGeom prst="rect">
            <a:avLst/>
          </a:prstGeom>
        </p:spPr>
      </p:pic>
      <p:sp>
        <p:nvSpPr>
          <p:cNvPr id="27" name="Shape 19"/>
          <p:cNvSpPr/>
          <p:nvPr/>
        </p:nvSpPr>
        <p:spPr>
          <a:xfrm>
            <a:off x="10893247" y="5733288"/>
            <a:ext cx="566928" cy="237744"/>
          </a:xfrm>
          <a:prstGeom prst="parallelogram">
            <a:avLst/>
          </a:prstGeom>
          <a:solidFill>
            <a:srgbClr val="98207E"/>
          </a:solidFill>
          <a:ln w="12700">
            <a:solidFill>
              <a:srgbClr val="98207E"/>
            </a:solidFill>
            <a:prstDash val="solid"/>
          </a:ln>
        </p:spPr>
      </p:sp>
      <p:sp>
        <p:nvSpPr>
          <p:cNvPr id="28" name="Text 20"/>
          <p:cNvSpPr txBox="1"/>
          <p:nvPr/>
        </p:nvSpPr>
        <p:spPr>
          <a:xfrm>
            <a:off x="10893247" y="5733288"/>
            <a:ext cx="566928" cy="237744"/>
          </a:xfrm>
          <a:prstGeom prst="rect">
            <a:avLst/>
          </a:prstGeom>
          <a:noFill/>
          <a:ln/>
        </p:spPr>
        <p:txBody>
          <a:bodyPr wrap="square" lIns="0" tIns="0" rIns="0" bIns="0" rtlCol="0" anchor="ctr"/>
          <a:lstStyle/>
          <a:p>
            <a:pPr rtl="1" algn="ctr" indent="0" marL="0">
              <a:buNone/>
            </a:pPr>
            <a:r>
              <a:rPr lang="ar-SA" altLang="en-US" sz="1050" b="1" dirty="0">
                <a:solidFill>
                  <a:srgbClr val="FFFFFF"/>
                </a:solidFill>
                <a:latin typeface="Consolas" pitchFamily="34" charset="0"/>
                <a:ea typeface="Consolas" pitchFamily="34" charset="-122"/>
                <a:cs typeface="Consolas" pitchFamily="34" charset="-120"/>
              </a:rPr>
              <a:t>05</a:t>
            </a:r>
            <a:endParaRPr lang="ar-SA" sz="1050" dirty="0"/>
          </a:p>
        </p:txBody>
      </p:sp>
      <p:sp>
        <p:nvSpPr>
          <p:cNvPr id="29" name="Text 21"/>
          <p:cNvSpPr txBox="1"/>
          <p:nvPr/>
        </p:nvSpPr>
        <p:spPr>
          <a:xfrm>
            <a:off x="9178061" y="566928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Segoe UI" pitchFamily="34" charset="0"/>
                <a:ea typeface="Segoe UI" pitchFamily="34" charset="-122"/>
                <a:cs typeface="Segoe UI" pitchFamily="34" charset="-120"/>
              </a:rPr>
              <a:t>أنظمة التيار المنخفض</a:t>
            </a:r>
            <a:endParaRPr lang="ar-SA" sz="1350" dirty="0"/>
          </a:p>
        </p:txBody>
      </p:sp>
      <p:sp>
        <p:nvSpPr>
          <p:cNvPr id="30" name="Shape 22"/>
          <p:cNvSpPr/>
          <p:nvPr/>
        </p:nvSpPr>
        <p:spPr>
          <a:xfrm>
            <a:off x="6210148" y="411480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31" name="Image 6" descr="/home/user/NVIConsult/build/assets_bold/t_mec.jpg">    </p:cNvPr>
          <p:cNvPicPr>
            <a:picLocks noChangeAspect="1"/>
          </p:cNvPicPr>
          <p:nvPr/>
        </p:nvPicPr>
        <p:blipFill>
          <a:blip r:embed="rId7"/>
          <a:stretch>
            <a:fillRect/>
          </a:stretch>
        </p:blipFill>
        <p:spPr>
          <a:xfrm>
            <a:off x="6210148" y="4114800"/>
            <a:ext cx="2602154" cy="1463040"/>
          </a:xfrm>
          <a:prstGeom prst="rect">
            <a:avLst/>
          </a:prstGeom>
        </p:spPr>
      </p:pic>
      <p:sp>
        <p:nvSpPr>
          <p:cNvPr id="32" name="Shape 23"/>
          <p:cNvSpPr/>
          <p:nvPr/>
        </p:nvSpPr>
        <p:spPr>
          <a:xfrm>
            <a:off x="8062493" y="5733288"/>
            <a:ext cx="566928" cy="237744"/>
          </a:xfrm>
          <a:prstGeom prst="parallelogram">
            <a:avLst/>
          </a:prstGeom>
          <a:solidFill>
            <a:srgbClr val="E5177B"/>
          </a:solidFill>
          <a:ln w="12700">
            <a:solidFill>
              <a:srgbClr val="E5177B"/>
            </a:solidFill>
            <a:prstDash val="solid"/>
          </a:ln>
        </p:spPr>
      </p:sp>
      <p:sp>
        <p:nvSpPr>
          <p:cNvPr id="33" name="Text 24"/>
          <p:cNvSpPr txBox="1"/>
          <p:nvPr/>
        </p:nvSpPr>
        <p:spPr>
          <a:xfrm>
            <a:off x="8062493" y="5733288"/>
            <a:ext cx="566928" cy="237744"/>
          </a:xfrm>
          <a:prstGeom prst="rect">
            <a:avLst/>
          </a:prstGeom>
          <a:noFill/>
          <a:ln/>
        </p:spPr>
        <p:txBody>
          <a:bodyPr wrap="square" lIns="0" tIns="0" rIns="0" bIns="0" rtlCol="0" anchor="ctr"/>
          <a:lstStyle/>
          <a:p>
            <a:pPr rtl="1" algn="ctr" indent="0" marL="0">
              <a:buNone/>
            </a:pPr>
            <a:r>
              <a:rPr lang="ar-SA" altLang="en-US" sz="1050" b="1" dirty="0">
                <a:solidFill>
                  <a:srgbClr val="FFFFFF"/>
                </a:solidFill>
                <a:latin typeface="Consolas" pitchFamily="34" charset="0"/>
                <a:ea typeface="Consolas" pitchFamily="34" charset="-122"/>
                <a:cs typeface="Consolas" pitchFamily="34" charset="-120"/>
              </a:rPr>
              <a:t>06</a:t>
            </a:r>
            <a:endParaRPr lang="ar-SA" sz="1050" dirty="0"/>
          </a:p>
        </p:txBody>
      </p:sp>
      <p:sp>
        <p:nvSpPr>
          <p:cNvPr id="34" name="Text 25"/>
          <p:cNvSpPr txBox="1"/>
          <p:nvPr/>
        </p:nvSpPr>
        <p:spPr>
          <a:xfrm>
            <a:off x="6347308" y="566928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Segoe UI" pitchFamily="34" charset="0"/>
                <a:ea typeface="Segoe UI" pitchFamily="34" charset="-122"/>
                <a:cs typeface="Segoe UI" pitchFamily="34" charset="-120"/>
              </a:rPr>
              <a:t>الأعمال الميكانيكية والتكييف</a:t>
            </a:r>
            <a:endParaRPr lang="ar-SA" sz="1350" dirty="0"/>
          </a:p>
        </p:txBody>
      </p:sp>
      <p:sp>
        <p:nvSpPr>
          <p:cNvPr id="35" name="Shape 26"/>
          <p:cNvSpPr/>
          <p:nvPr/>
        </p:nvSpPr>
        <p:spPr>
          <a:xfrm>
            <a:off x="3379394" y="411480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36" name="Image 7" descr="/home/user/NVIConsult/build/assets_bold/t_plu.jpg">    </p:cNvPr>
          <p:cNvPicPr>
            <a:picLocks noChangeAspect="1"/>
          </p:cNvPicPr>
          <p:nvPr/>
        </p:nvPicPr>
        <p:blipFill>
          <a:blip r:embed="rId8"/>
          <a:stretch>
            <a:fillRect/>
          </a:stretch>
        </p:blipFill>
        <p:spPr>
          <a:xfrm>
            <a:off x="3379394" y="4114800"/>
            <a:ext cx="2602154" cy="1463040"/>
          </a:xfrm>
          <a:prstGeom prst="rect">
            <a:avLst/>
          </a:prstGeom>
        </p:spPr>
      </p:pic>
      <p:sp>
        <p:nvSpPr>
          <p:cNvPr id="37" name="Shape 27"/>
          <p:cNvSpPr/>
          <p:nvPr/>
        </p:nvSpPr>
        <p:spPr>
          <a:xfrm>
            <a:off x="5231740" y="5733288"/>
            <a:ext cx="566928" cy="237744"/>
          </a:xfrm>
          <a:prstGeom prst="parallelogram">
            <a:avLst/>
          </a:prstGeom>
          <a:solidFill>
            <a:srgbClr val="2DB8E0"/>
          </a:solidFill>
          <a:ln w="12700">
            <a:solidFill>
              <a:srgbClr val="2DB8E0"/>
            </a:solidFill>
            <a:prstDash val="solid"/>
          </a:ln>
        </p:spPr>
      </p:sp>
      <p:sp>
        <p:nvSpPr>
          <p:cNvPr id="38" name="Text 28"/>
          <p:cNvSpPr txBox="1"/>
          <p:nvPr/>
        </p:nvSpPr>
        <p:spPr>
          <a:xfrm>
            <a:off x="5231740" y="5733288"/>
            <a:ext cx="566928" cy="237744"/>
          </a:xfrm>
          <a:prstGeom prst="rect">
            <a:avLst/>
          </a:prstGeom>
          <a:noFill/>
          <a:ln/>
        </p:spPr>
        <p:txBody>
          <a:bodyPr wrap="square" lIns="0" tIns="0" rIns="0" bIns="0" rtlCol="0" anchor="ctr"/>
          <a:lstStyle/>
          <a:p>
            <a:pPr rtl="1" algn="ctr" indent="0" marL="0">
              <a:buNone/>
            </a:pPr>
            <a:r>
              <a:rPr lang="ar-SA" altLang="en-US" sz="1050" b="1" dirty="0">
                <a:solidFill>
                  <a:srgbClr val="0E1420"/>
                </a:solidFill>
                <a:latin typeface="Consolas" pitchFamily="34" charset="0"/>
                <a:ea typeface="Consolas" pitchFamily="34" charset="-122"/>
                <a:cs typeface="Consolas" pitchFamily="34" charset="-120"/>
              </a:rPr>
              <a:t>07</a:t>
            </a:r>
            <a:endParaRPr lang="ar-SA" sz="1050" dirty="0"/>
          </a:p>
        </p:txBody>
      </p:sp>
      <p:sp>
        <p:nvSpPr>
          <p:cNvPr id="39" name="Text 29"/>
          <p:cNvSpPr txBox="1"/>
          <p:nvPr/>
        </p:nvSpPr>
        <p:spPr>
          <a:xfrm>
            <a:off x="3516554" y="566928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Segoe UI" pitchFamily="34" charset="0"/>
                <a:ea typeface="Segoe UI" pitchFamily="34" charset="-122"/>
                <a:cs typeface="Segoe UI" pitchFamily="34" charset="-120"/>
              </a:rPr>
              <a:t>السباكة ومكافحة الحريق</a:t>
            </a:r>
            <a:endParaRPr lang="ar-SA" sz="1350" dirty="0"/>
          </a:p>
        </p:txBody>
      </p:sp>
      <p:sp>
        <p:nvSpPr>
          <p:cNvPr id="40" name="Shape 30"/>
          <p:cNvSpPr/>
          <p:nvPr/>
        </p:nvSpPr>
        <p:spPr>
          <a:xfrm>
            <a:off x="548640" y="411480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41" name="Image 8" descr="/home/user/NVIConsult/build/assets_bold/t_mnt.jpg">    </p:cNvPr>
          <p:cNvPicPr>
            <a:picLocks noChangeAspect="1"/>
          </p:cNvPicPr>
          <p:nvPr/>
        </p:nvPicPr>
        <p:blipFill>
          <a:blip r:embed="rId9"/>
          <a:stretch>
            <a:fillRect/>
          </a:stretch>
        </p:blipFill>
        <p:spPr>
          <a:xfrm>
            <a:off x="548640" y="4114800"/>
            <a:ext cx="2602154" cy="1463040"/>
          </a:xfrm>
          <a:prstGeom prst="rect">
            <a:avLst/>
          </a:prstGeom>
        </p:spPr>
      </p:pic>
      <p:sp>
        <p:nvSpPr>
          <p:cNvPr id="42" name="Shape 31"/>
          <p:cNvSpPr/>
          <p:nvPr/>
        </p:nvSpPr>
        <p:spPr>
          <a:xfrm>
            <a:off x="2400986" y="5733288"/>
            <a:ext cx="566928" cy="237744"/>
          </a:xfrm>
          <a:prstGeom prst="parallelogram">
            <a:avLst/>
          </a:prstGeom>
          <a:solidFill>
            <a:srgbClr val="FBBA16"/>
          </a:solidFill>
          <a:ln w="12700">
            <a:solidFill>
              <a:srgbClr val="FBBA16"/>
            </a:solidFill>
            <a:prstDash val="solid"/>
          </a:ln>
        </p:spPr>
      </p:sp>
      <p:sp>
        <p:nvSpPr>
          <p:cNvPr id="43" name="Text 32"/>
          <p:cNvSpPr txBox="1"/>
          <p:nvPr/>
        </p:nvSpPr>
        <p:spPr>
          <a:xfrm>
            <a:off x="2400986" y="5733288"/>
            <a:ext cx="566928" cy="237744"/>
          </a:xfrm>
          <a:prstGeom prst="rect">
            <a:avLst/>
          </a:prstGeom>
          <a:noFill/>
          <a:ln/>
        </p:spPr>
        <p:txBody>
          <a:bodyPr wrap="square" lIns="0" tIns="0" rIns="0" bIns="0" rtlCol="0" anchor="ctr"/>
          <a:lstStyle/>
          <a:p>
            <a:pPr rtl="1" algn="ctr" indent="0" marL="0">
              <a:buNone/>
            </a:pPr>
            <a:r>
              <a:rPr lang="ar-SA" altLang="en-US" sz="1050" b="1" dirty="0">
                <a:solidFill>
                  <a:srgbClr val="0E1420"/>
                </a:solidFill>
                <a:latin typeface="Consolas" pitchFamily="34" charset="0"/>
                <a:ea typeface="Consolas" pitchFamily="34" charset="-122"/>
                <a:cs typeface="Consolas" pitchFamily="34" charset="-120"/>
              </a:rPr>
              <a:t>08</a:t>
            </a:r>
            <a:endParaRPr lang="ar-SA" sz="1050" dirty="0"/>
          </a:p>
        </p:txBody>
      </p:sp>
      <p:sp>
        <p:nvSpPr>
          <p:cNvPr id="44" name="Text 33"/>
          <p:cNvSpPr txBox="1"/>
          <p:nvPr/>
        </p:nvSpPr>
        <p:spPr>
          <a:xfrm>
            <a:off x="685800" y="566928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Segoe UI" pitchFamily="34" charset="0"/>
                <a:ea typeface="Segoe UI" pitchFamily="34" charset="-122"/>
                <a:cs typeface="Segoe UI" pitchFamily="34" charset="-120"/>
              </a:rPr>
              <a:t>صيانة المرافق</a:t>
            </a:r>
            <a:endParaRPr lang="ar-SA" sz="1350" dirty="0"/>
          </a:p>
        </p:txBody>
      </p:sp>
      <p:sp>
        <p:nvSpPr>
          <p:cNvPr id="45" name="Text 34"/>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46" name="Text 35"/>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05</a:t>
            </a:r>
            <a:endParaRPr lang="ar-SA"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s_eng.jpg">    </p:cNvPr>
          <p:cNvPicPr>
            <a:picLocks noChangeAspect="1"/>
          </p:cNvPicPr>
          <p:nvPr/>
        </p:nvPicPr>
        <p:blipFill>
          <a:blip r:embed="rId1"/>
          <a:stretch>
            <a:fillRect/>
          </a:stretch>
        </p:blipFill>
        <p:spPr>
          <a:xfrm>
            <a:off x="8351215" y="0"/>
            <a:ext cx="3840480" cy="6858000"/>
          </a:xfrm>
          <a:prstGeom prst="rect">
            <a:avLst/>
          </a:prstGeom>
        </p:spPr>
      </p:pic>
      <p:sp>
        <p:nvSpPr>
          <p:cNvPr id="3" name="Shape 0"/>
          <p:cNvSpPr/>
          <p:nvPr/>
        </p:nvSpPr>
        <p:spPr>
          <a:xfrm>
            <a:off x="7537399" y="603504"/>
            <a:ext cx="310896" cy="146304"/>
          </a:xfrm>
          <a:prstGeom prst="parallelogram">
            <a:avLst/>
          </a:prstGeom>
          <a:solidFill>
            <a:srgbClr val="E5177B"/>
          </a:solidFill>
          <a:ln w="12700">
            <a:solidFill>
              <a:srgbClr val="E5177B"/>
            </a:solidFill>
            <a:prstDash val="solid"/>
          </a:ln>
        </p:spPr>
      </p:sp>
      <p:sp>
        <p:nvSpPr>
          <p:cNvPr id="4" name="Text 1"/>
          <p:cNvSpPr txBox="1"/>
          <p:nvPr/>
        </p:nvSpPr>
        <p:spPr>
          <a:xfrm>
            <a:off x="548640" y="548640"/>
            <a:ext cx="6842455" cy="256032"/>
          </a:xfrm>
          <a:prstGeom prst="rect">
            <a:avLst/>
          </a:prstGeom>
          <a:noFill/>
          <a:ln/>
        </p:spPr>
        <p:txBody>
          <a:bodyPr wrap="square" lIns="0" tIns="0" rIns="0" bIns="0" rtlCol="0" anchor="ctr"/>
          <a:lstStyle/>
          <a:p>
            <a:pPr rtl="1" algn="r" indent="0" marL="0">
              <a:buNone/>
            </a:pPr>
            <a:r>
              <a:rPr lang="ar-SA" altLang="en-US" sz="1260" b="1" dirty="0">
                <a:solidFill>
                  <a:srgbClr val="E5177B"/>
                </a:solidFill>
                <a:latin typeface="Segoe UI" pitchFamily="34" charset="0"/>
                <a:ea typeface="Segoe UI" pitchFamily="34" charset="-122"/>
                <a:cs typeface="Segoe UI" pitchFamily="34" charset="-120"/>
              </a:rPr>
              <a:t>الخدمة 04.1</a:t>
            </a:r>
            <a:endParaRPr lang="ar-SA" sz="1260" dirty="0"/>
          </a:p>
        </p:txBody>
      </p:sp>
      <p:sp>
        <p:nvSpPr>
          <p:cNvPr id="5" name="Text 2"/>
          <p:cNvSpPr txBox="1"/>
          <p:nvPr/>
        </p:nvSpPr>
        <p:spPr>
          <a:xfrm>
            <a:off x="548640" y="896112"/>
            <a:ext cx="7299655" cy="685800"/>
          </a:xfrm>
          <a:prstGeom prst="rect">
            <a:avLst/>
          </a:prstGeom>
          <a:noFill/>
          <a:ln/>
        </p:spPr>
        <p:txBody>
          <a:bodyPr wrap="square" lIns="0" tIns="0" rIns="0" bIns="0" rtlCol="0" anchor="t"/>
          <a:lstStyle/>
          <a:p>
            <a:pPr rtl="1" algn="r" indent="0" marL="0">
              <a:buNone/>
            </a:pPr>
            <a:r>
              <a:rPr lang="ar-SA" altLang="en-US" sz="3000" b="1" dirty="0">
                <a:solidFill>
                  <a:srgbClr val="0E1420"/>
                </a:solidFill>
                <a:latin typeface="Segoe UI" pitchFamily="34" charset="0"/>
                <a:ea typeface="Segoe UI" pitchFamily="34" charset="-122"/>
                <a:cs typeface="Segoe UI" pitchFamily="34" charset="-120"/>
              </a:rPr>
              <a:t>الهندسة والتخطيط</a:t>
            </a:r>
            <a:endParaRPr lang="ar-SA" sz="3000" dirty="0"/>
          </a:p>
        </p:txBody>
      </p:sp>
      <p:sp>
        <p:nvSpPr>
          <p:cNvPr id="6" name="Text 3"/>
          <p:cNvSpPr txBox="1"/>
          <p:nvPr/>
        </p:nvSpPr>
        <p:spPr>
          <a:xfrm>
            <a:off x="548640" y="1627632"/>
            <a:ext cx="7299655"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Segoe UI" pitchFamily="34" charset="0"/>
                <a:ea typeface="Segoe UI" pitchFamily="34" charset="-122"/>
                <a:cs typeface="Segoe UI" pitchFamily="34" charset="-120"/>
              </a:rPr>
              <a:t>إدارة مشاريع منضبطة في كل المراحل، من دراسة الجدوى وحتى التسليم.</a:t>
            </a:r>
            <a:endParaRPr lang="ar-SA" sz="1500" dirty="0"/>
          </a:p>
        </p:txBody>
      </p:sp>
      <p:sp>
        <p:nvSpPr>
          <p:cNvPr id="7" name="Shape 4"/>
          <p:cNvSpPr/>
          <p:nvPr/>
        </p:nvSpPr>
        <p:spPr>
          <a:xfrm>
            <a:off x="4312768" y="2286000"/>
            <a:ext cx="3535528" cy="1938528"/>
          </a:xfrm>
          <a:prstGeom prst="rect">
            <a:avLst/>
          </a:prstGeom>
          <a:solidFill>
            <a:srgbClr val="F2F4F7"/>
          </a:solidFill>
          <a:ln w="12700">
            <a:solidFill>
              <a:srgbClr val="F2F4F7"/>
            </a:solidFill>
            <a:prstDash val="solid"/>
          </a:ln>
        </p:spPr>
      </p:sp>
      <p:sp>
        <p:nvSpPr>
          <p:cNvPr id="8" name="Text 5"/>
          <p:cNvSpPr txBox="1"/>
          <p:nvPr/>
        </p:nvSpPr>
        <p:spPr>
          <a:xfrm>
            <a:off x="6979615" y="2468880"/>
            <a:ext cx="640080" cy="457200"/>
          </a:xfrm>
          <a:prstGeom prst="rect">
            <a:avLst/>
          </a:prstGeom>
          <a:noFill/>
          <a:ln/>
        </p:spPr>
        <p:txBody>
          <a:bodyPr wrap="square" lIns="0" tIns="0" rIns="0" bIns="0" rtlCol="0" anchor="ctr"/>
          <a:lstStyle/>
          <a:p>
            <a:pPr rtl="1" algn="r" indent="0" marL="0">
              <a:buNone/>
            </a:pPr>
            <a:r>
              <a:rPr lang="ar-SA" altLang="en-US" sz="2600" b="1" dirty="0">
                <a:solidFill>
                  <a:srgbClr val="E5177B"/>
                </a:solidFill>
                <a:latin typeface="Consolas" pitchFamily="34" charset="0"/>
                <a:ea typeface="Consolas" pitchFamily="34" charset="-122"/>
                <a:cs typeface="Consolas" pitchFamily="34" charset="-120"/>
              </a:rPr>
              <a:t>01</a:t>
            </a:r>
            <a:endParaRPr lang="ar-SA" sz="2600" dirty="0"/>
          </a:p>
        </p:txBody>
      </p:sp>
      <p:sp>
        <p:nvSpPr>
          <p:cNvPr id="9" name="Text 6"/>
          <p:cNvSpPr txBox="1"/>
          <p:nvPr/>
        </p:nvSpPr>
        <p:spPr>
          <a:xfrm>
            <a:off x="4495648" y="2450592"/>
            <a:ext cx="2438248" cy="502920"/>
          </a:xfrm>
          <a:prstGeom prst="rect">
            <a:avLst/>
          </a:prstGeom>
          <a:noFill/>
          <a:ln/>
        </p:spPr>
        <p:txBody>
          <a:bodyPr wrap="square" lIns="0" tIns="0" rIns="0" bIns="0" rtlCol="0" anchor="ctr"/>
          <a:lstStyle/>
          <a:p>
            <a:pPr rtl="1" algn="r" indent="0" marL="0">
              <a:buNone/>
            </a:pPr>
            <a:r>
              <a:rPr lang="ar-SA" altLang="en-US" sz="1040" b="1" dirty="0">
                <a:solidFill>
                  <a:srgbClr val="667080"/>
                </a:solidFill>
                <a:latin typeface="Segoe UI" pitchFamily="34" charset="0"/>
                <a:ea typeface="Segoe UI" pitchFamily="34" charset="-122"/>
                <a:cs typeface="Segoe UI" pitchFamily="34" charset="-120"/>
              </a:rPr>
              <a:t>المرحلة 1</a:t>
            </a:r>
            <a:endParaRPr lang="ar-SA" sz="1040" dirty="0"/>
          </a:p>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التعريف والتقييم</a:t>
            </a:r>
            <a:endParaRPr lang="ar-SA" sz="1040" dirty="0"/>
          </a:p>
        </p:txBody>
      </p:sp>
      <p:sp>
        <p:nvSpPr>
          <p:cNvPr id="10" name="Text 7"/>
          <p:cNvSpPr txBox="1"/>
          <p:nvPr/>
        </p:nvSpPr>
        <p:spPr>
          <a:xfrm>
            <a:off x="4495648" y="3063240"/>
            <a:ext cx="3124048" cy="1069848"/>
          </a:xfrm>
          <a:prstGeom prst="rect">
            <a:avLst/>
          </a:prstGeom>
          <a:noFill/>
          <a:ln/>
        </p:spPr>
        <p:txBody>
          <a:bodyPr wrap="square" lIns="0" tIns="0" rIns="0" bIns="0" rtlCol="0" anchor="t"/>
          <a:lstStyle/>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تعريف المشروع وخصائصه</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العلاقة بين المحافظ والبرامج والمشاريع والعمليات</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أداء الأعمال والتخطيط الاستراتيجي</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دراسة الجدوى وتقييم المشروع</a:t>
            </a:r>
            <a:endParaRPr lang="ar-SA" sz="1090" dirty="0"/>
          </a:p>
        </p:txBody>
      </p:sp>
      <p:sp>
        <p:nvSpPr>
          <p:cNvPr id="11" name="Shape 8"/>
          <p:cNvSpPr/>
          <p:nvPr/>
        </p:nvSpPr>
        <p:spPr>
          <a:xfrm>
            <a:off x="548640" y="2286000"/>
            <a:ext cx="3535528" cy="1938528"/>
          </a:xfrm>
          <a:prstGeom prst="rect">
            <a:avLst/>
          </a:prstGeom>
          <a:solidFill>
            <a:srgbClr val="F2F4F7"/>
          </a:solidFill>
          <a:ln w="12700">
            <a:solidFill>
              <a:srgbClr val="F2F4F7"/>
            </a:solidFill>
            <a:prstDash val="solid"/>
          </a:ln>
        </p:spPr>
      </p:sp>
      <p:sp>
        <p:nvSpPr>
          <p:cNvPr id="12" name="Text 9"/>
          <p:cNvSpPr txBox="1"/>
          <p:nvPr/>
        </p:nvSpPr>
        <p:spPr>
          <a:xfrm>
            <a:off x="3215488" y="2468880"/>
            <a:ext cx="640080" cy="457200"/>
          </a:xfrm>
          <a:prstGeom prst="rect">
            <a:avLst/>
          </a:prstGeom>
          <a:noFill/>
          <a:ln/>
        </p:spPr>
        <p:txBody>
          <a:bodyPr wrap="square" lIns="0" tIns="0" rIns="0" bIns="0" rtlCol="0" anchor="ctr"/>
          <a:lstStyle/>
          <a:p>
            <a:pPr rtl="1" algn="r" indent="0" marL="0">
              <a:buNone/>
            </a:pPr>
            <a:r>
              <a:rPr lang="ar-SA" altLang="en-US" sz="2600" b="1" dirty="0">
                <a:solidFill>
                  <a:srgbClr val="1A93B8"/>
                </a:solidFill>
                <a:latin typeface="Consolas" pitchFamily="34" charset="0"/>
                <a:ea typeface="Consolas" pitchFamily="34" charset="-122"/>
                <a:cs typeface="Consolas" pitchFamily="34" charset="-120"/>
              </a:rPr>
              <a:t>02</a:t>
            </a:r>
            <a:endParaRPr lang="ar-SA" sz="2600" dirty="0"/>
          </a:p>
        </p:txBody>
      </p:sp>
      <p:sp>
        <p:nvSpPr>
          <p:cNvPr id="13" name="Text 10"/>
          <p:cNvSpPr txBox="1"/>
          <p:nvPr/>
        </p:nvSpPr>
        <p:spPr>
          <a:xfrm>
            <a:off x="731520" y="2450592"/>
            <a:ext cx="2438248" cy="502920"/>
          </a:xfrm>
          <a:prstGeom prst="rect">
            <a:avLst/>
          </a:prstGeom>
          <a:noFill/>
          <a:ln/>
        </p:spPr>
        <p:txBody>
          <a:bodyPr wrap="square" lIns="0" tIns="0" rIns="0" bIns="0" rtlCol="0" anchor="ctr"/>
          <a:lstStyle/>
          <a:p>
            <a:pPr rtl="1" algn="r" indent="0" marL="0">
              <a:buNone/>
            </a:pPr>
            <a:r>
              <a:rPr lang="ar-SA" altLang="en-US" sz="1040" b="1" dirty="0">
                <a:solidFill>
                  <a:srgbClr val="667080"/>
                </a:solidFill>
                <a:latin typeface="Segoe UI" pitchFamily="34" charset="0"/>
                <a:ea typeface="Segoe UI" pitchFamily="34" charset="-122"/>
                <a:cs typeface="Segoe UI" pitchFamily="34" charset="-120"/>
              </a:rPr>
              <a:t>المرحلة 2</a:t>
            </a:r>
            <a:endParaRPr lang="ar-SA" sz="1040" dirty="0"/>
          </a:p>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الاختيار والتخطيط</a:t>
            </a:r>
            <a:endParaRPr lang="ar-SA" sz="1040" dirty="0"/>
          </a:p>
        </p:txBody>
      </p:sp>
      <p:sp>
        <p:nvSpPr>
          <p:cNvPr id="14" name="Text 11"/>
          <p:cNvSpPr txBox="1"/>
          <p:nvPr/>
        </p:nvSpPr>
        <p:spPr>
          <a:xfrm>
            <a:off x="731520" y="3063240"/>
            <a:ext cx="3124048" cy="1069848"/>
          </a:xfrm>
          <a:prstGeom prst="rect">
            <a:avLst/>
          </a:prstGeom>
          <a:noFill/>
          <a:ln/>
        </p:spPr>
        <p:txBody>
          <a:bodyPr wrap="square" lIns="0" tIns="0" rIns="0" bIns="0" rtlCol="0" anchor="t"/>
          <a:lstStyle/>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التمييز بين معايير الربحية التجارية والحكومية</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اختيار المشروع وميثاق المشروع</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تخطيط نطاق العمل والجدول العام</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تخطيط التكلفة والجودة والموارد البشرية</a:t>
            </a:r>
            <a:endParaRPr lang="ar-SA" sz="1090" dirty="0"/>
          </a:p>
        </p:txBody>
      </p:sp>
      <p:sp>
        <p:nvSpPr>
          <p:cNvPr id="15" name="Shape 12"/>
          <p:cNvSpPr/>
          <p:nvPr/>
        </p:nvSpPr>
        <p:spPr>
          <a:xfrm>
            <a:off x="4312768" y="4407408"/>
            <a:ext cx="3535528" cy="1938528"/>
          </a:xfrm>
          <a:prstGeom prst="rect">
            <a:avLst/>
          </a:prstGeom>
          <a:solidFill>
            <a:srgbClr val="F2F4F7"/>
          </a:solidFill>
          <a:ln w="12700">
            <a:solidFill>
              <a:srgbClr val="F2F4F7"/>
            </a:solidFill>
            <a:prstDash val="solid"/>
          </a:ln>
        </p:spPr>
      </p:sp>
      <p:sp>
        <p:nvSpPr>
          <p:cNvPr id="16" name="Text 13"/>
          <p:cNvSpPr txBox="1"/>
          <p:nvPr/>
        </p:nvSpPr>
        <p:spPr>
          <a:xfrm>
            <a:off x="6979615" y="4590288"/>
            <a:ext cx="640080" cy="457200"/>
          </a:xfrm>
          <a:prstGeom prst="rect">
            <a:avLst/>
          </a:prstGeom>
          <a:noFill/>
          <a:ln/>
        </p:spPr>
        <p:txBody>
          <a:bodyPr wrap="square" lIns="0" tIns="0" rIns="0" bIns="0" rtlCol="0" anchor="ctr"/>
          <a:lstStyle/>
          <a:p>
            <a:pPr rtl="1" algn="r" indent="0" marL="0">
              <a:buNone/>
            </a:pPr>
            <a:r>
              <a:rPr lang="ar-SA" altLang="en-US" sz="2600" b="1" dirty="0">
                <a:solidFill>
                  <a:srgbClr val="C98F00"/>
                </a:solidFill>
                <a:latin typeface="Consolas" pitchFamily="34" charset="0"/>
                <a:ea typeface="Consolas" pitchFamily="34" charset="-122"/>
                <a:cs typeface="Consolas" pitchFamily="34" charset="-120"/>
              </a:rPr>
              <a:t>03</a:t>
            </a:r>
            <a:endParaRPr lang="ar-SA" sz="2600" dirty="0"/>
          </a:p>
        </p:txBody>
      </p:sp>
      <p:sp>
        <p:nvSpPr>
          <p:cNvPr id="17" name="Text 14"/>
          <p:cNvSpPr txBox="1"/>
          <p:nvPr/>
        </p:nvSpPr>
        <p:spPr>
          <a:xfrm>
            <a:off x="4495648" y="4572000"/>
            <a:ext cx="2438248" cy="502920"/>
          </a:xfrm>
          <a:prstGeom prst="rect">
            <a:avLst/>
          </a:prstGeom>
          <a:noFill/>
          <a:ln/>
        </p:spPr>
        <p:txBody>
          <a:bodyPr wrap="square" lIns="0" tIns="0" rIns="0" bIns="0" rtlCol="0" anchor="ctr"/>
          <a:lstStyle/>
          <a:p>
            <a:pPr rtl="1" algn="r" indent="0" marL="0">
              <a:buNone/>
            </a:pPr>
            <a:r>
              <a:rPr lang="ar-SA" altLang="en-US" sz="1040" b="1" dirty="0">
                <a:solidFill>
                  <a:srgbClr val="667080"/>
                </a:solidFill>
                <a:latin typeface="Segoe UI" pitchFamily="34" charset="0"/>
                <a:ea typeface="Segoe UI" pitchFamily="34" charset="-122"/>
                <a:cs typeface="Segoe UI" pitchFamily="34" charset="-120"/>
              </a:rPr>
              <a:t>المرحلة 3</a:t>
            </a:r>
            <a:endParaRPr lang="ar-SA" sz="1040" dirty="0"/>
          </a:p>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الضبط والمتابعة</a:t>
            </a:r>
            <a:endParaRPr lang="ar-SA" sz="1040" dirty="0"/>
          </a:p>
        </p:txBody>
      </p:sp>
      <p:sp>
        <p:nvSpPr>
          <p:cNvPr id="18" name="Text 15"/>
          <p:cNvSpPr txBox="1"/>
          <p:nvPr/>
        </p:nvSpPr>
        <p:spPr>
          <a:xfrm>
            <a:off x="4495648" y="5184648"/>
            <a:ext cx="3124048" cy="1069848"/>
          </a:xfrm>
          <a:prstGeom prst="rect">
            <a:avLst/>
          </a:prstGeom>
          <a:noFill/>
          <a:ln/>
        </p:spPr>
        <p:txBody>
          <a:bodyPr wrap="square" lIns="0" tIns="0" rIns="0" bIns="0" rtlCol="0" anchor="t"/>
          <a:lstStyle/>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تخطيط الاتصالات وإدارة المخاطر والفرص</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تخطيط الاحتياجات والإمدادات</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طرق التحليل وطلبات التغيير</a:t>
            </a:r>
            <a:endParaRPr lang="ar-SA" sz="1090" dirty="0"/>
          </a:p>
        </p:txBody>
      </p:sp>
      <p:sp>
        <p:nvSpPr>
          <p:cNvPr id="19" name="Shape 16"/>
          <p:cNvSpPr/>
          <p:nvPr/>
        </p:nvSpPr>
        <p:spPr>
          <a:xfrm>
            <a:off x="548640" y="4407408"/>
            <a:ext cx="3535528" cy="1938528"/>
          </a:xfrm>
          <a:prstGeom prst="rect">
            <a:avLst/>
          </a:prstGeom>
          <a:solidFill>
            <a:srgbClr val="F2F4F7"/>
          </a:solidFill>
          <a:ln w="12700">
            <a:solidFill>
              <a:srgbClr val="F2F4F7"/>
            </a:solidFill>
            <a:prstDash val="solid"/>
          </a:ln>
        </p:spPr>
      </p:sp>
      <p:sp>
        <p:nvSpPr>
          <p:cNvPr id="20" name="Text 17"/>
          <p:cNvSpPr txBox="1"/>
          <p:nvPr/>
        </p:nvSpPr>
        <p:spPr>
          <a:xfrm>
            <a:off x="3215488" y="4590288"/>
            <a:ext cx="640080" cy="457200"/>
          </a:xfrm>
          <a:prstGeom prst="rect">
            <a:avLst/>
          </a:prstGeom>
          <a:noFill/>
          <a:ln/>
        </p:spPr>
        <p:txBody>
          <a:bodyPr wrap="square" lIns="0" tIns="0" rIns="0" bIns="0" rtlCol="0" anchor="ctr"/>
          <a:lstStyle/>
          <a:p>
            <a:pPr rtl="1" algn="r" indent="0" marL="0">
              <a:buNone/>
            </a:pPr>
            <a:r>
              <a:rPr lang="ar-SA" altLang="en-US" sz="2600" b="1" dirty="0">
                <a:solidFill>
                  <a:srgbClr val="5B54A4"/>
                </a:solidFill>
                <a:latin typeface="Consolas" pitchFamily="34" charset="0"/>
                <a:ea typeface="Consolas" pitchFamily="34" charset="-122"/>
                <a:cs typeface="Consolas" pitchFamily="34" charset="-120"/>
              </a:rPr>
              <a:t>04</a:t>
            </a:r>
            <a:endParaRPr lang="ar-SA" sz="2600" dirty="0"/>
          </a:p>
        </p:txBody>
      </p:sp>
      <p:sp>
        <p:nvSpPr>
          <p:cNvPr id="21" name="Text 18"/>
          <p:cNvSpPr txBox="1"/>
          <p:nvPr/>
        </p:nvSpPr>
        <p:spPr>
          <a:xfrm>
            <a:off x="731520" y="4572000"/>
            <a:ext cx="2438248" cy="502920"/>
          </a:xfrm>
          <a:prstGeom prst="rect">
            <a:avLst/>
          </a:prstGeom>
          <a:noFill/>
          <a:ln/>
        </p:spPr>
        <p:txBody>
          <a:bodyPr wrap="square" lIns="0" tIns="0" rIns="0" bIns="0" rtlCol="0" anchor="ctr"/>
          <a:lstStyle/>
          <a:p>
            <a:pPr rtl="1" algn="r" indent="0" marL="0">
              <a:buNone/>
            </a:pPr>
            <a:r>
              <a:rPr lang="ar-SA" altLang="en-US" sz="1040" b="1" dirty="0">
                <a:solidFill>
                  <a:srgbClr val="667080"/>
                </a:solidFill>
                <a:latin typeface="Segoe UI" pitchFamily="34" charset="0"/>
                <a:ea typeface="Segoe UI" pitchFamily="34" charset="-122"/>
                <a:cs typeface="Segoe UI" pitchFamily="34" charset="-120"/>
              </a:rPr>
              <a:t>المرحلة 4</a:t>
            </a:r>
            <a:endParaRPr lang="ar-SA" sz="1040" dirty="0"/>
          </a:p>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التنفيذ والإغلاق</a:t>
            </a:r>
            <a:endParaRPr lang="ar-SA" sz="1040" dirty="0"/>
          </a:p>
        </p:txBody>
      </p:sp>
      <p:sp>
        <p:nvSpPr>
          <p:cNvPr id="22" name="Text 19"/>
          <p:cNvSpPr txBox="1"/>
          <p:nvPr/>
        </p:nvSpPr>
        <p:spPr>
          <a:xfrm>
            <a:off x="731520" y="5184648"/>
            <a:ext cx="3124048" cy="1069848"/>
          </a:xfrm>
          <a:prstGeom prst="rect">
            <a:avLst/>
          </a:prstGeom>
          <a:noFill/>
          <a:ln/>
        </p:spPr>
        <p:txBody>
          <a:bodyPr wrap="square" lIns="0" tIns="0" rIns="0" bIns="0" rtlCol="0" anchor="t"/>
          <a:lstStyle/>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مراحل المشروع وإدارتها</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مرحلة التنظيم والتنفيذ</a:t>
            </a:r>
            <a:endParaRPr lang="ar-SA" sz="1090" dirty="0"/>
          </a:p>
          <a:p>
            <a:pPr rtl="1" algn="r" marL="152400" indent="-152400">
              <a:spcAft>
                <a:spcPts val="300"/>
              </a:spcAft>
              <a:buSzPct val="100000"/>
              <a:buChar char="•"/>
            </a:pPr>
            <a:r>
              <a:rPr lang="ar-SA" altLang="en-US" sz="1090" dirty="0">
                <a:solidFill>
                  <a:srgbClr val="3F4856"/>
                </a:solidFill>
                <a:latin typeface="Segoe UI" pitchFamily="34" charset="0"/>
                <a:ea typeface="Segoe UI" pitchFamily="34" charset="-122"/>
                <a:cs typeface="Segoe UI" pitchFamily="34" charset="-120"/>
              </a:rPr>
              <a:t>إغلاق المشروع وتسليمه</a:t>
            </a:r>
            <a:endParaRPr lang="ar-SA" sz="1090" dirty="0"/>
          </a:p>
        </p:txBody>
      </p:sp>
      <p:sp>
        <p:nvSpPr>
          <p:cNvPr id="23" name="Text 20"/>
          <p:cNvSpPr txBox="1"/>
          <p:nvPr/>
        </p:nvSpPr>
        <p:spPr>
          <a:xfrm>
            <a:off x="1097280" y="6446520"/>
            <a:ext cx="6751015"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24" name="Text 21"/>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06</a:t>
            </a:r>
            <a:endParaRPr lang="ar-SA"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11332159" y="649224"/>
            <a:ext cx="310896" cy="146304"/>
          </a:xfrm>
          <a:prstGeom prst="parallelogram">
            <a:avLst/>
          </a:prstGeom>
          <a:solidFill>
            <a:srgbClr val="2DB8E0"/>
          </a:solidFill>
          <a:ln w="12700">
            <a:solidFill>
              <a:srgbClr val="2DB8E0"/>
            </a:solidFill>
            <a:prstDash val="solid"/>
          </a:ln>
        </p:spPr>
      </p:sp>
      <p:sp>
        <p:nvSpPr>
          <p:cNvPr id="3" name="Text 1"/>
          <p:cNvSpPr txBox="1"/>
          <p:nvPr/>
        </p:nvSpPr>
        <p:spPr>
          <a:xfrm>
            <a:off x="8031175" y="594360"/>
            <a:ext cx="3154680" cy="256032"/>
          </a:xfrm>
          <a:prstGeom prst="rect">
            <a:avLst/>
          </a:prstGeom>
          <a:noFill/>
          <a:ln/>
        </p:spPr>
        <p:txBody>
          <a:bodyPr wrap="square" lIns="0" tIns="0" rIns="0" bIns="0" rtlCol="0" anchor="ctr"/>
          <a:lstStyle/>
          <a:p>
            <a:pPr rtl="1" algn="r" indent="0" marL="0">
              <a:buNone/>
            </a:pPr>
            <a:r>
              <a:rPr lang="ar-SA" altLang="en-US" sz="1260" b="1" dirty="0">
                <a:solidFill>
                  <a:srgbClr val="2DB8E0"/>
                </a:solidFill>
                <a:latin typeface="Segoe UI" pitchFamily="34" charset="0"/>
                <a:ea typeface="Segoe UI" pitchFamily="34" charset="-122"/>
                <a:cs typeface="Segoe UI" pitchFamily="34" charset="-120"/>
              </a:rPr>
              <a:t>الخدمة 04.2</a:t>
            </a:r>
            <a:endParaRPr lang="ar-SA" sz="1260" dirty="0"/>
          </a:p>
        </p:txBody>
      </p:sp>
      <p:sp>
        <p:nvSpPr>
          <p:cNvPr id="4" name="Text 2"/>
          <p:cNvSpPr txBox="1"/>
          <p:nvPr/>
        </p:nvSpPr>
        <p:spPr>
          <a:xfrm>
            <a:off x="8031175" y="941832"/>
            <a:ext cx="3611880" cy="1554480"/>
          </a:xfrm>
          <a:prstGeom prst="rect">
            <a:avLst/>
          </a:prstGeom>
          <a:noFill/>
          <a:ln/>
        </p:spPr>
        <p:txBody>
          <a:bodyPr wrap="square" lIns="0" tIns="0" rIns="0" bIns="0" rtlCol="0" anchor="t"/>
          <a:lstStyle/>
          <a:p>
            <a:pPr rtl="1" algn="r" indent="0" marL="0">
              <a:buNone/>
            </a:pPr>
            <a:r>
              <a:rPr lang="ar-SA" altLang="en-US" sz="3400" b="1" dirty="0">
                <a:solidFill>
                  <a:srgbClr val="FFFFFF"/>
                </a:solidFill>
                <a:latin typeface="Segoe UI" pitchFamily="34" charset="0"/>
                <a:ea typeface="Segoe UI" pitchFamily="34" charset="-122"/>
                <a:cs typeface="Segoe UI" pitchFamily="34" charset="-120"/>
              </a:rPr>
              <a:t>المقاولات والأعمال الإنشائية</a:t>
            </a:r>
            <a:endParaRPr lang="ar-SA" sz="3400" dirty="0"/>
          </a:p>
        </p:txBody>
      </p:sp>
      <p:sp>
        <p:nvSpPr>
          <p:cNvPr id="5" name="Text 3"/>
          <p:cNvSpPr txBox="1"/>
          <p:nvPr/>
        </p:nvSpPr>
        <p:spPr>
          <a:xfrm>
            <a:off x="8031175" y="2606040"/>
            <a:ext cx="3611880" cy="1280160"/>
          </a:xfrm>
          <a:prstGeom prst="rect">
            <a:avLst/>
          </a:prstGeom>
          <a:noFill/>
          <a:ln/>
        </p:spPr>
        <p:txBody>
          <a:bodyPr wrap="square" lIns="0" tIns="0" rIns="0" bIns="0" rtlCol="0" anchor="t"/>
          <a:lstStyle/>
          <a:p>
            <a:pPr rtl="1" algn="r" indent="0" marL="0">
              <a:lnSpc>
                <a:spcPct val="115000"/>
              </a:lnSpc>
              <a:buNone/>
            </a:pPr>
            <a:r>
              <a:rPr lang="ar-SA" altLang="en-US" sz="1450" dirty="0">
                <a:solidFill>
                  <a:srgbClr val="C3CBD6"/>
                </a:solidFill>
                <a:latin typeface="Segoe UI" pitchFamily="34" charset="0"/>
                <a:ea typeface="Segoe UI" pitchFamily="34" charset="-122"/>
                <a:cs typeface="Segoe UI" pitchFamily="34" charset="-120"/>
              </a:rPr>
              <a:t>أعمال المقاولات الإنشائية الأساسية بقيادة مهندس مدني بخبرة 35 عامًا، من بينها العمل مع مجموعة بن لادن السعودية.</a:t>
            </a:r>
            <a:endParaRPr lang="ar-SA" sz="1450" dirty="0"/>
          </a:p>
        </p:txBody>
      </p:sp>
      <p:sp>
        <p:nvSpPr>
          <p:cNvPr id="6" name="Text 4"/>
          <p:cNvSpPr txBox="1"/>
          <p:nvPr/>
        </p:nvSpPr>
        <p:spPr>
          <a:xfrm>
            <a:off x="8031175" y="4206240"/>
            <a:ext cx="3611880" cy="1005840"/>
          </a:xfrm>
          <a:prstGeom prst="rect">
            <a:avLst/>
          </a:prstGeom>
          <a:noFill/>
          <a:ln/>
        </p:spPr>
        <p:txBody>
          <a:bodyPr wrap="square" lIns="0" tIns="0" rIns="0" bIns="0" rtlCol="0" anchor="ctr"/>
          <a:lstStyle/>
          <a:p>
            <a:pPr rtl="1" algn="r" indent="0" marL="0">
              <a:buNone/>
            </a:pPr>
            <a:r>
              <a:rPr lang="ar-SA" altLang="en-US" sz="7200" b="1" dirty="0">
                <a:solidFill>
                  <a:srgbClr val="FBBA16"/>
                </a:solidFill>
                <a:latin typeface="Consolas" pitchFamily="34" charset="0"/>
                <a:ea typeface="Consolas" pitchFamily="34" charset="-122"/>
                <a:cs typeface="Consolas" pitchFamily="34" charset="-120"/>
              </a:rPr>
              <a:t>35</a:t>
            </a:r>
            <a:endParaRPr lang="ar-SA" sz="7200" dirty="0"/>
          </a:p>
        </p:txBody>
      </p:sp>
      <p:sp>
        <p:nvSpPr>
          <p:cNvPr id="7" name="Text 5"/>
          <p:cNvSpPr txBox="1"/>
          <p:nvPr/>
        </p:nvSpPr>
        <p:spPr>
          <a:xfrm>
            <a:off x="8031175" y="5257800"/>
            <a:ext cx="3611880" cy="548640"/>
          </a:xfrm>
          <a:prstGeom prst="rect">
            <a:avLst/>
          </a:prstGeom>
          <a:noFill/>
          <a:ln/>
        </p:spPr>
        <p:txBody>
          <a:bodyPr wrap="square" lIns="0" tIns="0" rIns="0" bIns="0" rtlCol="0" anchor="t"/>
          <a:lstStyle/>
          <a:p>
            <a:pPr rtl="1" algn="r" indent="0" marL="0">
              <a:buNone/>
            </a:pPr>
            <a:r>
              <a:rPr lang="ar-SA" altLang="en-US" sz="1300" dirty="0">
                <a:solidFill>
                  <a:srgbClr val="FFFFFF"/>
                </a:solidFill>
                <a:latin typeface="Segoe UI" pitchFamily="34" charset="0"/>
                <a:ea typeface="Segoe UI" pitchFamily="34" charset="-122"/>
                <a:cs typeface="Segoe UI" pitchFamily="34" charset="-120"/>
              </a:rPr>
              <a:t>عامًا من الخبرة في الهندسة المدنية</a:t>
            </a:r>
            <a:endParaRPr lang="ar-SA" sz="1300" dirty="0"/>
          </a:p>
        </p:txBody>
      </p:sp>
      <p:pic>
        <p:nvPicPr>
          <p:cNvPr id="8" name="Image 0" descr="/home/user/NVIConsult/build/assets_bold/s_str_a.jpg">    </p:cNvPr>
          <p:cNvPicPr>
            <a:picLocks noChangeAspect="1"/>
          </p:cNvPicPr>
          <p:nvPr/>
        </p:nvPicPr>
        <p:blipFill>
          <a:blip r:embed="rId1"/>
          <a:stretch>
            <a:fillRect/>
          </a:stretch>
        </p:blipFill>
        <p:spPr>
          <a:xfrm>
            <a:off x="4190695" y="548640"/>
            <a:ext cx="3429000" cy="5760720"/>
          </a:xfrm>
          <a:prstGeom prst="rect">
            <a:avLst/>
          </a:prstGeom>
        </p:spPr>
      </p:pic>
      <p:sp>
        <p:nvSpPr>
          <p:cNvPr id="9" name="Shape 6"/>
          <p:cNvSpPr/>
          <p:nvPr/>
        </p:nvSpPr>
        <p:spPr>
          <a:xfrm>
            <a:off x="4190695" y="5349240"/>
            <a:ext cx="3429000" cy="960120"/>
          </a:xfrm>
          <a:prstGeom prst="rect">
            <a:avLst/>
          </a:prstGeom>
          <a:solidFill>
            <a:srgbClr val="0E1420">
              <a:alpha val="88000"/>
            </a:srgbClr>
          </a:solidFill>
          <a:ln w="12700">
            <a:solidFill>
              <a:srgbClr val="0E1420"/>
            </a:solidFill>
            <a:prstDash val="solid"/>
          </a:ln>
        </p:spPr>
      </p:sp>
      <p:sp>
        <p:nvSpPr>
          <p:cNvPr id="10" name="Shape 7"/>
          <p:cNvSpPr/>
          <p:nvPr/>
        </p:nvSpPr>
        <p:spPr>
          <a:xfrm>
            <a:off x="6961327" y="5577840"/>
            <a:ext cx="384048" cy="128016"/>
          </a:xfrm>
          <a:prstGeom prst="parallelogram">
            <a:avLst/>
          </a:prstGeom>
          <a:solidFill>
            <a:srgbClr val="FBBA16"/>
          </a:solidFill>
          <a:ln w="12700">
            <a:solidFill>
              <a:srgbClr val="FBBA16"/>
            </a:solidFill>
            <a:prstDash val="solid"/>
          </a:ln>
        </p:spPr>
      </p:sp>
      <p:sp>
        <p:nvSpPr>
          <p:cNvPr id="11" name="Text 8"/>
          <p:cNvSpPr txBox="1"/>
          <p:nvPr/>
        </p:nvSpPr>
        <p:spPr>
          <a:xfrm>
            <a:off x="4465015" y="5760720"/>
            <a:ext cx="2880360" cy="411480"/>
          </a:xfrm>
          <a:prstGeom prst="rect">
            <a:avLst/>
          </a:prstGeom>
          <a:noFill/>
          <a:ln/>
        </p:spPr>
        <p:txBody>
          <a:bodyPr wrap="square" lIns="0" tIns="0" rIns="0" bIns="0" rtlCol="0" anchor="ctr"/>
          <a:lstStyle/>
          <a:p>
            <a:pPr rtl="1" algn="r" indent="0" marL="0">
              <a:buNone/>
            </a:pPr>
            <a:r>
              <a:rPr lang="ar-SA" altLang="en-US" sz="2000" b="1" dirty="0">
                <a:solidFill>
                  <a:srgbClr val="FFFFFF"/>
                </a:solidFill>
                <a:latin typeface="Segoe UI" pitchFamily="34" charset="0"/>
                <a:ea typeface="Segoe UI" pitchFamily="34" charset="-122"/>
                <a:cs typeface="Segoe UI" pitchFamily="34" charset="-120"/>
              </a:rPr>
              <a:t>أعمال الخرسانة</a:t>
            </a:r>
            <a:endParaRPr lang="ar-SA" sz="2000" dirty="0"/>
          </a:p>
        </p:txBody>
      </p:sp>
      <p:pic>
        <p:nvPicPr>
          <p:cNvPr id="12" name="Image 1" descr="/home/user/NVIConsult/build/assets_bold/s_str_b.jpg">    </p:cNvPr>
          <p:cNvPicPr>
            <a:picLocks noChangeAspect="1"/>
          </p:cNvPicPr>
          <p:nvPr/>
        </p:nvPicPr>
        <p:blipFill>
          <a:blip r:embed="rId2"/>
          <a:stretch>
            <a:fillRect/>
          </a:stretch>
        </p:blipFill>
        <p:spPr>
          <a:xfrm>
            <a:off x="551383" y="548640"/>
            <a:ext cx="3429000" cy="5760720"/>
          </a:xfrm>
          <a:prstGeom prst="rect">
            <a:avLst/>
          </a:prstGeom>
        </p:spPr>
      </p:pic>
      <p:sp>
        <p:nvSpPr>
          <p:cNvPr id="13" name="Shape 9"/>
          <p:cNvSpPr/>
          <p:nvPr/>
        </p:nvSpPr>
        <p:spPr>
          <a:xfrm>
            <a:off x="551383" y="5349240"/>
            <a:ext cx="3429000" cy="960120"/>
          </a:xfrm>
          <a:prstGeom prst="rect">
            <a:avLst/>
          </a:prstGeom>
          <a:solidFill>
            <a:srgbClr val="0E1420">
              <a:alpha val="88000"/>
            </a:srgbClr>
          </a:solidFill>
          <a:ln w="12700">
            <a:solidFill>
              <a:srgbClr val="0E1420"/>
            </a:solidFill>
            <a:prstDash val="solid"/>
          </a:ln>
        </p:spPr>
      </p:sp>
      <p:sp>
        <p:nvSpPr>
          <p:cNvPr id="14" name="Shape 10"/>
          <p:cNvSpPr/>
          <p:nvPr/>
        </p:nvSpPr>
        <p:spPr>
          <a:xfrm>
            <a:off x="3322015" y="5577840"/>
            <a:ext cx="384048" cy="128016"/>
          </a:xfrm>
          <a:prstGeom prst="parallelogram">
            <a:avLst/>
          </a:prstGeom>
          <a:solidFill>
            <a:srgbClr val="2DB8E0"/>
          </a:solidFill>
          <a:ln w="12700">
            <a:solidFill>
              <a:srgbClr val="2DB8E0"/>
            </a:solidFill>
            <a:prstDash val="solid"/>
          </a:ln>
        </p:spPr>
      </p:sp>
      <p:sp>
        <p:nvSpPr>
          <p:cNvPr id="15" name="Text 11"/>
          <p:cNvSpPr txBox="1"/>
          <p:nvPr/>
        </p:nvSpPr>
        <p:spPr>
          <a:xfrm>
            <a:off x="825703" y="5760720"/>
            <a:ext cx="2880360" cy="411480"/>
          </a:xfrm>
          <a:prstGeom prst="rect">
            <a:avLst/>
          </a:prstGeom>
          <a:noFill/>
          <a:ln/>
        </p:spPr>
        <p:txBody>
          <a:bodyPr wrap="square" lIns="0" tIns="0" rIns="0" bIns="0" rtlCol="0" anchor="ctr"/>
          <a:lstStyle/>
          <a:p>
            <a:pPr rtl="1" algn="r" indent="0" marL="0">
              <a:buNone/>
            </a:pPr>
            <a:r>
              <a:rPr lang="ar-SA" altLang="en-US" sz="2000" b="1" dirty="0">
                <a:solidFill>
                  <a:srgbClr val="FFFFFF"/>
                </a:solidFill>
                <a:latin typeface="Segoe UI" pitchFamily="34" charset="0"/>
                <a:ea typeface="Segoe UI" pitchFamily="34" charset="-122"/>
                <a:cs typeface="Segoe UI" pitchFamily="34" charset="-120"/>
              </a:rPr>
              <a:t>أعمال الحديد والصلب</a:t>
            </a:r>
            <a:endParaRPr lang="ar-SA" sz="2000" dirty="0"/>
          </a:p>
        </p:txBody>
      </p:sp>
      <p:sp>
        <p:nvSpPr>
          <p:cNvPr id="16" name="Text 12"/>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980" dirty="0">
                <a:solidFill>
                  <a:srgbClr val="8D97A5"/>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17" name="Text 13"/>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8D97A5"/>
                </a:solidFill>
                <a:latin typeface="Consolas" pitchFamily="34" charset="0"/>
                <a:ea typeface="Consolas" pitchFamily="34" charset="-122"/>
                <a:cs typeface="Consolas" pitchFamily="34" charset="-120"/>
              </a:rPr>
              <a:t>07</a:t>
            </a:r>
            <a:endParaRPr lang="ar-SA"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32159" y="603504"/>
            <a:ext cx="310896" cy="146304"/>
          </a:xfrm>
          <a:prstGeom prst="parallelogram">
            <a:avLst/>
          </a:prstGeom>
          <a:solidFill>
            <a:srgbClr val="FBBA16"/>
          </a:solidFill>
          <a:ln w="12700">
            <a:solidFill>
              <a:srgbClr val="FBBA16"/>
            </a:solidFill>
            <a:prstDash val="solid"/>
          </a:ln>
        </p:spPr>
      </p:sp>
      <p:sp>
        <p:nvSpPr>
          <p:cNvPr id="3" name="Text 1"/>
          <p:cNvSpPr txBox="1"/>
          <p:nvPr/>
        </p:nvSpPr>
        <p:spPr>
          <a:xfrm>
            <a:off x="6065215" y="548640"/>
            <a:ext cx="5120640" cy="256032"/>
          </a:xfrm>
          <a:prstGeom prst="rect">
            <a:avLst/>
          </a:prstGeom>
          <a:noFill/>
          <a:ln/>
        </p:spPr>
        <p:txBody>
          <a:bodyPr wrap="square" lIns="0" tIns="0" rIns="0" bIns="0" rtlCol="0" anchor="ctr"/>
          <a:lstStyle/>
          <a:p>
            <a:pPr rtl="1" algn="r" indent="0" marL="0">
              <a:buNone/>
            </a:pPr>
            <a:r>
              <a:rPr lang="ar-SA" altLang="en-US" sz="1260" b="1" dirty="0">
                <a:solidFill>
                  <a:srgbClr val="C98F00"/>
                </a:solidFill>
                <a:latin typeface="Segoe UI" pitchFamily="34" charset="0"/>
                <a:ea typeface="Segoe UI" pitchFamily="34" charset="-122"/>
                <a:cs typeface="Segoe UI" pitchFamily="34" charset="-120"/>
              </a:rPr>
              <a:t>الخدمة 04.3</a:t>
            </a:r>
            <a:endParaRPr lang="ar-SA" sz="1260" dirty="0"/>
          </a:p>
        </p:txBody>
      </p:sp>
      <p:sp>
        <p:nvSpPr>
          <p:cNvPr id="4" name="Text 2"/>
          <p:cNvSpPr txBox="1"/>
          <p:nvPr/>
        </p:nvSpPr>
        <p:spPr>
          <a:xfrm>
            <a:off x="6065215" y="896112"/>
            <a:ext cx="5577840" cy="685800"/>
          </a:xfrm>
          <a:prstGeom prst="rect">
            <a:avLst/>
          </a:prstGeom>
          <a:noFill/>
          <a:ln/>
        </p:spPr>
        <p:txBody>
          <a:bodyPr wrap="square" lIns="0" tIns="0" rIns="0" bIns="0" rtlCol="0" anchor="t"/>
          <a:lstStyle/>
          <a:p>
            <a:pPr rtl="1" algn="r" indent="0" marL="0">
              <a:buNone/>
            </a:pPr>
            <a:r>
              <a:rPr lang="ar-SA" altLang="en-US" sz="2600" b="1" dirty="0">
                <a:solidFill>
                  <a:srgbClr val="0E1420"/>
                </a:solidFill>
                <a:latin typeface="Segoe UI" pitchFamily="34" charset="0"/>
                <a:ea typeface="Segoe UI" pitchFamily="34" charset="-122"/>
                <a:cs typeface="Segoe UI" pitchFamily="34" charset="-120"/>
              </a:rPr>
              <a:t>أعمال التجهيز والتشطيبات</a:t>
            </a:r>
            <a:endParaRPr lang="ar-SA" sz="2600" dirty="0"/>
          </a:p>
        </p:txBody>
      </p:sp>
      <p:sp>
        <p:nvSpPr>
          <p:cNvPr id="5" name="Text 3"/>
          <p:cNvSpPr txBox="1"/>
          <p:nvPr/>
        </p:nvSpPr>
        <p:spPr>
          <a:xfrm>
            <a:off x="6065215" y="1627632"/>
            <a:ext cx="5577840"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Segoe UI" pitchFamily="34" charset="0"/>
                <a:ea typeface="Segoe UI" pitchFamily="34" charset="-122"/>
                <a:cs typeface="Segoe UI" pitchFamily="34" charset="-120"/>
              </a:rPr>
              <a:t>التصميم الداخلي وجميع أعمال التشطيب تحت سقف واحد.</a:t>
            </a:r>
            <a:endParaRPr lang="ar-SA" sz="1500" dirty="0"/>
          </a:p>
        </p:txBody>
      </p:sp>
      <p:sp>
        <p:nvSpPr>
          <p:cNvPr id="6" name="Shape 4"/>
          <p:cNvSpPr/>
          <p:nvPr/>
        </p:nvSpPr>
        <p:spPr>
          <a:xfrm>
            <a:off x="11387023" y="2514600"/>
            <a:ext cx="256032" cy="109728"/>
          </a:xfrm>
          <a:prstGeom prst="parallelogram">
            <a:avLst/>
          </a:prstGeom>
          <a:solidFill>
            <a:srgbClr val="E5177B"/>
          </a:solidFill>
          <a:ln w="12700">
            <a:solidFill>
              <a:srgbClr val="E5177B"/>
            </a:solidFill>
            <a:prstDash val="solid"/>
          </a:ln>
        </p:spPr>
      </p:sp>
      <p:sp>
        <p:nvSpPr>
          <p:cNvPr id="7" name="Text 5"/>
          <p:cNvSpPr txBox="1"/>
          <p:nvPr/>
        </p:nvSpPr>
        <p:spPr>
          <a:xfrm>
            <a:off x="8991295" y="24231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التصميم الداخلي والتجهيز</a:t>
            </a:r>
            <a:endParaRPr lang="ar-SA" sz="1500" dirty="0"/>
          </a:p>
        </p:txBody>
      </p:sp>
      <p:sp>
        <p:nvSpPr>
          <p:cNvPr id="8" name="Shape 6"/>
          <p:cNvSpPr/>
          <p:nvPr/>
        </p:nvSpPr>
        <p:spPr>
          <a:xfrm>
            <a:off x="8991295" y="3172968"/>
            <a:ext cx="2651760" cy="0"/>
          </a:xfrm>
          <a:prstGeom prst="line">
            <a:avLst/>
          </a:prstGeom>
          <a:noFill/>
          <a:ln w="9525">
            <a:solidFill>
              <a:srgbClr val="DDE1E6"/>
            </a:solidFill>
            <a:prstDash val="solid"/>
          </a:ln>
        </p:spPr>
      </p:sp>
      <p:sp>
        <p:nvSpPr>
          <p:cNvPr id="9" name="Shape 7"/>
          <p:cNvSpPr/>
          <p:nvPr/>
        </p:nvSpPr>
        <p:spPr>
          <a:xfrm>
            <a:off x="11387023" y="3429000"/>
            <a:ext cx="256032" cy="109728"/>
          </a:xfrm>
          <a:prstGeom prst="parallelogram">
            <a:avLst/>
          </a:prstGeom>
          <a:solidFill>
            <a:srgbClr val="2DB8E0"/>
          </a:solidFill>
          <a:ln w="12700">
            <a:solidFill>
              <a:srgbClr val="2DB8E0"/>
            </a:solidFill>
            <a:prstDash val="solid"/>
          </a:ln>
        </p:spPr>
      </p:sp>
      <p:sp>
        <p:nvSpPr>
          <p:cNvPr id="10" name="Text 8"/>
          <p:cNvSpPr txBox="1"/>
          <p:nvPr/>
        </p:nvSpPr>
        <p:spPr>
          <a:xfrm>
            <a:off x="8991295" y="33375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أعمال تنسيق الحدائق</a:t>
            </a:r>
            <a:endParaRPr lang="ar-SA" sz="1500" dirty="0"/>
          </a:p>
        </p:txBody>
      </p:sp>
      <p:sp>
        <p:nvSpPr>
          <p:cNvPr id="11" name="Shape 9"/>
          <p:cNvSpPr/>
          <p:nvPr/>
        </p:nvSpPr>
        <p:spPr>
          <a:xfrm>
            <a:off x="8991295" y="4087368"/>
            <a:ext cx="2651760" cy="0"/>
          </a:xfrm>
          <a:prstGeom prst="line">
            <a:avLst/>
          </a:prstGeom>
          <a:noFill/>
          <a:ln w="9525">
            <a:solidFill>
              <a:srgbClr val="DDE1E6"/>
            </a:solidFill>
            <a:prstDash val="solid"/>
          </a:ln>
        </p:spPr>
      </p:sp>
      <p:sp>
        <p:nvSpPr>
          <p:cNvPr id="12" name="Shape 10"/>
          <p:cNvSpPr/>
          <p:nvPr/>
        </p:nvSpPr>
        <p:spPr>
          <a:xfrm>
            <a:off x="11387023" y="4343400"/>
            <a:ext cx="256032" cy="109728"/>
          </a:xfrm>
          <a:prstGeom prst="parallelogram">
            <a:avLst/>
          </a:prstGeom>
          <a:solidFill>
            <a:srgbClr val="FBBA16"/>
          </a:solidFill>
          <a:ln w="12700">
            <a:solidFill>
              <a:srgbClr val="FBBA16"/>
            </a:solidFill>
            <a:prstDash val="solid"/>
          </a:ln>
        </p:spPr>
      </p:sp>
      <p:sp>
        <p:nvSpPr>
          <p:cNvPr id="13" name="Text 11"/>
          <p:cNvSpPr txBox="1"/>
          <p:nvPr/>
        </p:nvSpPr>
        <p:spPr>
          <a:xfrm>
            <a:off x="8991295" y="42519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أعمال البلاط</a:t>
            </a:r>
            <a:endParaRPr lang="ar-SA" sz="1500" dirty="0"/>
          </a:p>
        </p:txBody>
      </p:sp>
      <p:sp>
        <p:nvSpPr>
          <p:cNvPr id="14" name="Shape 12"/>
          <p:cNvSpPr/>
          <p:nvPr/>
        </p:nvSpPr>
        <p:spPr>
          <a:xfrm>
            <a:off x="8991295" y="5001768"/>
            <a:ext cx="2651760" cy="0"/>
          </a:xfrm>
          <a:prstGeom prst="line">
            <a:avLst/>
          </a:prstGeom>
          <a:noFill/>
          <a:ln w="9525">
            <a:solidFill>
              <a:srgbClr val="DDE1E6"/>
            </a:solidFill>
            <a:prstDash val="solid"/>
          </a:ln>
        </p:spPr>
      </p:sp>
      <p:sp>
        <p:nvSpPr>
          <p:cNvPr id="15" name="Shape 13"/>
          <p:cNvSpPr/>
          <p:nvPr/>
        </p:nvSpPr>
        <p:spPr>
          <a:xfrm>
            <a:off x="11387023" y="5257800"/>
            <a:ext cx="256032" cy="109728"/>
          </a:xfrm>
          <a:prstGeom prst="parallelogram">
            <a:avLst/>
          </a:prstGeom>
          <a:solidFill>
            <a:srgbClr val="5B54A4"/>
          </a:solidFill>
          <a:ln w="12700">
            <a:solidFill>
              <a:srgbClr val="5B54A4"/>
            </a:solidFill>
            <a:prstDash val="solid"/>
          </a:ln>
        </p:spPr>
      </p:sp>
      <p:sp>
        <p:nvSpPr>
          <p:cNvPr id="16" name="Text 14"/>
          <p:cNvSpPr txBox="1"/>
          <p:nvPr/>
        </p:nvSpPr>
        <p:spPr>
          <a:xfrm>
            <a:off x="8991295" y="51663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أعمال النجارة</a:t>
            </a:r>
            <a:endParaRPr lang="ar-SA" sz="1500" dirty="0"/>
          </a:p>
        </p:txBody>
      </p:sp>
      <p:sp>
        <p:nvSpPr>
          <p:cNvPr id="17" name="Shape 15"/>
          <p:cNvSpPr/>
          <p:nvPr/>
        </p:nvSpPr>
        <p:spPr>
          <a:xfrm>
            <a:off x="8991295" y="5916168"/>
            <a:ext cx="2651760" cy="0"/>
          </a:xfrm>
          <a:prstGeom prst="line">
            <a:avLst/>
          </a:prstGeom>
          <a:noFill/>
          <a:ln w="9525">
            <a:solidFill>
              <a:srgbClr val="DDE1E6"/>
            </a:solidFill>
            <a:prstDash val="solid"/>
          </a:ln>
        </p:spPr>
      </p:sp>
      <p:sp>
        <p:nvSpPr>
          <p:cNvPr id="18" name="Shape 16"/>
          <p:cNvSpPr/>
          <p:nvPr/>
        </p:nvSpPr>
        <p:spPr>
          <a:xfrm>
            <a:off x="8460943" y="2514600"/>
            <a:ext cx="256032" cy="109728"/>
          </a:xfrm>
          <a:prstGeom prst="parallelogram">
            <a:avLst/>
          </a:prstGeom>
          <a:solidFill>
            <a:srgbClr val="E5177B"/>
          </a:solidFill>
          <a:ln w="12700">
            <a:solidFill>
              <a:srgbClr val="E5177B"/>
            </a:solidFill>
            <a:prstDash val="solid"/>
          </a:ln>
        </p:spPr>
      </p:sp>
      <p:sp>
        <p:nvSpPr>
          <p:cNvPr id="19" name="Text 17"/>
          <p:cNvSpPr txBox="1"/>
          <p:nvPr/>
        </p:nvSpPr>
        <p:spPr>
          <a:xfrm>
            <a:off x="6065215" y="24231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أعمال الزجاج</a:t>
            </a:r>
            <a:endParaRPr lang="ar-SA" sz="1500" dirty="0"/>
          </a:p>
        </p:txBody>
      </p:sp>
      <p:sp>
        <p:nvSpPr>
          <p:cNvPr id="20" name="Shape 18"/>
          <p:cNvSpPr/>
          <p:nvPr/>
        </p:nvSpPr>
        <p:spPr>
          <a:xfrm>
            <a:off x="6065215" y="3172968"/>
            <a:ext cx="2651760" cy="0"/>
          </a:xfrm>
          <a:prstGeom prst="line">
            <a:avLst/>
          </a:prstGeom>
          <a:noFill/>
          <a:ln w="9525">
            <a:solidFill>
              <a:srgbClr val="DDE1E6"/>
            </a:solidFill>
            <a:prstDash val="solid"/>
          </a:ln>
        </p:spPr>
      </p:sp>
      <p:sp>
        <p:nvSpPr>
          <p:cNvPr id="21" name="Shape 19"/>
          <p:cNvSpPr/>
          <p:nvPr/>
        </p:nvSpPr>
        <p:spPr>
          <a:xfrm>
            <a:off x="8460943" y="3429000"/>
            <a:ext cx="256032" cy="109728"/>
          </a:xfrm>
          <a:prstGeom prst="parallelogram">
            <a:avLst/>
          </a:prstGeom>
          <a:solidFill>
            <a:srgbClr val="2DB8E0"/>
          </a:solidFill>
          <a:ln w="12700">
            <a:solidFill>
              <a:srgbClr val="2DB8E0"/>
            </a:solidFill>
            <a:prstDash val="solid"/>
          </a:ln>
        </p:spPr>
      </p:sp>
      <p:sp>
        <p:nvSpPr>
          <p:cNvPr id="22" name="Text 20"/>
          <p:cNvSpPr txBox="1"/>
          <p:nvPr/>
        </p:nvSpPr>
        <p:spPr>
          <a:xfrm>
            <a:off x="6065215" y="33375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أعمال الدهانات</a:t>
            </a:r>
            <a:endParaRPr lang="ar-SA" sz="1500" dirty="0"/>
          </a:p>
        </p:txBody>
      </p:sp>
      <p:sp>
        <p:nvSpPr>
          <p:cNvPr id="23" name="Shape 21"/>
          <p:cNvSpPr/>
          <p:nvPr/>
        </p:nvSpPr>
        <p:spPr>
          <a:xfrm>
            <a:off x="6065215" y="4087368"/>
            <a:ext cx="2651760" cy="0"/>
          </a:xfrm>
          <a:prstGeom prst="line">
            <a:avLst/>
          </a:prstGeom>
          <a:noFill/>
          <a:ln w="9525">
            <a:solidFill>
              <a:srgbClr val="DDE1E6"/>
            </a:solidFill>
            <a:prstDash val="solid"/>
          </a:ln>
        </p:spPr>
      </p:sp>
      <p:sp>
        <p:nvSpPr>
          <p:cNvPr id="24" name="Shape 22"/>
          <p:cNvSpPr/>
          <p:nvPr/>
        </p:nvSpPr>
        <p:spPr>
          <a:xfrm>
            <a:off x="8460943" y="4343400"/>
            <a:ext cx="256032" cy="109728"/>
          </a:xfrm>
          <a:prstGeom prst="parallelogram">
            <a:avLst/>
          </a:prstGeom>
          <a:solidFill>
            <a:srgbClr val="FBBA16"/>
          </a:solidFill>
          <a:ln w="12700">
            <a:solidFill>
              <a:srgbClr val="FBBA16"/>
            </a:solidFill>
            <a:prstDash val="solid"/>
          </a:ln>
        </p:spPr>
      </p:sp>
      <p:sp>
        <p:nvSpPr>
          <p:cNvPr id="25" name="Text 23"/>
          <p:cNvSpPr txBox="1"/>
          <p:nvPr/>
        </p:nvSpPr>
        <p:spPr>
          <a:xfrm>
            <a:off x="6065215" y="42519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أعمال الجبس</a:t>
            </a:r>
            <a:endParaRPr lang="ar-SA" sz="1500" dirty="0"/>
          </a:p>
        </p:txBody>
      </p:sp>
      <p:sp>
        <p:nvSpPr>
          <p:cNvPr id="26" name="Shape 24"/>
          <p:cNvSpPr/>
          <p:nvPr/>
        </p:nvSpPr>
        <p:spPr>
          <a:xfrm>
            <a:off x="6065215" y="5001768"/>
            <a:ext cx="2651760" cy="0"/>
          </a:xfrm>
          <a:prstGeom prst="line">
            <a:avLst/>
          </a:prstGeom>
          <a:noFill/>
          <a:ln w="9525">
            <a:solidFill>
              <a:srgbClr val="DDE1E6"/>
            </a:solidFill>
            <a:prstDash val="solid"/>
          </a:ln>
        </p:spPr>
      </p:sp>
      <p:sp>
        <p:nvSpPr>
          <p:cNvPr id="27" name="Shape 25"/>
          <p:cNvSpPr/>
          <p:nvPr/>
        </p:nvSpPr>
        <p:spPr>
          <a:xfrm>
            <a:off x="8460943" y="5257800"/>
            <a:ext cx="256032" cy="109728"/>
          </a:xfrm>
          <a:prstGeom prst="parallelogram">
            <a:avLst/>
          </a:prstGeom>
          <a:solidFill>
            <a:srgbClr val="5B54A4"/>
          </a:solidFill>
          <a:ln w="12700">
            <a:solidFill>
              <a:srgbClr val="5B54A4"/>
            </a:solidFill>
            <a:prstDash val="solid"/>
          </a:ln>
        </p:spPr>
      </p:sp>
      <p:sp>
        <p:nvSpPr>
          <p:cNvPr id="28" name="Text 26"/>
          <p:cNvSpPr txBox="1"/>
          <p:nvPr/>
        </p:nvSpPr>
        <p:spPr>
          <a:xfrm>
            <a:off x="6065215" y="51663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أعمال الألمنيوم والهياكل المعدنية</a:t>
            </a:r>
            <a:endParaRPr lang="ar-SA" sz="1500" dirty="0"/>
          </a:p>
        </p:txBody>
      </p:sp>
      <p:sp>
        <p:nvSpPr>
          <p:cNvPr id="29" name="Shape 27"/>
          <p:cNvSpPr/>
          <p:nvPr/>
        </p:nvSpPr>
        <p:spPr>
          <a:xfrm>
            <a:off x="6065215" y="5916168"/>
            <a:ext cx="2651760" cy="0"/>
          </a:xfrm>
          <a:prstGeom prst="line">
            <a:avLst/>
          </a:prstGeom>
          <a:noFill/>
          <a:ln w="9525">
            <a:solidFill>
              <a:srgbClr val="DDE1E6"/>
            </a:solidFill>
            <a:prstDash val="solid"/>
          </a:ln>
        </p:spPr>
      </p:sp>
      <p:pic>
        <p:nvPicPr>
          <p:cNvPr id="30" name="Image 0" descr="/home/user/NVIConsult/build/assets_bold/s_fit_a.jpg">    </p:cNvPr>
          <p:cNvPicPr>
            <a:picLocks noChangeAspect="1"/>
          </p:cNvPicPr>
          <p:nvPr/>
        </p:nvPicPr>
        <p:blipFill>
          <a:blip r:embed="rId1"/>
          <a:stretch>
            <a:fillRect/>
          </a:stretch>
        </p:blipFill>
        <p:spPr>
          <a:xfrm>
            <a:off x="551383" y="548640"/>
            <a:ext cx="5056632" cy="2926080"/>
          </a:xfrm>
          <a:prstGeom prst="rect">
            <a:avLst/>
          </a:prstGeom>
        </p:spPr>
      </p:pic>
      <p:pic>
        <p:nvPicPr>
          <p:cNvPr id="31" name="Image 1" descr="/home/user/NVIConsult/build/assets_bold/s_fit_b.jpg">    </p:cNvPr>
          <p:cNvPicPr>
            <a:picLocks noChangeAspect="1"/>
          </p:cNvPicPr>
          <p:nvPr/>
        </p:nvPicPr>
        <p:blipFill>
          <a:blip r:embed="rId2"/>
          <a:stretch>
            <a:fillRect/>
          </a:stretch>
        </p:blipFill>
        <p:spPr>
          <a:xfrm>
            <a:off x="3171139" y="3657600"/>
            <a:ext cx="2436876" cy="2651760"/>
          </a:xfrm>
          <a:prstGeom prst="rect">
            <a:avLst/>
          </a:prstGeom>
        </p:spPr>
      </p:pic>
      <p:pic>
        <p:nvPicPr>
          <p:cNvPr id="32" name="Image 2" descr="/home/user/NVIConsult/build/assets_bold/s_fit_c.jpg">    </p:cNvPr>
          <p:cNvPicPr>
            <a:picLocks noChangeAspect="1"/>
          </p:cNvPicPr>
          <p:nvPr/>
        </p:nvPicPr>
        <p:blipFill>
          <a:blip r:embed="rId3"/>
          <a:stretch>
            <a:fillRect/>
          </a:stretch>
        </p:blipFill>
        <p:spPr>
          <a:xfrm>
            <a:off x="551383" y="3657600"/>
            <a:ext cx="2436876" cy="2651760"/>
          </a:xfrm>
          <a:prstGeom prst="rect">
            <a:avLst/>
          </a:prstGeom>
        </p:spPr>
      </p:pic>
      <p:sp>
        <p:nvSpPr>
          <p:cNvPr id="33" name="Text 28"/>
          <p:cNvSpPr txBox="1"/>
          <p:nvPr/>
        </p:nvSpPr>
        <p:spPr>
          <a:xfrm>
            <a:off x="6613855" y="6446520"/>
            <a:ext cx="5029200"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34" name="Text 29"/>
          <p:cNvSpPr txBox="1"/>
          <p:nvPr/>
        </p:nvSpPr>
        <p:spPr>
          <a:xfrm>
            <a:off x="6065215"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08</a:t>
            </a:r>
            <a:endParaRPr lang="ar-SA"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s_ele.jpg">    </p:cNvPr>
          <p:cNvPicPr>
            <a:picLocks noChangeAspect="1"/>
          </p:cNvPicPr>
          <p:nvPr/>
        </p:nvPicPr>
        <p:blipFill>
          <a:blip r:embed="rId1"/>
          <a:stretch>
            <a:fillRect/>
          </a:stretch>
        </p:blipFill>
        <p:spPr>
          <a:xfrm>
            <a:off x="0" y="0"/>
            <a:ext cx="4754880" cy="3383280"/>
          </a:xfrm>
          <a:prstGeom prst="rect">
            <a:avLst/>
          </a:prstGeom>
        </p:spPr>
      </p:pic>
      <p:pic>
        <p:nvPicPr>
          <p:cNvPr id="3" name="Image 1" descr="/home/user/NVIConsult/build/assets_bold/s_ele_b.jpg">    </p:cNvPr>
          <p:cNvPicPr>
            <a:picLocks noChangeAspect="1"/>
          </p:cNvPicPr>
          <p:nvPr/>
        </p:nvPicPr>
        <p:blipFill>
          <a:blip r:embed="rId2"/>
          <a:stretch>
            <a:fillRect/>
          </a:stretch>
        </p:blipFill>
        <p:spPr>
          <a:xfrm>
            <a:off x="0" y="3474720"/>
            <a:ext cx="4754880" cy="3383280"/>
          </a:xfrm>
          <a:prstGeom prst="rect">
            <a:avLst/>
          </a:prstGeom>
        </p:spPr>
      </p:pic>
      <p:sp>
        <p:nvSpPr>
          <p:cNvPr id="4" name="Shape 0"/>
          <p:cNvSpPr/>
          <p:nvPr/>
        </p:nvSpPr>
        <p:spPr>
          <a:xfrm>
            <a:off x="11332159" y="603504"/>
            <a:ext cx="310896" cy="146304"/>
          </a:xfrm>
          <a:prstGeom prst="parallelogram">
            <a:avLst/>
          </a:prstGeom>
          <a:solidFill>
            <a:srgbClr val="5B54A4"/>
          </a:solidFill>
          <a:ln w="12700">
            <a:solidFill>
              <a:srgbClr val="5B54A4"/>
            </a:solidFill>
            <a:prstDash val="solid"/>
          </a:ln>
        </p:spPr>
      </p:sp>
      <p:sp>
        <p:nvSpPr>
          <p:cNvPr id="5" name="Text 1"/>
          <p:cNvSpPr txBox="1"/>
          <p:nvPr/>
        </p:nvSpPr>
        <p:spPr>
          <a:xfrm>
            <a:off x="5333695" y="548640"/>
            <a:ext cx="5852160" cy="256032"/>
          </a:xfrm>
          <a:prstGeom prst="rect">
            <a:avLst/>
          </a:prstGeom>
          <a:noFill/>
          <a:ln/>
        </p:spPr>
        <p:txBody>
          <a:bodyPr wrap="square" lIns="0" tIns="0" rIns="0" bIns="0" rtlCol="0" anchor="ctr"/>
          <a:lstStyle/>
          <a:p>
            <a:pPr rtl="1" algn="r" indent="0" marL="0">
              <a:buNone/>
            </a:pPr>
            <a:r>
              <a:rPr lang="ar-SA" altLang="en-US" sz="1260" b="1" dirty="0">
                <a:solidFill>
                  <a:srgbClr val="5B54A4"/>
                </a:solidFill>
                <a:latin typeface="Segoe UI" pitchFamily="34" charset="0"/>
                <a:ea typeface="Segoe UI" pitchFamily="34" charset="-122"/>
                <a:cs typeface="Segoe UI" pitchFamily="34" charset="-120"/>
              </a:rPr>
              <a:t>الخدمة 04.4</a:t>
            </a:r>
            <a:endParaRPr lang="ar-SA" sz="1260" dirty="0"/>
          </a:p>
        </p:txBody>
      </p:sp>
      <p:sp>
        <p:nvSpPr>
          <p:cNvPr id="6" name="Text 2"/>
          <p:cNvSpPr txBox="1"/>
          <p:nvPr/>
        </p:nvSpPr>
        <p:spPr>
          <a:xfrm>
            <a:off x="5333695" y="896112"/>
            <a:ext cx="6309360" cy="685800"/>
          </a:xfrm>
          <a:prstGeom prst="rect">
            <a:avLst/>
          </a:prstGeom>
          <a:noFill/>
          <a:ln/>
        </p:spPr>
        <p:txBody>
          <a:bodyPr wrap="square" lIns="0" tIns="0" rIns="0" bIns="0" rtlCol="0" anchor="t"/>
          <a:lstStyle/>
          <a:p>
            <a:pPr rtl="1" algn="r" indent="0" marL="0">
              <a:buNone/>
            </a:pPr>
            <a:r>
              <a:rPr lang="ar-SA" altLang="en-US" sz="3000" b="1" dirty="0">
                <a:solidFill>
                  <a:srgbClr val="0E1420"/>
                </a:solidFill>
                <a:latin typeface="Segoe UI" pitchFamily="34" charset="0"/>
                <a:ea typeface="Segoe UI" pitchFamily="34" charset="-122"/>
                <a:cs typeface="Segoe UI" pitchFamily="34" charset="-120"/>
              </a:rPr>
              <a:t>الأعمال الكهربائية</a:t>
            </a:r>
            <a:endParaRPr lang="ar-SA" sz="3000" dirty="0"/>
          </a:p>
        </p:txBody>
      </p:sp>
      <p:sp>
        <p:nvSpPr>
          <p:cNvPr id="7" name="Text 3"/>
          <p:cNvSpPr txBox="1"/>
          <p:nvPr/>
        </p:nvSpPr>
        <p:spPr>
          <a:xfrm>
            <a:off x="5333695" y="1627632"/>
            <a:ext cx="6309360"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Segoe UI" pitchFamily="34" charset="0"/>
                <a:ea typeface="Segoe UI" pitchFamily="34" charset="-122"/>
                <a:cs typeface="Segoe UI" pitchFamily="34" charset="-120"/>
              </a:rPr>
              <a:t>تنفيذ متكامل للأعمال الكهربائية، من الكابلات الرئيسية وحتى نقاط الاستخدام.</a:t>
            </a:r>
            <a:endParaRPr lang="ar-SA" sz="1500" dirty="0"/>
          </a:p>
        </p:txBody>
      </p:sp>
      <p:sp>
        <p:nvSpPr>
          <p:cNvPr id="8" name="Text 4"/>
          <p:cNvSpPr txBox="1"/>
          <p:nvPr/>
        </p:nvSpPr>
        <p:spPr>
          <a:xfrm>
            <a:off x="11094415" y="2286000"/>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Consolas" pitchFamily="34" charset="0"/>
                <a:ea typeface="Consolas" pitchFamily="34" charset="-122"/>
                <a:cs typeface="Consolas" pitchFamily="34" charset="-120"/>
              </a:rPr>
              <a:t>01</a:t>
            </a:r>
            <a:endParaRPr lang="ar-SA" sz="1300" dirty="0"/>
          </a:p>
        </p:txBody>
      </p:sp>
      <p:sp>
        <p:nvSpPr>
          <p:cNvPr id="9" name="Text 5"/>
          <p:cNvSpPr txBox="1"/>
          <p:nvPr/>
        </p:nvSpPr>
        <p:spPr>
          <a:xfrm>
            <a:off x="5333695" y="2286000"/>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Segoe UI" pitchFamily="34" charset="0"/>
                <a:ea typeface="Segoe UI" pitchFamily="34" charset="-122"/>
                <a:cs typeface="Segoe UI" pitchFamily="34" charset="-120"/>
              </a:rPr>
              <a:t>تركيبات الإضاءة ونقاطها</a:t>
            </a:r>
            <a:endParaRPr lang="ar-SA" sz="1600" dirty="0"/>
          </a:p>
        </p:txBody>
      </p:sp>
      <p:sp>
        <p:nvSpPr>
          <p:cNvPr id="10" name="Shape 6"/>
          <p:cNvSpPr/>
          <p:nvPr/>
        </p:nvSpPr>
        <p:spPr>
          <a:xfrm>
            <a:off x="5333695" y="2807208"/>
            <a:ext cx="6309360" cy="0"/>
          </a:xfrm>
          <a:prstGeom prst="line">
            <a:avLst/>
          </a:prstGeom>
          <a:noFill/>
          <a:ln w="9525">
            <a:solidFill>
              <a:srgbClr val="DDE1E6"/>
            </a:solidFill>
            <a:prstDash val="solid"/>
          </a:ln>
        </p:spPr>
      </p:sp>
      <p:sp>
        <p:nvSpPr>
          <p:cNvPr id="11" name="Text 7"/>
          <p:cNvSpPr txBox="1"/>
          <p:nvPr/>
        </p:nvSpPr>
        <p:spPr>
          <a:xfrm>
            <a:off x="11094415" y="2871216"/>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Consolas" pitchFamily="34" charset="0"/>
                <a:ea typeface="Consolas" pitchFamily="34" charset="-122"/>
                <a:cs typeface="Consolas" pitchFamily="34" charset="-120"/>
              </a:rPr>
              <a:t>02</a:t>
            </a:r>
            <a:endParaRPr lang="ar-SA" sz="1300" dirty="0"/>
          </a:p>
        </p:txBody>
      </p:sp>
      <p:sp>
        <p:nvSpPr>
          <p:cNvPr id="12" name="Text 8"/>
          <p:cNvSpPr txBox="1"/>
          <p:nvPr/>
        </p:nvSpPr>
        <p:spPr>
          <a:xfrm>
            <a:off x="5333695" y="2871216"/>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Segoe UI" pitchFamily="34" charset="0"/>
                <a:ea typeface="Segoe UI" pitchFamily="34" charset="-122"/>
                <a:cs typeface="Segoe UI" pitchFamily="34" charset="-120"/>
              </a:rPr>
              <a:t>مسارات الكابلات</a:t>
            </a:r>
            <a:endParaRPr lang="ar-SA" sz="1600" dirty="0"/>
          </a:p>
        </p:txBody>
      </p:sp>
      <p:sp>
        <p:nvSpPr>
          <p:cNvPr id="13" name="Shape 9"/>
          <p:cNvSpPr/>
          <p:nvPr/>
        </p:nvSpPr>
        <p:spPr>
          <a:xfrm>
            <a:off x="5333695" y="3392424"/>
            <a:ext cx="6309360" cy="0"/>
          </a:xfrm>
          <a:prstGeom prst="line">
            <a:avLst/>
          </a:prstGeom>
          <a:noFill/>
          <a:ln w="9525">
            <a:solidFill>
              <a:srgbClr val="DDE1E6"/>
            </a:solidFill>
            <a:prstDash val="solid"/>
          </a:ln>
        </p:spPr>
      </p:sp>
      <p:sp>
        <p:nvSpPr>
          <p:cNvPr id="14" name="Text 10"/>
          <p:cNvSpPr txBox="1"/>
          <p:nvPr/>
        </p:nvSpPr>
        <p:spPr>
          <a:xfrm>
            <a:off x="11094415" y="3456432"/>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Consolas" pitchFamily="34" charset="0"/>
                <a:ea typeface="Consolas" pitchFamily="34" charset="-122"/>
                <a:cs typeface="Consolas" pitchFamily="34" charset="-120"/>
              </a:rPr>
              <a:t>03</a:t>
            </a:r>
            <a:endParaRPr lang="ar-SA" sz="1300" dirty="0"/>
          </a:p>
        </p:txBody>
      </p:sp>
      <p:sp>
        <p:nvSpPr>
          <p:cNvPr id="15" name="Text 11"/>
          <p:cNvSpPr txBox="1"/>
          <p:nvPr/>
        </p:nvSpPr>
        <p:spPr>
          <a:xfrm>
            <a:off x="5333695" y="3456432"/>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Segoe UI" pitchFamily="34" charset="0"/>
                <a:ea typeface="Segoe UI" pitchFamily="34" charset="-122"/>
                <a:cs typeface="Segoe UI" pitchFamily="34" charset="-120"/>
              </a:rPr>
              <a:t>منافذ الطاقة</a:t>
            </a:r>
            <a:endParaRPr lang="ar-SA" sz="1600" dirty="0"/>
          </a:p>
        </p:txBody>
      </p:sp>
      <p:sp>
        <p:nvSpPr>
          <p:cNvPr id="16" name="Shape 12"/>
          <p:cNvSpPr/>
          <p:nvPr/>
        </p:nvSpPr>
        <p:spPr>
          <a:xfrm>
            <a:off x="5333695" y="3977640"/>
            <a:ext cx="6309360" cy="0"/>
          </a:xfrm>
          <a:prstGeom prst="line">
            <a:avLst/>
          </a:prstGeom>
          <a:noFill/>
          <a:ln w="9525">
            <a:solidFill>
              <a:srgbClr val="DDE1E6"/>
            </a:solidFill>
            <a:prstDash val="solid"/>
          </a:ln>
        </p:spPr>
      </p:sp>
      <p:sp>
        <p:nvSpPr>
          <p:cNvPr id="17" name="Text 13"/>
          <p:cNvSpPr txBox="1"/>
          <p:nvPr/>
        </p:nvSpPr>
        <p:spPr>
          <a:xfrm>
            <a:off x="11094415" y="4041648"/>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Consolas" pitchFamily="34" charset="0"/>
                <a:ea typeface="Consolas" pitchFamily="34" charset="-122"/>
                <a:cs typeface="Consolas" pitchFamily="34" charset="-120"/>
              </a:rPr>
              <a:t>04</a:t>
            </a:r>
            <a:endParaRPr lang="ar-SA" sz="1300" dirty="0"/>
          </a:p>
        </p:txBody>
      </p:sp>
      <p:sp>
        <p:nvSpPr>
          <p:cNvPr id="18" name="Text 14"/>
          <p:cNvSpPr txBox="1"/>
          <p:nvPr/>
        </p:nvSpPr>
        <p:spPr>
          <a:xfrm>
            <a:off x="5333695" y="4041648"/>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Segoe UI" pitchFamily="34" charset="0"/>
                <a:ea typeface="Segoe UI" pitchFamily="34" charset="-122"/>
                <a:cs typeface="Segoe UI" pitchFamily="34" charset="-120"/>
              </a:rPr>
              <a:t>لوحات الكهرباء</a:t>
            </a:r>
            <a:endParaRPr lang="ar-SA" sz="1600" dirty="0"/>
          </a:p>
        </p:txBody>
      </p:sp>
      <p:sp>
        <p:nvSpPr>
          <p:cNvPr id="19" name="Shape 15"/>
          <p:cNvSpPr/>
          <p:nvPr/>
        </p:nvSpPr>
        <p:spPr>
          <a:xfrm>
            <a:off x="5333695" y="4562856"/>
            <a:ext cx="6309360" cy="0"/>
          </a:xfrm>
          <a:prstGeom prst="line">
            <a:avLst/>
          </a:prstGeom>
          <a:noFill/>
          <a:ln w="9525">
            <a:solidFill>
              <a:srgbClr val="DDE1E6"/>
            </a:solidFill>
            <a:prstDash val="solid"/>
          </a:ln>
        </p:spPr>
      </p:sp>
      <p:sp>
        <p:nvSpPr>
          <p:cNvPr id="20" name="Text 16"/>
          <p:cNvSpPr txBox="1"/>
          <p:nvPr/>
        </p:nvSpPr>
        <p:spPr>
          <a:xfrm>
            <a:off x="11094415" y="4626864"/>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Consolas" pitchFamily="34" charset="0"/>
                <a:ea typeface="Consolas" pitchFamily="34" charset="-122"/>
                <a:cs typeface="Consolas" pitchFamily="34" charset="-120"/>
              </a:rPr>
              <a:t>05</a:t>
            </a:r>
            <a:endParaRPr lang="ar-SA" sz="1300" dirty="0"/>
          </a:p>
        </p:txBody>
      </p:sp>
      <p:sp>
        <p:nvSpPr>
          <p:cNvPr id="21" name="Text 17"/>
          <p:cNvSpPr txBox="1"/>
          <p:nvPr/>
        </p:nvSpPr>
        <p:spPr>
          <a:xfrm>
            <a:off x="5333695" y="4626864"/>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Segoe UI" pitchFamily="34" charset="0"/>
                <a:ea typeface="Segoe UI" pitchFamily="34" charset="-122"/>
                <a:cs typeface="Segoe UI" pitchFamily="34" charset="-120"/>
              </a:rPr>
              <a:t>الكابلات الرئيسية</a:t>
            </a:r>
            <a:endParaRPr lang="ar-SA" sz="1600" dirty="0"/>
          </a:p>
        </p:txBody>
      </p:sp>
      <p:sp>
        <p:nvSpPr>
          <p:cNvPr id="22" name="Shape 18"/>
          <p:cNvSpPr/>
          <p:nvPr/>
        </p:nvSpPr>
        <p:spPr>
          <a:xfrm>
            <a:off x="5333695" y="5148072"/>
            <a:ext cx="6309360" cy="0"/>
          </a:xfrm>
          <a:prstGeom prst="line">
            <a:avLst/>
          </a:prstGeom>
          <a:noFill/>
          <a:ln w="9525">
            <a:solidFill>
              <a:srgbClr val="DDE1E6"/>
            </a:solidFill>
            <a:prstDash val="solid"/>
          </a:ln>
        </p:spPr>
      </p:sp>
      <p:sp>
        <p:nvSpPr>
          <p:cNvPr id="23" name="Text 19"/>
          <p:cNvSpPr txBox="1"/>
          <p:nvPr/>
        </p:nvSpPr>
        <p:spPr>
          <a:xfrm>
            <a:off x="11094415" y="5212080"/>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Consolas" pitchFamily="34" charset="0"/>
                <a:ea typeface="Consolas" pitchFamily="34" charset="-122"/>
                <a:cs typeface="Consolas" pitchFamily="34" charset="-120"/>
              </a:rPr>
              <a:t>06</a:t>
            </a:r>
            <a:endParaRPr lang="ar-SA" sz="1300" dirty="0"/>
          </a:p>
        </p:txBody>
      </p:sp>
      <p:sp>
        <p:nvSpPr>
          <p:cNvPr id="24" name="Text 20"/>
          <p:cNvSpPr txBox="1"/>
          <p:nvPr/>
        </p:nvSpPr>
        <p:spPr>
          <a:xfrm>
            <a:off x="5333695" y="5212080"/>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Segoe UI" pitchFamily="34" charset="0"/>
                <a:ea typeface="Segoe UI" pitchFamily="34" charset="-122"/>
                <a:cs typeface="Segoe UI" pitchFamily="34" charset="-120"/>
              </a:rPr>
              <a:t>أنظمة التأريض</a:t>
            </a:r>
            <a:endParaRPr lang="ar-SA" sz="1600" dirty="0"/>
          </a:p>
        </p:txBody>
      </p:sp>
      <p:sp>
        <p:nvSpPr>
          <p:cNvPr id="25" name="Shape 21"/>
          <p:cNvSpPr/>
          <p:nvPr/>
        </p:nvSpPr>
        <p:spPr>
          <a:xfrm>
            <a:off x="5333695" y="5733288"/>
            <a:ext cx="6309360" cy="0"/>
          </a:xfrm>
          <a:prstGeom prst="line">
            <a:avLst/>
          </a:prstGeom>
          <a:noFill/>
          <a:ln w="9525">
            <a:solidFill>
              <a:srgbClr val="DDE1E6"/>
            </a:solidFill>
            <a:prstDash val="solid"/>
          </a:ln>
        </p:spPr>
      </p:sp>
      <p:sp>
        <p:nvSpPr>
          <p:cNvPr id="26" name="Text 22"/>
          <p:cNvSpPr txBox="1"/>
          <p:nvPr/>
        </p:nvSpPr>
        <p:spPr>
          <a:xfrm>
            <a:off x="11094415" y="5797296"/>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Consolas" pitchFamily="34" charset="0"/>
                <a:ea typeface="Consolas" pitchFamily="34" charset="-122"/>
                <a:cs typeface="Consolas" pitchFamily="34" charset="-120"/>
              </a:rPr>
              <a:t>07</a:t>
            </a:r>
            <a:endParaRPr lang="ar-SA" sz="1300" dirty="0"/>
          </a:p>
        </p:txBody>
      </p:sp>
      <p:sp>
        <p:nvSpPr>
          <p:cNvPr id="27" name="Text 23"/>
          <p:cNvSpPr txBox="1"/>
          <p:nvPr/>
        </p:nvSpPr>
        <p:spPr>
          <a:xfrm>
            <a:off x="5333695" y="5797296"/>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Segoe UI" pitchFamily="34" charset="0"/>
                <a:ea typeface="Segoe UI" pitchFamily="34" charset="-122"/>
                <a:cs typeface="Segoe UI" pitchFamily="34" charset="-120"/>
              </a:rPr>
              <a:t>أنظمة الحماية من الصواعق</a:t>
            </a:r>
            <a:endParaRPr lang="ar-SA" sz="1600" dirty="0"/>
          </a:p>
        </p:txBody>
      </p:sp>
      <p:sp>
        <p:nvSpPr>
          <p:cNvPr id="28" name="Shape 24"/>
          <p:cNvSpPr/>
          <p:nvPr/>
        </p:nvSpPr>
        <p:spPr>
          <a:xfrm>
            <a:off x="5333695" y="6318504"/>
            <a:ext cx="6309360" cy="0"/>
          </a:xfrm>
          <a:prstGeom prst="line">
            <a:avLst/>
          </a:prstGeom>
          <a:noFill/>
          <a:ln w="9525">
            <a:solidFill>
              <a:srgbClr val="DDE1E6"/>
            </a:solidFill>
            <a:prstDash val="solid"/>
          </a:ln>
        </p:spPr>
      </p:sp>
      <p:sp>
        <p:nvSpPr>
          <p:cNvPr id="29" name="Text 25"/>
          <p:cNvSpPr txBox="1"/>
          <p:nvPr/>
        </p:nvSpPr>
        <p:spPr>
          <a:xfrm>
            <a:off x="5882335" y="6446520"/>
            <a:ext cx="5760720"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30" name="Text 26"/>
          <p:cNvSpPr txBox="1"/>
          <p:nvPr/>
        </p:nvSpPr>
        <p:spPr>
          <a:xfrm>
            <a:off x="5333695"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09</a:t>
            </a:r>
            <a:endParaRPr lang="ar-SA"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420"/>
        </a:solidFill>
      </p:bgPr>
    </p:bg>
    <p:spTree>
      <p:nvGrpSpPr>
        <p:cNvPr id="1" name=""/>
        <p:cNvGrpSpPr/>
        <p:nvPr/>
      </p:nvGrpSpPr>
      <p:grpSpPr>
        <a:xfrm>
          <a:off x="0" y="0"/>
          <a:ext cx="0" cy="0"/>
          <a:chOff x="0" y="0"/>
          <a:chExt cx="0" cy="0"/>
        </a:xfrm>
      </p:grpSpPr>
      <p:pic>
        <p:nvPicPr>
          <p:cNvPr id="2" name="Image 0" descr="/home/user/NVIConsult/build/assets_bold/s_low.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420">
              <a:alpha val="88000"/>
            </a:srgbClr>
          </a:solidFill>
          <a:ln w="12700">
            <a:solidFill>
              <a:srgbClr val="0E1420"/>
            </a:solidFill>
            <a:prstDash val="solid"/>
          </a:ln>
        </p:spPr>
      </p:sp>
      <p:sp>
        <p:nvSpPr>
          <p:cNvPr id="4" name="Shape 1"/>
          <p:cNvSpPr/>
          <p:nvPr/>
        </p:nvSpPr>
        <p:spPr>
          <a:xfrm>
            <a:off x="11332159" y="649224"/>
            <a:ext cx="310896" cy="146304"/>
          </a:xfrm>
          <a:prstGeom prst="parallelogram">
            <a:avLst/>
          </a:prstGeom>
          <a:solidFill>
            <a:srgbClr val="98207E"/>
          </a:solidFill>
          <a:ln w="12700">
            <a:solidFill>
              <a:srgbClr val="98207E"/>
            </a:solidFill>
            <a:prstDash val="solid"/>
          </a:ln>
        </p:spPr>
      </p:sp>
      <p:sp>
        <p:nvSpPr>
          <p:cNvPr id="5" name="Text 2"/>
          <p:cNvSpPr txBox="1"/>
          <p:nvPr/>
        </p:nvSpPr>
        <p:spPr>
          <a:xfrm>
            <a:off x="8259775" y="594360"/>
            <a:ext cx="2926080" cy="256032"/>
          </a:xfrm>
          <a:prstGeom prst="rect">
            <a:avLst/>
          </a:prstGeom>
          <a:noFill/>
          <a:ln/>
        </p:spPr>
        <p:txBody>
          <a:bodyPr wrap="square" lIns="0" tIns="0" rIns="0" bIns="0" rtlCol="0" anchor="ctr"/>
          <a:lstStyle/>
          <a:p>
            <a:pPr rtl="1" algn="r" indent="0" marL="0">
              <a:buNone/>
            </a:pPr>
            <a:r>
              <a:rPr lang="ar-SA" altLang="en-US" sz="1260" b="1" dirty="0">
                <a:solidFill>
                  <a:srgbClr val="2DB8E0"/>
                </a:solidFill>
                <a:latin typeface="Segoe UI" pitchFamily="34" charset="0"/>
                <a:ea typeface="Segoe UI" pitchFamily="34" charset="-122"/>
                <a:cs typeface="Segoe UI" pitchFamily="34" charset="-120"/>
              </a:rPr>
              <a:t>الخدمة 04.5</a:t>
            </a:r>
            <a:endParaRPr lang="ar-SA" sz="1260" dirty="0"/>
          </a:p>
        </p:txBody>
      </p:sp>
      <p:sp>
        <p:nvSpPr>
          <p:cNvPr id="6" name="Text 3"/>
          <p:cNvSpPr txBox="1"/>
          <p:nvPr/>
        </p:nvSpPr>
        <p:spPr>
          <a:xfrm>
            <a:off x="8259775" y="941832"/>
            <a:ext cx="3383280" cy="1188720"/>
          </a:xfrm>
          <a:prstGeom prst="rect">
            <a:avLst/>
          </a:prstGeom>
          <a:noFill/>
          <a:ln/>
        </p:spPr>
        <p:txBody>
          <a:bodyPr wrap="square" lIns="0" tIns="0" rIns="0" bIns="0" rtlCol="0" anchor="t"/>
          <a:lstStyle/>
          <a:p>
            <a:pPr rtl="1" algn="r" indent="0" marL="0">
              <a:buNone/>
            </a:pPr>
            <a:r>
              <a:rPr lang="ar-SA" altLang="en-US" sz="3400" b="1" dirty="0">
                <a:solidFill>
                  <a:srgbClr val="FFFFFF"/>
                </a:solidFill>
                <a:latin typeface="Segoe UI" pitchFamily="34" charset="0"/>
                <a:ea typeface="Segoe UI" pitchFamily="34" charset="-122"/>
                <a:cs typeface="Segoe UI" pitchFamily="34" charset="-120"/>
              </a:rPr>
              <a:t>أنظمة التيار المنخفض</a:t>
            </a:r>
            <a:endParaRPr lang="ar-SA" sz="3400" dirty="0"/>
          </a:p>
        </p:txBody>
      </p:sp>
      <p:sp>
        <p:nvSpPr>
          <p:cNvPr id="7" name="Text 4"/>
          <p:cNvSpPr txBox="1"/>
          <p:nvPr/>
        </p:nvSpPr>
        <p:spPr>
          <a:xfrm>
            <a:off x="8259775" y="2286000"/>
            <a:ext cx="3383280" cy="1280160"/>
          </a:xfrm>
          <a:prstGeom prst="rect">
            <a:avLst/>
          </a:prstGeom>
          <a:noFill/>
          <a:ln/>
        </p:spPr>
        <p:txBody>
          <a:bodyPr wrap="square" lIns="0" tIns="0" rIns="0" bIns="0" rtlCol="0" anchor="t"/>
          <a:lstStyle/>
          <a:p>
            <a:pPr rtl="1" algn="r" indent="0" marL="0">
              <a:lnSpc>
                <a:spcPct val="115000"/>
              </a:lnSpc>
              <a:buNone/>
            </a:pPr>
            <a:r>
              <a:rPr lang="ar-SA" altLang="en-US" sz="1450" dirty="0">
                <a:solidFill>
                  <a:srgbClr val="C3CBD6"/>
                </a:solidFill>
                <a:latin typeface="Segoe UI" pitchFamily="34" charset="0"/>
                <a:ea typeface="Segoe UI" pitchFamily="34" charset="-122"/>
                <a:cs typeface="Segoe UI" pitchFamily="34" charset="-120"/>
              </a:rPr>
              <a:t>أنظمة مباني متكاملة للبيانات والسلامة والأمن والاتصالات.</a:t>
            </a:r>
            <a:endParaRPr lang="ar-SA" sz="1450" dirty="0"/>
          </a:p>
        </p:txBody>
      </p:sp>
      <p:sp>
        <p:nvSpPr>
          <p:cNvPr id="8" name="Shape 5"/>
          <p:cNvSpPr/>
          <p:nvPr/>
        </p:nvSpPr>
        <p:spPr>
          <a:xfrm>
            <a:off x="6160541" y="594360"/>
            <a:ext cx="1687754" cy="1783080"/>
          </a:xfrm>
          <a:prstGeom prst="rect">
            <a:avLst/>
          </a:prstGeom>
          <a:solidFill>
            <a:srgbClr val="182131">
              <a:alpha val="92000"/>
            </a:srgbClr>
          </a:solidFill>
          <a:ln w="9525">
            <a:solidFill>
              <a:srgbClr val="2A3547"/>
            </a:solidFill>
            <a:prstDash val="solid"/>
          </a:ln>
        </p:spPr>
      </p:sp>
      <p:pic>
        <p:nvPicPr>
          <p:cNvPr id="9" name="Image 1" descr="preencoded.png">    </p:cNvPr>
          <p:cNvPicPr>
            <a:picLocks noChangeAspect="1"/>
          </p:cNvPicPr>
          <p:nvPr/>
        </p:nvPicPr>
        <p:blipFill>
          <a:blip r:embed="rId2"/>
          <a:stretch>
            <a:fillRect/>
          </a:stretch>
        </p:blipFill>
        <p:spPr>
          <a:xfrm>
            <a:off x="7162495" y="868680"/>
            <a:ext cx="457200" cy="457200"/>
          </a:xfrm>
          <a:prstGeom prst="rect">
            <a:avLst/>
          </a:prstGeom>
        </p:spPr>
      </p:pic>
      <p:sp>
        <p:nvSpPr>
          <p:cNvPr id="10" name="Text 6"/>
          <p:cNvSpPr txBox="1"/>
          <p:nvPr/>
        </p:nvSpPr>
        <p:spPr>
          <a:xfrm>
            <a:off x="6343421" y="150876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البيانات</a:t>
            </a:r>
            <a:endParaRPr lang="ar-SA" sz="1300" dirty="0"/>
          </a:p>
        </p:txBody>
      </p:sp>
      <p:sp>
        <p:nvSpPr>
          <p:cNvPr id="11" name="Shape 7"/>
          <p:cNvSpPr/>
          <p:nvPr/>
        </p:nvSpPr>
        <p:spPr>
          <a:xfrm>
            <a:off x="4289908" y="594360"/>
            <a:ext cx="1687754" cy="1783080"/>
          </a:xfrm>
          <a:prstGeom prst="rect">
            <a:avLst/>
          </a:prstGeom>
          <a:solidFill>
            <a:srgbClr val="182131">
              <a:alpha val="92000"/>
            </a:srgbClr>
          </a:solidFill>
          <a:ln w="9525">
            <a:solidFill>
              <a:srgbClr val="2A3547"/>
            </a:solidFill>
            <a:prstDash val="solid"/>
          </a:ln>
        </p:spPr>
      </p:sp>
      <p:pic>
        <p:nvPicPr>
          <p:cNvPr id="12" name="Image 2" descr="preencoded.png">    </p:cNvPr>
          <p:cNvPicPr>
            <a:picLocks noChangeAspect="1"/>
          </p:cNvPicPr>
          <p:nvPr/>
        </p:nvPicPr>
        <p:blipFill>
          <a:blip r:embed="rId3"/>
          <a:stretch>
            <a:fillRect/>
          </a:stretch>
        </p:blipFill>
        <p:spPr>
          <a:xfrm>
            <a:off x="5291861" y="868680"/>
            <a:ext cx="457200" cy="457200"/>
          </a:xfrm>
          <a:prstGeom prst="rect">
            <a:avLst/>
          </a:prstGeom>
        </p:spPr>
      </p:pic>
      <p:sp>
        <p:nvSpPr>
          <p:cNvPr id="13" name="Text 8"/>
          <p:cNvSpPr txBox="1"/>
          <p:nvPr/>
        </p:nvSpPr>
        <p:spPr>
          <a:xfrm>
            <a:off x="4472788" y="150876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الهاتف الشبكي (IP)</a:t>
            </a:r>
            <a:endParaRPr lang="ar-SA" sz="1300" dirty="0"/>
          </a:p>
        </p:txBody>
      </p:sp>
      <p:sp>
        <p:nvSpPr>
          <p:cNvPr id="14" name="Shape 9"/>
          <p:cNvSpPr/>
          <p:nvPr/>
        </p:nvSpPr>
        <p:spPr>
          <a:xfrm>
            <a:off x="2419274" y="594360"/>
            <a:ext cx="1687754" cy="1783080"/>
          </a:xfrm>
          <a:prstGeom prst="rect">
            <a:avLst/>
          </a:prstGeom>
          <a:solidFill>
            <a:srgbClr val="182131">
              <a:alpha val="92000"/>
            </a:srgbClr>
          </a:solidFill>
          <a:ln w="9525">
            <a:solidFill>
              <a:srgbClr val="2A3547"/>
            </a:solidFill>
            <a:prstDash val="solid"/>
          </a:ln>
        </p:spPr>
      </p:sp>
      <p:pic>
        <p:nvPicPr>
          <p:cNvPr id="15" name="Image 3" descr="preencoded.png">    </p:cNvPr>
          <p:cNvPicPr>
            <a:picLocks noChangeAspect="1"/>
          </p:cNvPicPr>
          <p:nvPr/>
        </p:nvPicPr>
        <p:blipFill>
          <a:blip r:embed="rId4"/>
          <a:stretch>
            <a:fillRect/>
          </a:stretch>
        </p:blipFill>
        <p:spPr>
          <a:xfrm>
            <a:off x="3421228" y="868680"/>
            <a:ext cx="457200" cy="457200"/>
          </a:xfrm>
          <a:prstGeom prst="rect">
            <a:avLst/>
          </a:prstGeom>
        </p:spPr>
      </p:pic>
      <p:sp>
        <p:nvSpPr>
          <p:cNvPr id="16" name="Text 10"/>
          <p:cNvSpPr txBox="1"/>
          <p:nvPr/>
        </p:nvSpPr>
        <p:spPr>
          <a:xfrm>
            <a:off x="2602154" y="150876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إنذار الحريق</a:t>
            </a:r>
            <a:endParaRPr lang="ar-SA" sz="1300" dirty="0"/>
          </a:p>
        </p:txBody>
      </p:sp>
      <p:sp>
        <p:nvSpPr>
          <p:cNvPr id="17" name="Shape 11"/>
          <p:cNvSpPr/>
          <p:nvPr/>
        </p:nvSpPr>
        <p:spPr>
          <a:xfrm>
            <a:off x="548640" y="594360"/>
            <a:ext cx="1687754" cy="1783080"/>
          </a:xfrm>
          <a:prstGeom prst="rect">
            <a:avLst/>
          </a:prstGeom>
          <a:solidFill>
            <a:srgbClr val="182131">
              <a:alpha val="92000"/>
            </a:srgbClr>
          </a:solidFill>
          <a:ln w="9525">
            <a:solidFill>
              <a:srgbClr val="2A3547"/>
            </a:solidFill>
            <a:prstDash val="solid"/>
          </a:ln>
        </p:spPr>
      </p:sp>
      <p:pic>
        <p:nvPicPr>
          <p:cNvPr id="18" name="Image 4" descr="preencoded.png">    </p:cNvPr>
          <p:cNvPicPr>
            <a:picLocks noChangeAspect="1"/>
          </p:cNvPicPr>
          <p:nvPr/>
        </p:nvPicPr>
        <p:blipFill>
          <a:blip r:embed="rId5"/>
          <a:stretch>
            <a:fillRect/>
          </a:stretch>
        </p:blipFill>
        <p:spPr>
          <a:xfrm>
            <a:off x="1550594" y="868680"/>
            <a:ext cx="457200" cy="457200"/>
          </a:xfrm>
          <a:prstGeom prst="rect">
            <a:avLst/>
          </a:prstGeom>
        </p:spPr>
      </p:pic>
      <p:sp>
        <p:nvSpPr>
          <p:cNvPr id="19" name="Text 12"/>
          <p:cNvSpPr txBox="1"/>
          <p:nvPr/>
        </p:nvSpPr>
        <p:spPr>
          <a:xfrm>
            <a:off x="731520" y="150876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كاميرات المراقبة</a:t>
            </a:r>
            <a:endParaRPr lang="ar-SA" sz="1300" dirty="0"/>
          </a:p>
        </p:txBody>
      </p:sp>
      <p:sp>
        <p:nvSpPr>
          <p:cNvPr id="20" name="Shape 13"/>
          <p:cNvSpPr/>
          <p:nvPr/>
        </p:nvSpPr>
        <p:spPr>
          <a:xfrm>
            <a:off x="6160541" y="2560320"/>
            <a:ext cx="1687754" cy="1783080"/>
          </a:xfrm>
          <a:prstGeom prst="rect">
            <a:avLst/>
          </a:prstGeom>
          <a:solidFill>
            <a:srgbClr val="182131">
              <a:alpha val="92000"/>
            </a:srgbClr>
          </a:solidFill>
          <a:ln w="9525">
            <a:solidFill>
              <a:srgbClr val="2A3547"/>
            </a:solidFill>
            <a:prstDash val="solid"/>
          </a:ln>
        </p:spPr>
      </p:sp>
      <p:pic>
        <p:nvPicPr>
          <p:cNvPr id="21" name="Image 5" descr="preencoded.png">    </p:cNvPr>
          <p:cNvPicPr>
            <a:picLocks noChangeAspect="1"/>
          </p:cNvPicPr>
          <p:nvPr/>
        </p:nvPicPr>
        <p:blipFill>
          <a:blip r:embed="rId6"/>
          <a:stretch>
            <a:fillRect/>
          </a:stretch>
        </p:blipFill>
        <p:spPr>
          <a:xfrm>
            <a:off x="7162495" y="2834640"/>
            <a:ext cx="457200" cy="457200"/>
          </a:xfrm>
          <a:prstGeom prst="rect">
            <a:avLst/>
          </a:prstGeom>
        </p:spPr>
      </p:pic>
      <p:sp>
        <p:nvSpPr>
          <p:cNvPr id="22" name="Text 14"/>
          <p:cNvSpPr txBox="1"/>
          <p:nvPr/>
        </p:nvSpPr>
        <p:spPr>
          <a:xfrm>
            <a:off x="6343421" y="347472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الإذاعة الداخلية</a:t>
            </a:r>
            <a:endParaRPr lang="ar-SA" sz="1300" dirty="0"/>
          </a:p>
        </p:txBody>
      </p:sp>
      <p:sp>
        <p:nvSpPr>
          <p:cNvPr id="23" name="Shape 15"/>
          <p:cNvSpPr/>
          <p:nvPr/>
        </p:nvSpPr>
        <p:spPr>
          <a:xfrm>
            <a:off x="4289908" y="2560320"/>
            <a:ext cx="1687754" cy="1783080"/>
          </a:xfrm>
          <a:prstGeom prst="rect">
            <a:avLst/>
          </a:prstGeom>
          <a:solidFill>
            <a:srgbClr val="182131">
              <a:alpha val="92000"/>
            </a:srgbClr>
          </a:solidFill>
          <a:ln w="9525">
            <a:solidFill>
              <a:srgbClr val="2A3547"/>
            </a:solidFill>
            <a:prstDash val="solid"/>
          </a:ln>
        </p:spPr>
      </p:sp>
      <p:pic>
        <p:nvPicPr>
          <p:cNvPr id="24" name="Image 6" descr="preencoded.png">    </p:cNvPr>
          <p:cNvPicPr>
            <a:picLocks noChangeAspect="1"/>
          </p:cNvPicPr>
          <p:nvPr/>
        </p:nvPicPr>
        <p:blipFill>
          <a:blip r:embed="rId7"/>
          <a:stretch>
            <a:fillRect/>
          </a:stretch>
        </p:blipFill>
        <p:spPr>
          <a:xfrm>
            <a:off x="5291861" y="2834640"/>
            <a:ext cx="457200" cy="457200"/>
          </a:xfrm>
          <a:prstGeom prst="rect">
            <a:avLst/>
          </a:prstGeom>
        </p:spPr>
      </p:pic>
      <p:sp>
        <p:nvSpPr>
          <p:cNvPr id="25" name="Text 16"/>
          <p:cNvSpPr txBox="1"/>
          <p:nvPr/>
        </p:nvSpPr>
        <p:spPr>
          <a:xfrm>
            <a:off x="4472788" y="347472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استدعاء التمريض</a:t>
            </a:r>
            <a:endParaRPr lang="ar-SA" sz="1300" dirty="0"/>
          </a:p>
        </p:txBody>
      </p:sp>
      <p:sp>
        <p:nvSpPr>
          <p:cNvPr id="26" name="Shape 17"/>
          <p:cNvSpPr/>
          <p:nvPr/>
        </p:nvSpPr>
        <p:spPr>
          <a:xfrm>
            <a:off x="2419274" y="2560320"/>
            <a:ext cx="1687754" cy="1783080"/>
          </a:xfrm>
          <a:prstGeom prst="rect">
            <a:avLst/>
          </a:prstGeom>
          <a:solidFill>
            <a:srgbClr val="182131">
              <a:alpha val="92000"/>
            </a:srgbClr>
          </a:solidFill>
          <a:ln w="9525">
            <a:solidFill>
              <a:srgbClr val="2A3547"/>
            </a:solidFill>
            <a:prstDash val="solid"/>
          </a:ln>
        </p:spPr>
      </p:sp>
      <p:pic>
        <p:nvPicPr>
          <p:cNvPr id="27" name="Image 7" descr="preencoded.png">    </p:cNvPr>
          <p:cNvPicPr>
            <a:picLocks noChangeAspect="1"/>
          </p:cNvPicPr>
          <p:nvPr/>
        </p:nvPicPr>
        <p:blipFill>
          <a:blip r:embed="rId8"/>
          <a:stretch>
            <a:fillRect/>
          </a:stretch>
        </p:blipFill>
        <p:spPr>
          <a:xfrm>
            <a:off x="3421228" y="2834640"/>
            <a:ext cx="457200" cy="457200"/>
          </a:xfrm>
          <a:prstGeom prst="rect">
            <a:avLst/>
          </a:prstGeom>
        </p:spPr>
      </p:pic>
      <p:sp>
        <p:nvSpPr>
          <p:cNvPr id="28" name="Text 18"/>
          <p:cNvSpPr txBox="1"/>
          <p:nvPr/>
        </p:nvSpPr>
        <p:spPr>
          <a:xfrm>
            <a:off x="2602154" y="347472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التحكم في الدخول</a:t>
            </a:r>
            <a:endParaRPr lang="ar-SA" sz="1300" dirty="0"/>
          </a:p>
        </p:txBody>
      </p:sp>
      <p:sp>
        <p:nvSpPr>
          <p:cNvPr id="29" name="Shape 19"/>
          <p:cNvSpPr/>
          <p:nvPr/>
        </p:nvSpPr>
        <p:spPr>
          <a:xfrm>
            <a:off x="548640" y="2560320"/>
            <a:ext cx="1687754" cy="1783080"/>
          </a:xfrm>
          <a:prstGeom prst="rect">
            <a:avLst/>
          </a:prstGeom>
          <a:solidFill>
            <a:srgbClr val="182131">
              <a:alpha val="92000"/>
            </a:srgbClr>
          </a:solidFill>
          <a:ln w="9525">
            <a:solidFill>
              <a:srgbClr val="2A3547"/>
            </a:solidFill>
            <a:prstDash val="solid"/>
          </a:ln>
        </p:spPr>
      </p:sp>
      <p:pic>
        <p:nvPicPr>
          <p:cNvPr id="30" name="Image 8" descr="preencoded.png">    </p:cNvPr>
          <p:cNvPicPr>
            <a:picLocks noChangeAspect="1"/>
          </p:cNvPicPr>
          <p:nvPr/>
        </p:nvPicPr>
        <p:blipFill>
          <a:blip r:embed="rId9"/>
          <a:stretch>
            <a:fillRect/>
          </a:stretch>
        </p:blipFill>
        <p:spPr>
          <a:xfrm>
            <a:off x="1550594" y="2834640"/>
            <a:ext cx="457200" cy="457200"/>
          </a:xfrm>
          <a:prstGeom prst="rect">
            <a:avLst/>
          </a:prstGeom>
        </p:spPr>
      </p:pic>
      <p:sp>
        <p:nvSpPr>
          <p:cNvPr id="31" name="Text 20"/>
          <p:cNvSpPr txBox="1"/>
          <p:nvPr/>
        </p:nvSpPr>
        <p:spPr>
          <a:xfrm>
            <a:off x="731520" y="347472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الساعة المركزية</a:t>
            </a:r>
            <a:endParaRPr lang="ar-SA" sz="1300" dirty="0"/>
          </a:p>
        </p:txBody>
      </p:sp>
      <p:sp>
        <p:nvSpPr>
          <p:cNvPr id="32" name="Shape 21"/>
          <p:cNvSpPr/>
          <p:nvPr/>
        </p:nvSpPr>
        <p:spPr>
          <a:xfrm>
            <a:off x="6160541" y="4526280"/>
            <a:ext cx="1687754" cy="1783080"/>
          </a:xfrm>
          <a:prstGeom prst="rect">
            <a:avLst/>
          </a:prstGeom>
          <a:solidFill>
            <a:srgbClr val="182131">
              <a:alpha val="92000"/>
            </a:srgbClr>
          </a:solidFill>
          <a:ln w="9525">
            <a:solidFill>
              <a:srgbClr val="2A3547"/>
            </a:solidFill>
            <a:prstDash val="solid"/>
          </a:ln>
        </p:spPr>
      </p:sp>
      <p:pic>
        <p:nvPicPr>
          <p:cNvPr id="33" name="Image 9" descr="preencoded.png">    </p:cNvPr>
          <p:cNvPicPr>
            <a:picLocks noChangeAspect="1"/>
          </p:cNvPicPr>
          <p:nvPr/>
        </p:nvPicPr>
        <p:blipFill>
          <a:blip r:embed="rId10"/>
          <a:stretch>
            <a:fillRect/>
          </a:stretch>
        </p:blipFill>
        <p:spPr>
          <a:xfrm>
            <a:off x="7162495" y="4800600"/>
            <a:ext cx="457200" cy="457200"/>
          </a:xfrm>
          <a:prstGeom prst="rect">
            <a:avLst/>
          </a:prstGeom>
        </p:spPr>
      </p:pic>
      <p:sp>
        <p:nvSpPr>
          <p:cNvPr id="34" name="Text 22"/>
          <p:cNvSpPr txBox="1"/>
          <p:nvPr/>
        </p:nvSpPr>
        <p:spPr>
          <a:xfrm>
            <a:off x="6343421" y="544068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نظام إدارة المباني (BMS)</a:t>
            </a:r>
            <a:endParaRPr lang="ar-SA" sz="1300" dirty="0"/>
          </a:p>
        </p:txBody>
      </p:sp>
      <p:sp>
        <p:nvSpPr>
          <p:cNvPr id="35" name="Shape 23"/>
          <p:cNvSpPr/>
          <p:nvPr/>
        </p:nvSpPr>
        <p:spPr>
          <a:xfrm>
            <a:off x="4289908" y="4526280"/>
            <a:ext cx="1687754" cy="1783080"/>
          </a:xfrm>
          <a:prstGeom prst="rect">
            <a:avLst/>
          </a:prstGeom>
          <a:solidFill>
            <a:srgbClr val="182131">
              <a:alpha val="92000"/>
            </a:srgbClr>
          </a:solidFill>
          <a:ln w="9525">
            <a:solidFill>
              <a:srgbClr val="2A3547"/>
            </a:solidFill>
            <a:prstDash val="solid"/>
          </a:ln>
        </p:spPr>
      </p:sp>
      <p:pic>
        <p:nvPicPr>
          <p:cNvPr id="36" name="Image 10" descr="preencoded.png">    </p:cNvPr>
          <p:cNvPicPr>
            <a:picLocks noChangeAspect="1"/>
          </p:cNvPicPr>
          <p:nvPr/>
        </p:nvPicPr>
        <p:blipFill>
          <a:blip r:embed="rId11"/>
          <a:stretch>
            <a:fillRect/>
          </a:stretch>
        </p:blipFill>
        <p:spPr>
          <a:xfrm>
            <a:off x="5291861" y="4800600"/>
            <a:ext cx="457200" cy="457200"/>
          </a:xfrm>
          <a:prstGeom prst="rect">
            <a:avLst/>
          </a:prstGeom>
        </p:spPr>
      </p:pic>
      <p:sp>
        <p:nvSpPr>
          <p:cNvPr id="37" name="Text 24"/>
          <p:cNvSpPr txBox="1"/>
          <p:nvPr/>
        </p:nvSpPr>
        <p:spPr>
          <a:xfrm>
            <a:off x="4472788" y="544068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IPTV والصوت والصورة</a:t>
            </a:r>
            <a:endParaRPr lang="ar-SA" sz="1300" dirty="0"/>
          </a:p>
        </p:txBody>
      </p:sp>
      <p:sp>
        <p:nvSpPr>
          <p:cNvPr id="38" name="Shape 25"/>
          <p:cNvSpPr/>
          <p:nvPr/>
        </p:nvSpPr>
        <p:spPr>
          <a:xfrm>
            <a:off x="2419274" y="4526280"/>
            <a:ext cx="1687754" cy="1783080"/>
          </a:xfrm>
          <a:prstGeom prst="rect">
            <a:avLst/>
          </a:prstGeom>
          <a:solidFill>
            <a:srgbClr val="182131">
              <a:alpha val="92000"/>
            </a:srgbClr>
          </a:solidFill>
          <a:ln w="9525">
            <a:solidFill>
              <a:srgbClr val="2A3547"/>
            </a:solidFill>
            <a:prstDash val="solid"/>
          </a:ln>
        </p:spPr>
      </p:sp>
      <p:pic>
        <p:nvPicPr>
          <p:cNvPr id="39" name="Image 11" descr="preencoded.png">    </p:cNvPr>
          <p:cNvPicPr>
            <a:picLocks noChangeAspect="1"/>
          </p:cNvPicPr>
          <p:nvPr/>
        </p:nvPicPr>
        <p:blipFill>
          <a:blip r:embed="rId12"/>
          <a:stretch>
            <a:fillRect/>
          </a:stretch>
        </p:blipFill>
        <p:spPr>
          <a:xfrm>
            <a:off x="3421228" y="4800600"/>
            <a:ext cx="457200" cy="457200"/>
          </a:xfrm>
          <a:prstGeom prst="rect">
            <a:avLst/>
          </a:prstGeom>
        </p:spPr>
      </p:pic>
      <p:sp>
        <p:nvSpPr>
          <p:cNvPr id="40" name="Text 26"/>
          <p:cNvSpPr txBox="1"/>
          <p:nvPr/>
        </p:nvSpPr>
        <p:spPr>
          <a:xfrm>
            <a:off x="2602154" y="544068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Segoe UI" pitchFamily="34" charset="0"/>
                <a:ea typeface="Segoe UI" pitchFamily="34" charset="-122"/>
                <a:cs typeface="Segoe UI" pitchFamily="34" charset="-120"/>
              </a:rPr>
              <a:t>أنظمة الاتصال الداخلي</a:t>
            </a:r>
            <a:endParaRPr lang="ar-SA" sz="1300" dirty="0"/>
          </a:p>
        </p:txBody>
      </p:sp>
      <p:sp>
        <p:nvSpPr>
          <p:cNvPr id="41" name="Shape 27"/>
          <p:cNvSpPr/>
          <p:nvPr/>
        </p:nvSpPr>
        <p:spPr>
          <a:xfrm>
            <a:off x="548640" y="4526280"/>
            <a:ext cx="1687754" cy="1783080"/>
          </a:xfrm>
          <a:prstGeom prst="rect">
            <a:avLst/>
          </a:prstGeom>
          <a:solidFill>
            <a:srgbClr val="2DB8E0"/>
          </a:solidFill>
          <a:ln w="12700">
            <a:solidFill>
              <a:srgbClr val="2DB8E0"/>
            </a:solidFill>
            <a:prstDash val="solid"/>
          </a:ln>
        </p:spPr>
      </p:sp>
      <p:sp>
        <p:nvSpPr>
          <p:cNvPr id="42" name="Text 28"/>
          <p:cNvSpPr txBox="1"/>
          <p:nvPr/>
        </p:nvSpPr>
        <p:spPr>
          <a:xfrm>
            <a:off x="777240" y="4709160"/>
            <a:ext cx="1230554" cy="822960"/>
          </a:xfrm>
          <a:prstGeom prst="rect">
            <a:avLst/>
          </a:prstGeom>
          <a:noFill/>
          <a:ln/>
        </p:spPr>
        <p:txBody>
          <a:bodyPr wrap="square" lIns="0" tIns="0" rIns="0" bIns="0" rtlCol="0" anchor="ctr"/>
          <a:lstStyle/>
          <a:p>
            <a:pPr rtl="1" algn="r" indent="0" marL="0">
              <a:buNone/>
            </a:pPr>
            <a:r>
              <a:rPr lang="ar-SA" altLang="en-US" sz="4800" b="1" dirty="0">
                <a:solidFill>
                  <a:srgbClr val="0E1420"/>
                </a:solidFill>
                <a:latin typeface="Consolas" pitchFamily="34" charset="0"/>
                <a:ea typeface="Consolas" pitchFamily="34" charset="-122"/>
                <a:cs typeface="Consolas" pitchFamily="34" charset="-120"/>
              </a:rPr>
              <a:t>11</a:t>
            </a:r>
            <a:endParaRPr lang="ar-SA" sz="4800" dirty="0"/>
          </a:p>
        </p:txBody>
      </p:sp>
      <p:sp>
        <p:nvSpPr>
          <p:cNvPr id="43" name="Text 29"/>
          <p:cNvSpPr txBox="1"/>
          <p:nvPr/>
        </p:nvSpPr>
        <p:spPr>
          <a:xfrm>
            <a:off x="777240" y="5532120"/>
            <a:ext cx="1230554" cy="640080"/>
          </a:xfrm>
          <a:prstGeom prst="rect">
            <a:avLst/>
          </a:prstGeom>
          <a:noFill/>
          <a:ln/>
        </p:spPr>
        <p:txBody>
          <a:bodyPr wrap="square" lIns="0" tIns="0" rIns="0" bIns="0" rtlCol="0" anchor="t"/>
          <a:lstStyle/>
          <a:p>
            <a:pPr rtl="1" algn="r" indent="0" marL="0">
              <a:buNone/>
            </a:pPr>
            <a:r>
              <a:rPr lang="ar-SA" altLang="en-US" sz="1380" b="1" dirty="0">
                <a:solidFill>
                  <a:srgbClr val="0E1420"/>
                </a:solidFill>
                <a:latin typeface="Segoe UI" pitchFamily="34" charset="0"/>
                <a:ea typeface="Segoe UI" pitchFamily="34" charset="-122"/>
                <a:cs typeface="Segoe UI" pitchFamily="34" charset="-120"/>
              </a:rPr>
              <a:t>نظامًا متكاملًا، ومنفّذ واحد</a:t>
            </a:r>
            <a:endParaRPr lang="ar-SA" sz="1380" dirty="0"/>
          </a:p>
        </p:txBody>
      </p:sp>
      <p:sp>
        <p:nvSpPr>
          <p:cNvPr id="44" name="Text 30"/>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980" dirty="0">
                <a:solidFill>
                  <a:srgbClr val="8D97A5"/>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45" name="Text 31"/>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8D97A5"/>
                </a:solidFill>
                <a:latin typeface="Consolas" pitchFamily="34" charset="0"/>
                <a:ea typeface="Consolas" pitchFamily="34" charset="-122"/>
                <a:cs typeface="Consolas" pitchFamily="34" charset="-120"/>
              </a:rPr>
              <a:t>10</a:t>
            </a:r>
            <a:endParaRPr lang="ar-SA"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s_mec.jpg">    </p:cNvPr>
          <p:cNvPicPr>
            <a:picLocks noChangeAspect="1"/>
          </p:cNvPicPr>
          <p:nvPr/>
        </p:nvPicPr>
        <p:blipFill>
          <a:blip r:embed="rId1"/>
          <a:stretch>
            <a:fillRect/>
          </a:stretch>
        </p:blipFill>
        <p:spPr>
          <a:xfrm>
            <a:off x="7253935" y="0"/>
            <a:ext cx="4937760" cy="6858000"/>
          </a:xfrm>
          <a:prstGeom prst="rect">
            <a:avLst/>
          </a:prstGeom>
        </p:spPr>
      </p:pic>
      <p:sp>
        <p:nvSpPr>
          <p:cNvPr id="3" name="Shape 0"/>
          <p:cNvSpPr/>
          <p:nvPr/>
        </p:nvSpPr>
        <p:spPr>
          <a:xfrm>
            <a:off x="6394399" y="603504"/>
            <a:ext cx="310896" cy="146304"/>
          </a:xfrm>
          <a:prstGeom prst="parallelogram">
            <a:avLst/>
          </a:prstGeom>
          <a:solidFill>
            <a:srgbClr val="E5177B"/>
          </a:solidFill>
          <a:ln w="12700">
            <a:solidFill>
              <a:srgbClr val="E5177B"/>
            </a:solidFill>
            <a:prstDash val="solid"/>
          </a:ln>
        </p:spPr>
      </p:sp>
      <p:sp>
        <p:nvSpPr>
          <p:cNvPr id="4" name="Text 1"/>
          <p:cNvSpPr txBox="1"/>
          <p:nvPr/>
        </p:nvSpPr>
        <p:spPr>
          <a:xfrm>
            <a:off x="548640" y="548640"/>
            <a:ext cx="5699455" cy="256032"/>
          </a:xfrm>
          <a:prstGeom prst="rect">
            <a:avLst/>
          </a:prstGeom>
          <a:noFill/>
          <a:ln/>
        </p:spPr>
        <p:txBody>
          <a:bodyPr wrap="square" lIns="0" tIns="0" rIns="0" bIns="0" rtlCol="0" anchor="ctr"/>
          <a:lstStyle/>
          <a:p>
            <a:pPr rtl="1" algn="r" indent="0" marL="0">
              <a:buNone/>
            </a:pPr>
            <a:r>
              <a:rPr lang="ar-SA" altLang="en-US" sz="1260" b="1" dirty="0">
                <a:solidFill>
                  <a:srgbClr val="E5177B"/>
                </a:solidFill>
                <a:latin typeface="Segoe UI" pitchFamily="34" charset="0"/>
                <a:ea typeface="Segoe UI" pitchFamily="34" charset="-122"/>
                <a:cs typeface="Segoe UI" pitchFamily="34" charset="-120"/>
              </a:rPr>
              <a:t>الخدمة 04.6</a:t>
            </a:r>
            <a:endParaRPr lang="ar-SA" sz="1260" dirty="0"/>
          </a:p>
        </p:txBody>
      </p:sp>
      <p:sp>
        <p:nvSpPr>
          <p:cNvPr id="5" name="Text 2"/>
          <p:cNvSpPr txBox="1"/>
          <p:nvPr/>
        </p:nvSpPr>
        <p:spPr>
          <a:xfrm>
            <a:off x="548640" y="896112"/>
            <a:ext cx="6156655" cy="685800"/>
          </a:xfrm>
          <a:prstGeom prst="rect">
            <a:avLst/>
          </a:prstGeom>
          <a:noFill/>
          <a:ln/>
        </p:spPr>
        <p:txBody>
          <a:bodyPr wrap="square" lIns="0" tIns="0" rIns="0" bIns="0" rtlCol="0" anchor="t"/>
          <a:lstStyle/>
          <a:p>
            <a:pPr rtl="1" algn="r" indent="0" marL="0">
              <a:buNone/>
            </a:pPr>
            <a:r>
              <a:rPr lang="ar-SA" altLang="en-US" sz="2700" b="1" dirty="0">
                <a:solidFill>
                  <a:srgbClr val="0E1420"/>
                </a:solidFill>
                <a:latin typeface="Segoe UI" pitchFamily="34" charset="0"/>
                <a:ea typeface="Segoe UI" pitchFamily="34" charset="-122"/>
                <a:cs typeface="Segoe UI" pitchFamily="34" charset="-120"/>
              </a:rPr>
              <a:t>الأعمال الميكانيكية والتكييف</a:t>
            </a:r>
            <a:endParaRPr lang="ar-SA" sz="2700" dirty="0"/>
          </a:p>
        </p:txBody>
      </p:sp>
      <p:sp>
        <p:nvSpPr>
          <p:cNvPr id="6" name="Text 3"/>
          <p:cNvSpPr txBox="1"/>
          <p:nvPr/>
        </p:nvSpPr>
        <p:spPr>
          <a:xfrm>
            <a:off x="548640" y="1627632"/>
            <a:ext cx="6156655"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Segoe UI" pitchFamily="34" charset="0"/>
                <a:ea typeface="Segoe UI" pitchFamily="34" charset="-122"/>
                <a:cs typeface="Segoe UI" pitchFamily="34" charset="-120"/>
              </a:rPr>
              <a:t>أنظمة التبريد ومعالجة الهواء وتوزيعه.</a:t>
            </a:r>
            <a:endParaRPr lang="ar-SA" sz="1500" dirty="0"/>
          </a:p>
        </p:txBody>
      </p:sp>
      <p:sp>
        <p:nvSpPr>
          <p:cNvPr id="7" name="Shape 4"/>
          <p:cNvSpPr/>
          <p:nvPr/>
        </p:nvSpPr>
        <p:spPr>
          <a:xfrm>
            <a:off x="3741268" y="2331720"/>
            <a:ext cx="2964028" cy="1874520"/>
          </a:xfrm>
          <a:prstGeom prst="rect">
            <a:avLst/>
          </a:prstGeom>
          <a:solidFill>
            <a:srgbClr val="F2F4F7"/>
          </a:solidFill>
          <a:ln w="12700">
            <a:solidFill>
              <a:srgbClr val="F2F4F7"/>
            </a:solidFill>
            <a:prstDash val="solid"/>
          </a:ln>
        </p:spPr>
      </p:sp>
      <p:sp>
        <p:nvSpPr>
          <p:cNvPr id="8" name="Shape 5"/>
          <p:cNvSpPr/>
          <p:nvPr/>
        </p:nvSpPr>
        <p:spPr>
          <a:xfrm>
            <a:off x="5772607" y="2606040"/>
            <a:ext cx="658368" cy="658368"/>
          </a:xfrm>
          <a:prstGeom prst="ellipse">
            <a:avLst/>
          </a:prstGeom>
          <a:solidFill>
            <a:srgbClr val="E5177B"/>
          </a:solidFill>
          <a:ln w="12700">
            <a:solidFill>
              <a:srgbClr val="E5177B"/>
            </a:solidFill>
            <a:prstDash val="solid"/>
          </a:ln>
        </p:spPr>
      </p:sp>
      <p:pic>
        <p:nvPicPr>
          <p:cNvPr id="9" name="Image 1" descr="preencoded.png">    </p:cNvPr>
          <p:cNvPicPr>
            <a:picLocks noChangeAspect="1"/>
          </p:cNvPicPr>
          <p:nvPr/>
        </p:nvPicPr>
        <p:blipFill>
          <a:blip r:embed="rId2"/>
          <a:stretch>
            <a:fillRect/>
          </a:stretch>
        </p:blipFill>
        <p:spPr>
          <a:xfrm>
            <a:off x="5909767" y="2743200"/>
            <a:ext cx="384048" cy="384048"/>
          </a:xfrm>
          <a:prstGeom prst="rect">
            <a:avLst/>
          </a:prstGeom>
        </p:spPr>
      </p:pic>
      <p:sp>
        <p:nvSpPr>
          <p:cNvPr id="10" name="Text 6"/>
          <p:cNvSpPr txBox="1"/>
          <p:nvPr/>
        </p:nvSpPr>
        <p:spPr>
          <a:xfrm>
            <a:off x="4015588" y="3429000"/>
            <a:ext cx="2415388" cy="64008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وحدات التبريد (التشيلر) والوحدات المجمّعة</a:t>
            </a:r>
            <a:endParaRPr lang="ar-SA" sz="1500" dirty="0"/>
          </a:p>
        </p:txBody>
      </p:sp>
      <p:sp>
        <p:nvSpPr>
          <p:cNvPr id="11" name="Shape 7"/>
          <p:cNvSpPr/>
          <p:nvPr/>
        </p:nvSpPr>
        <p:spPr>
          <a:xfrm>
            <a:off x="548640" y="2331720"/>
            <a:ext cx="2964028" cy="1874520"/>
          </a:xfrm>
          <a:prstGeom prst="rect">
            <a:avLst/>
          </a:prstGeom>
          <a:solidFill>
            <a:srgbClr val="F2F4F7"/>
          </a:solidFill>
          <a:ln w="12700">
            <a:solidFill>
              <a:srgbClr val="F2F4F7"/>
            </a:solidFill>
            <a:prstDash val="solid"/>
          </a:ln>
        </p:spPr>
      </p:sp>
      <p:sp>
        <p:nvSpPr>
          <p:cNvPr id="12" name="Shape 8"/>
          <p:cNvSpPr/>
          <p:nvPr/>
        </p:nvSpPr>
        <p:spPr>
          <a:xfrm>
            <a:off x="2579980" y="2606040"/>
            <a:ext cx="658368" cy="658368"/>
          </a:xfrm>
          <a:prstGeom prst="ellipse">
            <a:avLst/>
          </a:prstGeom>
          <a:solidFill>
            <a:srgbClr val="2DB8E0"/>
          </a:solidFill>
          <a:ln w="12700">
            <a:solidFill>
              <a:srgbClr val="2DB8E0"/>
            </a:solidFill>
            <a:prstDash val="solid"/>
          </a:ln>
        </p:spPr>
      </p:sp>
      <p:pic>
        <p:nvPicPr>
          <p:cNvPr id="13" name="Image 2" descr="preencoded.png">    </p:cNvPr>
          <p:cNvPicPr>
            <a:picLocks noChangeAspect="1"/>
          </p:cNvPicPr>
          <p:nvPr/>
        </p:nvPicPr>
        <p:blipFill>
          <a:blip r:embed="rId3"/>
          <a:stretch>
            <a:fillRect/>
          </a:stretch>
        </p:blipFill>
        <p:spPr>
          <a:xfrm>
            <a:off x="2717140" y="2743200"/>
            <a:ext cx="384048" cy="384048"/>
          </a:xfrm>
          <a:prstGeom prst="rect">
            <a:avLst/>
          </a:prstGeom>
        </p:spPr>
      </p:pic>
      <p:sp>
        <p:nvSpPr>
          <p:cNvPr id="14" name="Text 9"/>
          <p:cNvSpPr txBox="1"/>
          <p:nvPr/>
        </p:nvSpPr>
        <p:spPr>
          <a:xfrm>
            <a:off x="822960" y="3429000"/>
            <a:ext cx="2415388" cy="64008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وحدات ملفات المراوح ومناولة الهواء (FCU / AHU)</a:t>
            </a:r>
            <a:endParaRPr lang="ar-SA" sz="1500" dirty="0"/>
          </a:p>
        </p:txBody>
      </p:sp>
      <p:sp>
        <p:nvSpPr>
          <p:cNvPr id="15" name="Shape 10"/>
          <p:cNvSpPr/>
          <p:nvPr/>
        </p:nvSpPr>
        <p:spPr>
          <a:xfrm>
            <a:off x="3741268" y="4434840"/>
            <a:ext cx="2964028" cy="1874520"/>
          </a:xfrm>
          <a:prstGeom prst="rect">
            <a:avLst/>
          </a:prstGeom>
          <a:solidFill>
            <a:srgbClr val="F2F4F7"/>
          </a:solidFill>
          <a:ln w="12700">
            <a:solidFill>
              <a:srgbClr val="F2F4F7"/>
            </a:solidFill>
            <a:prstDash val="solid"/>
          </a:ln>
        </p:spPr>
      </p:sp>
      <p:sp>
        <p:nvSpPr>
          <p:cNvPr id="16" name="Shape 11"/>
          <p:cNvSpPr/>
          <p:nvPr/>
        </p:nvSpPr>
        <p:spPr>
          <a:xfrm>
            <a:off x="5772607" y="4709160"/>
            <a:ext cx="658368" cy="658368"/>
          </a:xfrm>
          <a:prstGeom prst="ellipse">
            <a:avLst/>
          </a:prstGeom>
          <a:solidFill>
            <a:srgbClr val="FBBA16"/>
          </a:solidFill>
          <a:ln w="12700">
            <a:solidFill>
              <a:srgbClr val="FBBA16"/>
            </a:solidFill>
            <a:prstDash val="solid"/>
          </a:ln>
        </p:spPr>
      </p:sp>
      <p:pic>
        <p:nvPicPr>
          <p:cNvPr id="17" name="Image 3" descr="preencoded.png">    </p:cNvPr>
          <p:cNvPicPr>
            <a:picLocks noChangeAspect="1"/>
          </p:cNvPicPr>
          <p:nvPr/>
        </p:nvPicPr>
        <p:blipFill>
          <a:blip r:embed="rId4"/>
          <a:stretch>
            <a:fillRect/>
          </a:stretch>
        </p:blipFill>
        <p:spPr>
          <a:xfrm>
            <a:off x="5909767" y="4846320"/>
            <a:ext cx="384048" cy="384048"/>
          </a:xfrm>
          <a:prstGeom prst="rect">
            <a:avLst/>
          </a:prstGeom>
        </p:spPr>
      </p:pic>
      <p:sp>
        <p:nvSpPr>
          <p:cNvPr id="18" name="Text 12"/>
          <p:cNvSpPr txBox="1"/>
          <p:nvPr/>
        </p:nvSpPr>
        <p:spPr>
          <a:xfrm>
            <a:off x="4015588" y="5532120"/>
            <a:ext cx="2415388" cy="64008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مجاري الهواء والفتحات</a:t>
            </a:r>
            <a:endParaRPr lang="ar-SA" sz="1500" dirty="0"/>
          </a:p>
        </p:txBody>
      </p:sp>
      <p:sp>
        <p:nvSpPr>
          <p:cNvPr id="19" name="Shape 13"/>
          <p:cNvSpPr/>
          <p:nvPr/>
        </p:nvSpPr>
        <p:spPr>
          <a:xfrm>
            <a:off x="548640" y="4434840"/>
            <a:ext cx="2964028" cy="1874520"/>
          </a:xfrm>
          <a:prstGeom prst="rect">
            <a:avLst/>
          </a:prstGeom>
          <a:solidFill>
            <a:srgbClr val="F2F4F7"/>
          </a:solidFill>
          <a:ln w="12700">
            <a:solidFill>
              <a:srgbClr val="F2F4F7"/>
            </a:solidFill>
            <a:prstDash val="solid"/>
          </a:ln>
        </p:spPr>
      </p:sp>
      <p:sp>
        <p:nvSpPr>
          <p:cNvPr id="20" name="Shape 14"/>
          <p:cNvSpPr/>
          <p:nvPr/>
        </p:nvSpPr>
        <p:spPr>
          <a:xfrm>
            <a:off x="2579980" y="4709160"/>
            <a:ext cx="658368" cy="658368"/>
          </a:xfrm>
          <a:prstGeom prst="ellipse">
            <a:avLst/>
          </a:prstGeom>
          <a:solidFill>
            <a:srgbClr val="5B54A4"/>
          </a:solidFill>
          <a:ln w="12700">
            <a:solidFill>
              <a:srgbClr val="5B54A4"/>
            </a:solidFill>
            <a:prstDash val="solid"/>
          </a:ln>
        </p:spPr>
      </p:sp>
      <p:pic>
        <p:nvPicPr>
          <p:cNvPr id="21" name="Image 4" descr="preencoded.png">    </p:cNvPr>
          <p:cNvPicPr>
            <a:picLocks noChangeAspect="1"/>
          </p:cNvPicPr>
          <p:nvPr/>
        </p:nvPicPr>
        <p:blipFill>
          <a:blip r:embed="rId5"/>
          <a:stretch>
            <a:fillRect/>
          </a:stretch>
        </p:blipFill>
        <p:spPr>
          <a:xfrm>
            <a:off x="2717140" y="4846320"/>
            <a:ext cx="384048" cy="384048"/>
          </a:xfrm>
          <a:prstGeom prst="rect">
            <a:avLst/>
          </a:prstGeom>
        </p:spPr>
      </p:pic>
      <p:sp>
        <p:nvSpPr>
          <p:cNvPr id="22" name="Text 15"/>
          <p:cNvSpPr txBox="1"/>
          <p:nvPr/>
        </p:nvSpPr>
        <p:spPr>
          <a:xfrm>
            <a:off x="822960" y="5532120"/>
            <a:ext cx="2415388" cy="64008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أنابيب المياه الباردة والساخنة</a:t>
            </a:r>
            <a:endParaRPr lang="ar-SA" sz="1500" dirty="0"/>
          </a:p>
        </p:txBody>
      </p:sp>
      <p:sp>
        <p:nvSpPr>
          <p:cNvPr id="23" name="Text 16"/>
          <p:cNvSpPr txBox="1"/>
          <p:nvPr/>
        </p:nvSpPr>
        <p:spPr>
          <a:xfrm>
            <a:off x="1097280" y="6446520"/>
            <a:ext cx="5608015"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24" name="Text 17"/>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11</a:t>
            </a:r>
            <a:endParaRPr lang="ar-SA"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s_plu.jpg">    </p:cNvPr>
          <p:cNvPicPr>
            <a:picLocks noChangeAspect="1"/>
          </p:cNvPicPr>
          <p:nvPr/>
        </p:nvPicPr>
        <p:blipFill>
          <a:blip r:embed="rId1"/>
          <a:stretch>
            <a:fillRect/>
          </a:stretch>
        </p:blipFill>
        <p:spPr>
          <a:xfrm>
            <a:off x="0" y="0"/>
            <a:ext cx="4572000" cy="6858000"/>
          </a:xfrm>
          <a:prstGeom prst="rect">
            <a:avLst/>
          </a:prstGeom>
        </p:spPr>
      </p:pic>
      <p:sp>
        <p:nvSpPr>
          <p:cNvPr id="3" name="Shape 0"/>
          <p:cNvSpPr/>
          <p:nvPr/>
        </p:nvSpPr>
        <p:spPr>
          <a:xfrm>
            <a:off x="11332159" y="603504"/>
            <a:ext cx="310896" cy="146304"/>
          </a:xfrm>
          <a:prstGeom prst="parallelogram">
            <a:avLst/>
          </a:prstGeom>
          <a:solidFill>
            <a:srgbClr val="2DB8E0"/>
          </a:solidFill>
          <a:ln w="12700">
            <a:solidFill>
              <a:srgbClr val="2DB8E0"/>
            </a:solidFill>
            <a:prstDash val="solid"/>
          </a:ln>
        </p:spPr>
      </p:sp>
      <p:sp>
        <p:nvSpPr>
          <p:cNvPr id="4" name="Text 1"/>
          <p:cNvSpPr txBox="1"/>
          <p:nvPr/>
        </p:nvSpPr>
        <p:spPr>
          <a:xfrm>
            <a:off x="5150815" y="548640"/>
            <a:ext cx="6035040" cy="256032"/>
          </a:xfrm>
          <a:prstGeom prst="rect">
            <a:avLst/>
          </a:prstGeom>
          <a:noFill/>
          <a:ln/>
        </p:spPr>
        <p:txBody>
          <a:bodyPr wrap="square" lIns="0" tIns="0" rIns="0" bIns="0" rtlCol="0" anchor="ctr"/>
          <a:lstStyle/>
          <a:p>
            <a:pPr rtl="1" algn="r" indent="0" marL="0">
              <a:buNone/>
            </a:pPr>
            <a:r>
              <a:rPr lang="ar-SA" altLang="en-US" sz="1260" b="1" dirty="0">
                <a:solidFill>
                  <a:srgbClr val="1A93B8"/>
                </a:solidFill>
                <a:latin typeface="Segoe UI" pitchFamily="34" charset="0"/>
                <a:ea typeface="Segoe UI" pitchFamily="34" charset="-122"/>
                <a:cs typeface="Segoe UI" pitchFamily="34" charset="-120"/>
              </a:rPr>
              <a:t>الخدمة 04.7</a:t>
            </a:r>
            <a:endParaRPr lang="ar-SA" sz="1260" dirty="0"/>
          </a:p>
        </p:txBody>
      </p:sp>
      <p:sp>
        <p:nvSpPr>
          <p:cNvPr id="5" name="Text 2"/>
          <p:cNvSpPr txBox="1"/>
          <p:nvPr/>
        </p:nvSpPr>
        <p:spPr>
          <a:xfrm>
            <a:off x="5150815" y="896112"/>
            <a:ext cx="6492240" cy="685800"/>
          </a:xfrm>
          <a:prstGeom prst="rect">
            <a:avLst/>
          </a:prstGeom>
          <a:noFill/>
          <a:ln/>
        </p:spPr>
        <p:txBody>
          <a:bodyPr wrap="square" lIns="0" tIns="0" rIns="0" bIns="0" rtlCol="0" anchor="t"/>
          <a:lstStyle/>
          <a:p>
            <a:pPr rtl="1" algn="r" indent="0" marL="0">
              <a:buNone/>
            </a:pPr>
            <a:r>
              <a:rPr lang="ar-SA" altLang="en-US" sz="3000" b="1" dirty="0">
                <a:solidFill>
                  <a:srgbClr val="0E1420"/>
                </a:solidFill>
                <a:latin typeface="Segoe UI" pitchFamily="34" charset="0"/>
                <a:ea typeface="Segoe UI" pitchFamily="34" charset="-122"/>
                <a:cs typeface="Segoe UI" pitchFamily="34" charset="-120"/>
              </a:rPr>
              <a:t>السباكة ومكافحة الحريق</a:t>
            </a:r>
            <a:endParaRPr lang="ar-SA" sz="3000" dirty="0"/>
          </a:p>
        </p:txBody>
      </p:sp>
      <p:sp>
        <p:nvSpPr>
          <p:cNvPr id="6" name="Text 3"/>
          <p:cNvSpPr txBox="1"/>
          <p:nvPr/>
        </p:nvSpPr>
        <p:spPr>
          <a:xfrm>
            <a:off x="5150815" y="1627632"/>
            <a:ext cx="6492240"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Segoe UI" pitchFamily="34" charset="0"/>
                <a:ea typeface="Segoe UI" pitchFamily="34" charset="-122"/>
                <a:cs typeface="Segoe UI" pitchFamily="34" charset="-120"/>
              </a:rPr>
              <a:t>شبكات تغذية المياه والصرف الصحي ومكافحة الحريق.</a:t>
            </a:r>
            <a:endParaRPr lang="ar-SA" sz="1500" dirty="0"/>
          </a:p>
        </p:txBody>
      </p:sp>
      <p:sp>
        <p:nvSpPr>
          <p:cNvPr id="7" name="Shape 4"/>
          <p:cNvSpPr/>
          <p:nvPr/>
        </p:nvSpPr>
        <p:spPr>
          <a:xfrm>
            <a:off x="11076127" y="2377440"/>
            <a:ext cx="566928" cy="566928"/>
          </a:xfrm>
          <a:prstGeom prst="ellipse">
            <a:avLst/>
          </a:prstGeom>
          <a:solidFill>
            <a:srgbClr val="2DB8E0"/>
          </a:solidFill>
          <a:ln w="12700">
            <a:solidFill>
              <a:srgbClr val="2DB8E0"/>
            </a:solidFill>
            <a:prstDash val="solid"/>
          </a:ln>
        </p:spPr>
      </p:sp>
      <p:pic>
        <p:nvPicPr>
          <p:cNvPr id="8" name="Image 1" descr="preencoded.png">    </p:cNvPr>
          <p:cNvPicPr>
            <a:picLocks noChangeAspect="1"/>
          </p:cNvPicPr>
          <p:nvPr/>
        </p:nvPicPr>
        <p:blipFill>
          <a:blip r:embed="rId2"/>
          <a:stretch>
            <a:fillRect/>
          </a:stretch>
        </p:blipFill>
        <p:spPr>
          <a:xfrm>
            <a:off x="11194999" y="2496312"/>
            <a:ext cx="329184" cy="329184"/>
          </a:xfrm>
          <a:prstGeom prst="rect">
            <a:avLst/>
          </a:prstGeom>
        </p:spPr>
      </p:pic>
      <p:sp>
        <p:nvSpPr>
          <p:cNvPr id="9" name="Text 5"/>
          <p:cNvSpPr txBox="1"/>
          <p:nvPr/>
        </p:nvSpPr>
        <p:spPr>
          <a:xfrm>
            <a:off x="8579815" y="2377440"/>
            <a:ext cx="2331720" cy="566928"/>
          </a:xfrm>
          <a:prstGeom prst="rect">
            <a:avLst/>
          </a:prstGeom>
          <a:noFill/>
          <a:ln/>
        </p:spPr>
        <p:txBody>
          <a:bodyPr wrap="square" lIns="0" tIns="0" rIns="0" bIns="0" rtlCol="0" anchor="ctr"/>
          <a:lstStyle/>
          <a:p>
            <a:pPr rtl="1" algn="r" indent="0" marL="0">
              <a:buNone/>
            </a:pPr>
            <a:r>
              <a:rPr lang="ar-SA" altLang="en-US" sz="1900" b="1" dirty="0">
                <a:solidFill>
                  <a:srgbClr val="0E1420"/>
                </a:solidFill>
                <a:latin typeface="Segoe UI" pitchFamily="34" charset="0"/>
                <a:ea typeface="Segoe UI" pitchFamily="34" charset="-122"/>
                <a:cs typeface="Segoe UI" pitchFamily="34" charset="-120"/>
              </a:rPr>
              <a:t>السباكة</a:t>
            </a:r>
            <a:endParaRPr lang="ar-SA" sz="1900" dirty="0"/>
          </a:p>
        </p:txBody>
      </p:sp>
      <p:sp>
        <p:nvSpPr>
          <p:cNvPr id="10" name="Shape 6"/>
          <p:cNvSpPr/>
          <p:nvPr/>
        </p:nvSpPr>
        <p:spPr>
          <a:xfrm>
            <a:off x="11405311" y="3282696"/>
            <a:ext cx="237744" cy="100584"/>
          </a:xfrm>
          <a:prstGeom prst="parallelogram">
            <a:avLst/>
          </a:prstGeom>
          <a:solidFill>
            <a:srgbClr val="2DB8E0"/>
          </a:solidFill>
          <a:ln w="12700">
            <a:solidFill>
              <a:srgbClr val="2DB8E0"/>
            </a:solidFill>
            <a:prstDash val="solid"/>
          </a:ln>
        </p:spPr>
      </p:sp>
      <p:sp>
        <p:nvSpPr>
          <p:cNvPr id="11" name="Text 7"/>
          <p:cNvSpPr txBox="1"/>
          <p:nvPr/>
        </p:nvSpPr>
        <p:spPr>
          <a:xfrm>
            <a:off x="8579815" y="3200400"/>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Segoe UI" pitchFamily="34" charset="0"/>
                <a:ea typeface="Segoe UI" pitchFamily="34" charset="-122"/>
                <a:cs typeface="Segoe UI" pitchFamily="34" charset="-120"/>
              </a:rPr>
              <a:t>التركيبات الصحية</a:t>
            </a:r>
            <a:endParaRPr lang="ar-SA" sz="1450" dirty="0"/>
          </a:p>
        </p:txBody>
      </p:sp>
      <p:sp>
        <p:nvSpPr>
          <p:cNvPr id="12" name="Shape 8"/>
          <p:cNvSpPr/>
          <p:nvPr/>
        </p:nvSpPr>
        <p:spPr>
          <a:xfrm>
            <a:off x="8579815" y="3785616"/>
            <a:ext cx="3063240" cy="0"/>
          </a:xfrm>
          <a:prstGeom prst="line">
            <a:avLst/>
          </a:prstGeom>
          <a:noFill/>
          <a:ln w="9525">
            <a:solidFill>
              <a:srgbClr val="DDE1E6"/>
            </a:solidFill>
            <a:prstDash val="solid"/>
          </a:ln>
        </p:spPr>
      </p:sp>
      <p:sp>
        <p:nvSpPr>
          <p:cNvPr id="13" name="Shape 9"/>
          <p:cNvSpPr/>
          <p:nvPr/>
        </p:nvSpPr>
        <p:spPr>
          <a:xfrm>
            <a:off x="11405311" y="3995928"/>
            <a:ext cx="237744" cy="100584"/>
          </a:xfrm>
          <a:prstGeom prst="parallelogram">
            <a:avLst/>
          </a:prstGeom>
          <a:solidFill>
            <a:srgbClr val="2DB8E0"/>
          </a:solidFill>
          <a:ln w="12700">
            <a:solidFill>
              <a:srgbClr val="2DB8E0"/>
            </a:solidFill>
            <a:prstDash val="solid"/>
          </a:ln>
        </p:spPr>
      </p:sp>
      <p:sp>
        <p:nvSpPr>
          <p:cNvPr id="14" name="Text 10"/>
          <p:cNvSpPr txBox="1"/>
          <p:nvPr/>
        </p:nvSpPr>
        <p:spPr>
          <a:xfrm>
            <a:off x="8579815" y="3913632"/>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Segoe UI" pitchFamily="34" charset="0"/>
                <a:ea typeface="Segoe UI" pitchFamily="34" charset="-122"/>
                <a:cs typeface="Segoe UI" pitchFamily="34" charset="-120"/>
              </a:rPr>
              <a:t>أنابيب المياه الباردة والساخنة</a:t>
            </a:r>
            <a:endParaRPr lang="ar-SA" sz="1450" dirty="0"/>
          </a:p>
        </p:txBody>
      </p:sp>
      <p:sp>
        <p:nvSpPr>
          <p:cNvPr id="15" name="Shape 11"/>
          <p:cNvSpPr/>
          <p:nvPr/>
        </p:nvSpPr>
        <p:spPr>
          <a:xfrm>
            <a:off x="8579815" y="4498848"/>
            <a:ext cx="3063240" cy="0"/>
          </a:xfrm>
          <a:prstGeom prst="line">
            <a:avLst/>
          </a:prstGeom>
          <a:noFill/>
          <a:ln w="9525">
            <a:solidFill>
              <a:srgbClr val="DDE1E6"/>
            </a:solidFill>
            <a:prstDash val="solid"/>
          </a:ln>
        </p:spPr>
      </p:sp>
      <p:sp>
        <p:nvSpPr>
          <p:cNvPr id="16" name="Shape 12"/>
          <p:cNvSpPr/>
          <p:nvPr/>
        </p:nvSpPr>
        <p:spPr>
          <a:xfrm>
            <a:off x="11405311" y="4709160"/>
            <a:ext cx="237744" cy="100584"/>
          </a:xfrm>
          <a:prstGeom prst="parallelogram">
            <a:avLst/>
          </a:prstGeom>
          <a:solidFill>
            <a:srgbClr val="2DB8E0"/>
          </a:solidFill>
          <a:ln w="12700">
            <a:solidFill>
              <a:srgbClr val="2DB8E0"/>
            </a:solidFill>
            <a:prstDash val="solid"/>
          </a:ln>
        </p:spPr>
      </p:sp>
      <p:sp>
        <p:nvSpPr>
          <p:cNvPr id="17" name="Text 13"/>
          <p:cNvSpPr txBox="1"/>
          <p:nvPr/>
        </p:nvSpPr>
        <p:spPr>
          <a:xfrm>
            <a:off x="8579815" y="4626864"/>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Segoe UI" pitchFamily="34" charset="0"/>
                <a:ea typeface="Segoe UI" pitchFamily="34" charset="-122"/>
                <a:cs typeface="Segoe UI" pitchFamily="34" charset="-120"/>
              </a:rPr>
              <a:t>مضخات المياه والمضخات الغاطسة</a:t>
            </a:r>
            <a:endParaRPr lang="ar-SA" sz="1450" dirty="0"/>
          </a:p>
        </p:txBody>
      </p:sp>
      <p:sp>
        <p:nvSpPr>
          <p:cNvPr id="18" name="Shape 14"/>
          <p:cNvSpPr/>
          <p:nvPr/>
        </p:nvSpPr>
        <p:spPr>
          <a:xfrm>
            <a:off x="8579815" y="5212080"/>
            <a:ext cx="3063240" cy="0"/>
          </a:xfrm>
          <a:prstGeom prst="line">
            <a:avLst/>
          </a:prstGeom>
          <a:noFill/>
          <a:ln w="9525">
            <a:solidFill>
              <a:srgbClr val="DDE1E6"/>
            </a:solidFill>
            <a:prstDash val="solid"/>
          </a:ln>
        </p:spPr>
      </p:sp>
      <p:sp>
        <p:nvSpPr>
          <p:cNvPr id="19" name="Shape 15"/>
          <p:cNvSpPr/>
          <p:nvPr/>
        </p:nvSpPr>
        <p:spPr>
          <a:xfrm>
            <a:off x="11405311" y="5422392"/>
            <a:ext cx="237744" cy="100584"/>
          </a:xfrm>
          <a:prstGeom prst="parallelogram">
            <a:avLst/>
          </a:prstGeom>
          <a:solidFill>
            <a:srgbClr val="2DB8E0"/>
          </a:solidFill>
          <a:ln w="12700">
            <a:solidFill>
              <a:srgbClr val="2DB8E0"/>
            </a:solidFill>
            <a:prstDash val="solid"/>
          </a:ln>
        </p:spPr>
      </p:sp>
      <p:sp>
        <p:nvSpPr>
          <p:cNvPr id="20" name="Text 16"/>
          <p:cNvSpPr txBox="1"/>
          <p:nvPr/>
        </p:nvSpPr>
        <p:spPr>
          <a:xfrm>
            <a:off x="8579815" y="5340096"/>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Segoe UI" pitchFamily="34" charset="0"/>
                <a:ea typeface="Segoe UI" pitchFamily="34" charset="-122"/>
                <a:cs typeface="Segoe UI" pitchFamily="34" charset="-120"/>
              </a:rPr>
              <a:t>أنابيب الصرف الصحي</a:t>
            </a:r>
            <a:endParaRPr lang="ar-SA" sz="1450" dirty="0"/>
          </a:p>
        </p:txBody>
      </p:sp>
      <p:sp>
        <p:nvSpPr>
          <p:cNvPr id="21" name="Shape 17"/>
          <p:cNvSpPr/>
          <p:nvPr/>
        </p:nvSpPr>
        <p:spPr>
          <a:xfrm>
            <a:off x="8579815" y="5925312"/>
            <a:ext cx="3063240" cy="0"/>
          </a:xfrm>
          <a:prstGeom prst="line">
            <a:avLst/>
          </a:prstGeom>
          <a:noFill/>
          <a:ln w="9525">
            <a:solidFill>
              <a:srgbClr val="DDE1E6"/>
            </a:solidFill>
            <a:prstDash val="solid"/>
          </a:ln>
        </p:spPr>
      </p:sp>
      <p:sp>
        <p:nvSpPr>
          <p:cNvPr id="22" name="Shape 18"/>
          <p:cNvSpPr/>
          <p:nvPr/>
        </p:nvSpPr>
        <p:spPr>
          <a:xfrm>
            <a:off x="7647127" y="2377440"/>
            <a:ext cx="566928" cy="566928"/>
          </a:xfrm>
          <a:prstGeom prst="ellipse">
            <a:avLst/>
          </a:prstGeom>
          <a:solidFill>
            <a:srgbClr val="E5177B"/>
          </a:solidFill>
          <a:ln w="12700">
            <a:solidFill>
              <a:srgbClr val="E5177B"/>
            </a:solidFill>
            <a:prstDash val="solid"/>
          </a:ln>
        </p:spPr>
      </p:sp>
      <p:pic>
        <p:nvPicPr>
          <p:cNvPr id="23" name="Image 2" descr="preencoded.png">    </p:cNvPr>
          <p:cNvPicPr>
            <a:picLocks noChangeAspect="1"/>
          </p:cNvPicPr>
          <p:nvPr/>
        </p:nvPicPr>
        <p:blipFill>
          <a:blip r:embed="rId3"/>
          <a:stretch>
            <a:fillRect/>
          </a:stretch>
        </p:blipFill>
        <p:spPr>
          <a:xfrm>
            <a:off x="7765999" y="2496312"/>
            <a:ext cx="329184" cy="329184"/>
          </a:xfrm>
          <a:prstGeom prst="rect">
            <a:avLst/>
          </a:prstGeom>
        </p:spPr>
      </p:pic>
      <p:sp>
        <p:nvSpPr>
          <p:cNvPr id="24" name="Text 19"/>
          <p:cNvSpPr txBox="1"/>
          <p:nvPr/>
        </p:nvSpPr>
        <p:spPr>
          <a:xfrm>
            <a:off x="5150815" y="2377440"/>
            <a:ext cx="2331720" cy="566928"/>
          </a:xfrm>
          <a:prstGeom prst="rect">
            <a:avLst/>
          </a:prstGeom>
          <a:noFill/>
          <a:ln/>
        </p:spPr>
        <p:txBody>
          <a:bodyPr wrap="square" lIns="0" tIns="0" rIns="0" bIns="0" rtlCol="0" anchor="ctr"/>
          <a:lstStyle/>
          <a:p>
            <a:pPr rtl="1" algn="r" indent="0" marL="0">
              <a:buNone/>
            </a:pPr>
            <a:r>
              <a:rPr lang="ar-SA" altLang="en-US" sz="1900" b="1" dirty="0">
                <a:solidFill>
                  <a:srgbClr val="0E1420"/>
                </a:solidFill>
                <a:latin typeface="Segoe UI" pitchFamily="34" charset="0"/>
                <a:ea typeface="Segoe UI" pitchFamily="34" charset="-122"/>
                <a:cs typeface="Segoe UI" pitchFamily="34" charset="-120"/>
              </a:rPr>
              <a:t>مكافحة الحريق</a:t>
            </a:r>
            <a:endParaRPr lang="ar-SA" sz="1900" dirty="0"/>
          </a:p>
        </p:txBody>
      </p:sp>
      <p:sp>
        <p:nvSpPr>
          <p:cNvPr id="25" name="Shape 20"/>
          <p:cNvSpPr/>
          <p:nvPr/>
        </p:nvSpPr>
        <p:spPr>
          <a:xfrm>
            <a:off x="7976311" y="3282696"/>
            <a:ext cx="237744" cy="100584"/>
          </a:xfrm>
          <a:prstGeom prst="parallelogram">
            <a:avLst/>
          </a:prstGeom>
          <a:solidFill>
            <a:srgbClr val="E5177B"/>
          </a:solidFill>
          <a:ln w="12700">
            <a:solidFill>
              <a:srgbClr val="E5177B"/>
            </a:solidFill>
            <a:prstDash val="solid"/>
          </a:ln>
        </p:spPr>
      </p:sp>
      <p:sp>
        <p:nvSpPr>
          <p:cNvPr id="26" name="Text 21"/>
          <p:cNvSpPr txBox="1"/>
          <p:nvPr/>
        </p:nvSpPr>
        <p:spPr>
          <a:xfrm>
            <a:off x="5150815" y="3200400"/>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Segoe UI" pitchFamily="34" charset="0"/>
                <a:ea typeface="Segoe UI" pitchFamily="34" charset="-122"/>
                <a:cs typeface="Segoe UI" pitchFamily="34" charset="-120"/>
              </a:rPr>
              <a:t>أنابيب ومضخات مكافحة الحريق</a:t>
            </a:r>
            <a:endParaRPr lang="ar-SA" sz="1450" dirty="0"/>
          </a:p>
        </p:txBody>
      </p:sp>
      <p:sp>
        <p:nvSpPr>
          <p:cNvPr id="27" name="Shape 22"/>
          <p:cNvSpPr/>
          <p:nvPr/>
        </p:nvSpPr>
        <p:spPr>
          <a:xfrm>
            <a:off x="5150815" y="3785616"/>
            <a:ext cx="3063240" cy="0"/>
          </a:xfrm>
          <a:prstGeom prst="line">
            <a:avLst/>
          </a:prstGeom>
          <a:noFill/>
          <a:ln w="9525">
            <a:solidFill>
              <a:srgbClr val="DDE1E6"/>
            </a:solidFill>
            <a:prstDash val="solid"/>
          </a:ln>
        </p:spPr>
      </p:sp>
      <p:sp>
        <p:nvSpPr>
          <p:cNvPr id="28" name="Shape 23"/>
          <p:cNvSpPr/>
          <p:nvPr/>
        </p:nvSpPr>
        <p:spPr>
          <a:xfrm>
            <a:off x="7976311" y="3995928"/>
            <a:ext cx="237744" cy="100584"/>
          </a:xfrm>
          <a:prstGeom prst="parallelogram">
            <a:avLst/>
          </a:prstGeom>
          <a:solidFill>
            <a:srgbClr val="E5177B"/>
          </a:solidFill>
          <a:ln w="12700">
            <a:solidFill>
              <a:srgbClr val="E5177B"/>
            </a:solidFill>
            <a:prstDash val="solid"/>
          </a:ln>
        </p:spPr>
      </p:sp>
      <p:sp>
        <p:nvSpPr>
          <p:cNvPr id="29" name="Text 24"/>
          <p:cNvSpPr txBox="1"/>
          <p:nvPr/>
        </p:nvSpPr>
        <p:spPr>
          <a:xfrm>
            <a:off x="5150815" y="3913632"/>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Segoe UI" pitchFamily="34" charset="0"/>
                <a:ea typeface="Segoe UI" pitchFamily="34" charset="-122"/>
                <a:cs typeface="Segoe UI" pitchFamily="34" charset="-120"/>
              </a:rPr>
              <a:t>الصمامات والعزل والتجهيزات</a:t>
            </a:r>
            <a:endParaRPr lang="ar-SA" sz="1450" dirty="0"/>
          </a:p>
        </p:txBody>
      </p:sp>
      <p:sp>
        <p:nvSpPr>
          <p:cNvPr id="30" name="Shape 25"/>
          <p:cNvSpPr/>
          <p:nvPr/>
        </p:nvSpPr>
        <p:spPr>
          <a:xfrm>
            <a:off x="5150815" y="4498848"/>
            <a:ext cx="3063240" cy="0"/>
          </a:xfrm>
          <a:prstGeom prst="line">
            <a:avLst/>
          </a:prstGeom>
          <a:noFill/>
          <a:ln w="9525">
            <a:solidFill>
              <a:srgbClr val="DDE1E6"/>
            </a:solidFill>
            <a:prstDash val="solid"/>
          </a:ln>
        </p:spPr>
      </p:sp>
      <p:sp>
        <p:nvSpPr>
          <p:cNvPr id="31" name="Shape 26"/>
          <p:cNvSpPr/>
          <p:nvPr/>
        </p:nvSpPr>
        <p:spPr>
          <a:xfrm>
            <a:off x="7976311" y="4709160"/>
            <a:ext cx="237744" cy="100584"/>
          </a:xfrm>
          <a:prstGeom prst="parallelogram">
            <a:avLst/>
          </a:prstGeom>
          <a:solidFill>
            <a:srgbClr val="E5177B"/>
          </a:solidFill>
          <a:ln w="12700">
            <a:solidFill>
              <a:srgbClr val="E5177B"/>
            </a:solidFill>
            <a:prstDash val="solid"/>
          </a:ln>
        </p:spPr>
      </p:sp>
      <p:sp>
        <p:nvSpPr>
          <p:cNvPr id="32" name="Text 27"/>
          <p:cNvSpPr txBox="1"/>
          <p:nvPr/>
        </p:nvSpPr>
        <p:spPr>
          <a:xfrm>
            <a:off x="5150815" y="4626864"/>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Segoe UI" pitchFamily="34" charset="0"/>
                <a:ea typeface="Segoe UI" pitchFamily="34" charset="-122"/>
                <a:cs typeface="Segoe UI" pitchFamily="34" charset="-120"/>
              </a:rPr>
              <a:t>خزائن خراطيم الحريق والرشاشات</a:t>
            </a:r>
            <a:endParaRPr lang="ar-SA" sz="1450" dirty="0"/>
          </a:p>
        </p:txBody>
      </p:sp>
      <p:sp>
        <p:nvSpPr>
          <p:cNvPr id="33" name="Shape 28"/>
          <p:cNvSpPr/>
          <p:nvPr/>
        </p:nvSpPr>
        <p:spPr>
          <a:xfrm>
            <a:off x="5150815" y="5212080"/>
            <a:ext cx="3063240" cy="0"/>
          </a:xfrm>
          <a:prstGeom prst="line">
            <a:avLst/>
          </a:prstGeom>
          <a:noFill/>
          <a:ln w="9525">
            <a:solidFill>
              <a:srgbClr val="DDE1E6"/>
            </a:solidFill>
            <a:prstDash val="solid"/>
          </a:ln>
        </p:spPr>
      </p:sp>
      <p:sp>
        <p:nvSpPr>
          <p:cNvPr id="34" name="Text 29"/>
          <p:cNvSpPr txBox="1"/>
          <p:nvPr/>
        </p:nvSpPr>
        <p:spPr>
          <a:xfrm>
            <a:off x="5699455" y="6446520"/>
            <a:ext cx="5943600"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35" name="Text 30"/>
          <p:cNvSpPr txBox="1"/>
          <p:nvPr/>
        </p:nvSpPr>
        <p:spPr>
          <a:xfrm>
            <a:off x="5150815"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12</a:t>
            </a:r>
            <a:endParaRPr lang="ar-SA"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420"/>
        </a:solidFill>
      </p:bgPr>
    </p:bg>
    <p:spTree>
      <p:nvGrpSpPr>
        <p:cNvPr id="1" name=""/>
        <p:cNvGrpSpPr/>
        <p:nvPr/>
      </p:nvGrpSpPr>
      <p:grpSpPr>
        <a:xfrm>
          <a:off x="0" y="0"/>
          <a:ext cx="0" cy="0"/>
          <a:chOff x="0" y="0"/>
          <a:chExt cx="0" cy="0"/>
        </a:xfrm>
      </p:grpSpPr>
      <p:pic>
        <p:nvPicPr>
          <p:cNvPr id="2" name="Image 0" descr="/home/user/NVIConsult/build/assets_bold/s_m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420">
              <a:alpha val="90000"/>
            </a:srgbClr>
          </a:solidFill>
          <a:ln w="12700">
            <a:solidFill>
              <a:srgbClr val="0E1420"/>
            </a:solidFill>
            <a:prstDash val="solid"/>
          </a:ln>
        </p:spPr>
      </p:sp>
      <p:sp>
        <p:nvSpPr>
          <p:cNvPr id="4" name="Shape 1"/>
          <p:cNvSpPr/>
          <p:nvPr/>
        </p:nvSpPr>
        <p:spPr>
          <a:xfrm>
            <a:off x="11332159" y="649224"/>
            <a:ext cx="310896" cy="146304"/>
          </a:xfrm>
          <a:prstGeom prst="parallelogram">
            <a:avLst/>
          </a:prstGeom>
          <a:solidFill>
            <a:srgbClr val="FBBA16"/>
          </a:solidFill>
          <a:ln w="12700">
            <a:solidFill>
              <a:srgbClr val="FBBA16"/>
            </a:solidFill>
            <a:prstDash val="solid"/>
          </a:ln>
        </p:spPr>
      </p:sp>
      <p:sp>
        <p:nvSpPr>
          <p:cNvPr id="5" name="Text 2"/>
          <p:cNvSpPr txBox="1"/>
          <p:nvPr/>
        </p:nvSpPr>
        <p:spPr>
          <a:xfrm>
            <a:off x="7436815" y="594360"/>
            <a:ext cx="3749040" cy="256032"/>
          </a:xfrm>
          <a:prstGeom prst="rect">
            <a:avLst/>
          </a:prstGeom>
          <a:noFill/>
          <a:ln/>
        </p:spPr>
        <p:txBody>
          <a:bodyPr wrap="square" lIns="0" tIns="0" rIns="0" bIns="0" rtlCol="0" anchor="ctr"/>
          <a:lstStyle/>
          <a:p>
            <a:pPr rtl="1" algn="r" indent="0" marL="0">
              <a:buNone/>
            </a:pPr>
            <a:r>
              <a:rPr lang="ar-SA" altLang="en-US" sz="1260" b="1" dirty="0">
                <a:solidFill>
                  <a:srgbClr val="2DB8E0"/>
                </a:solidFill>
                <a:latin typeface="Segoe UI" pitchFamily="34" charset="0"/>
                <a:ea typeface="Segoe UI" pitchFamily="34" charset="-122"/>
                <a:cs typeface="Segoe UI" pitchFamily="34" charset="-120"/>
              </a:rPr>
              <a:t>الخدمة 04.8</a:t>
            </a:r>
            <a:endParaRPr lang="ar-SA" sz="1260" dirty="0"/>
          </a:p>
        </p:txBody>
      </p:sp>
      <p:sp>
        <p:nvSpPr>
          <p:cNvPr id="6" name="Text 3"/>
          <p:cNvSpPr txBox="1"/>
          <p:nvPr/>
        </p:nvSpPr>
        <p:spPr>
          <a:xfrm>
            <a:off x="7436815" y="941832"/>
            <a:ext cx="4206240" cy="1188720"/>
          </a:xfrm>
          <a:prstGeom prst="rect">
            <a:avLst/>
          </a:prstGeom>
          <a:noFill/>
          <a:ln/>
        </p:spPr>
        <p:txBody>
          <a:bodyPr wrap="square" lIns="0" tIns="0" rIns="0" bIns="0" rtlCol="0" anchor="t"/>
          <a:lstStyle/>
          <a:p>
            <a:pPr rtl="1" algn="r" indent="0" marL="0">
              <a:buNone/>
            </a:pPr>
            <a:r>
              <a:rPr lang="ar-SA" altLang="en-US" sz="3800" b="1" dirty="0">
                <a:solidFill>
                  <a:srgbClr val="FFFFFF"/>
                </a:solidFill>
                <a:latin typeface="Segoe UI" pitchFamily="34" charset="0"/>
                <a:ea typeface="Segoe UI" pitchFamily="34" charset="-122"/>
                <a:cs typeface="Segoe UI" pitchFamily="34" charset="-120"/>
              </a:rPr>
              <a:t>صيانة المرافق</a:t>
            </a:r>
            <a:endParaRPr lang="ar-SA" sz="3800" dirty="0"/>
          </a:p>
        </p:txBody>
      </p:sp>
      <p:sp>
        <p:nvSpPr>
          <p:cNvPr id="7" name="Text 4"/>
          <p:cNvSpPr txBox="1"/>
          <p:nvPr/>
        </p:nvSpPr>
        <p:spPr>
          <a:xfrm>
            <a:off x="7436815" y="2240280"/>
            <a:ext cx="4206240" cy="137160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C3CBD6"/>
                </a:solidFill>
                <a:latin typeface="Segoe UI" pitchFamily="34" charset="0"/>
                <a:ea typeface="Segoe UI" pitchFamily="34" charset="-122"/>
                <a:cs typeface="Segoe UI" pitchFamily="34" charset="-120"/>
              </a:rPr>
              <a:t>صيانة وقائية مخطط لها منذ البداية، لحماية استثمارات عملائنا على المدى الطويل.</a:t>
            </a:r>
            <a:endParaRPr lang="ar-SA" sz="1500" dirty="0"/>
          </a:p>
        </p:txBody>
      </p:sp>
      <p:sp>
        <p:nvSpPr>
          <p:cNvPr id="8" name="Shape 5"/>
          <p:cNvSpPr/>
          <p:nvPr/>
        </p:nvSpPr>
        <p:spPr>
          <a:xfrm>
            <a:off x="548640" y="594360"/>
            <a:ext cx="6339535" cy="676656"/>
          </a:xfrm>
          <a:prstGeom prst="rect">
            <a:avLst/>
          </a:prstGeom>
          <a:solidFill>
            <a:srgbClr val="182131">
              <a:alpha val="92000"/>
            </a:srgbClr>
          </a:solidFill>
          <a:ln w="9525">
            <a:solidFill>
              <a:srgbClr val="2A3547"/>
            </a:solidFill>
            <a:prstDash val="solid"/>
          </a:ln>
        </p:spPr>
      </p:sp>
      <p:pic>
        <p:nvPicPr>
          <p:cNvPr id="9" name="Image 1" descr="preencoded.png">    </p:cNvPr>
          <p:cNvPicPr>
            <a:picLocks noChangeAspect="1"/>
          </p:cNvPicPr>
          <p:nvPr/>
        </p:nvPicPr>
        <p:blipFill>
          <a:blip r:embed="rId2"/>
          <a:stretch>
            <a:fillRect/>
          </a:stretch>
        </p:blipFill>
        <p:spPr>
          <a:xfrm>
            <a:off x="6293815" y="749808"/>
            <a:ext cx="365760" cy="365760"/>
          </a:xfrm>
          <a:prstGeom prst="rect">
            <a:avLst/>
          </a:prstGeom>
        </p:spPr>
      </p:pic>
      <p:sp>
        <p:nvSpPr>
          <p:cNvPr id="10" name="Text 6"/>
          <p:cNvSpPr txBox="1"/>
          <p:nvPr/>
        </p:nvSpPr>
        <p:spPr>
          <a:xfrm>
            <a:off x="1188720" y="594360"/>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Segoe UI" pitchFamily="34" charset="0"/>
                <a:ea typeface="Segoe UI" pitchFamily="34" charset="-122"/>
                <a:cs typeface="Segoe UI" pitchFamily="34" charset="-120"/>
              </a:rPr>
              <a:t>المباني والواجهات الخارجية</a:t>
            </a:r>
            <a:endParaRPr lang="ar-SA" sz="1600" dirty="0"/>
          </a:p>
        </p:txBody>
      </p:sp>
      <p:sp>
        <p:nvSpPr>
          <p:cNvPr id="11" name="Text 7"/>
          <p:cNvSpPr txBox="1"/>
          <p:nvPr/>
        </p:nvSpPr>
        <p:spPr>
          <a:xfrm>
            <a:off x="777240" y="594360"/>
            <a:ext cx="457200" cy="676656"/>
          </a:xfrm>
          <a:prstGeom prst="rect">
            <a:avLst/>
          </a:prstGeom>
          <a:noFill/>
          <a:ln/>
        </p:spPr>
        <p:txBody>
          <a:bodyPr wrap="square" lIns="0" tIns="0" rIns="0" bIns="0" rtlCol="0" anchor="ctr"/>
          <a:lstStyle/>
          <a:p>
            <a:pPr rtl="1" algn="l" indent="0" marL="0">
              <a:buNone/>
            </a:pPr>
            <a:r>
              <a:rPr lang="ar-SA" altLang="en-US" sz="1100" b="1" dirty="0">
                <a:solidFill>
                  <a:srgbClr val="6B7688"/>
                </a:solidFill>
                <a:latin typeface="Consolas" pitchFamily="34" charset="0"/>
                <a:ea typeface="Consolas" pitchFamily="34" charset="-122"/>
                <a:cs typeface="Consolas" pitchFamily="34" charset="-120"/>
              </a:rPr>
              <a:t>01</a:t>
            </a:r>
            <a:endParaRPr lang="ar-SA" sz="1100" dirty="0"/>
          </a:p>
        </p:txBody>
      </p:sp>
      <p:sp>
        <p:nvSpPr>
          <p:cNvPr id="12" name="Shape 8"/>
          <p:cNvSpPr/>
          <p:nvPr/>
        </p:nvSpPr>
        <p:spPr>
          <a:xfrm>
            <a:off x="548640" y="1399032"/>
            <a:ext cx="6339535" cy="676656"/>
          </a:xfrm>
          <a:prstGeom prst="rect">
            <a:avLst/>
          </a:prstGeom>
          <a:solidFill>
            <a:srgbClr val="182131">
              <a:alpha val="92000"/>
            </a:srgbClr>
          </a:solidFill>
          <a:ln w="9525">
            <a:solidFill>
              <a:srgbClr val="2A3547"/>
            </a:solidFill>
            <a:prstDash val="solid"/>
          </a:ln>
        </p:spPr>
      </p:sp>
      <p:pic>
        <p:nvPicPr>
          <p:cNvPr id="13" name="Image 2" descr="preencoded.png">    </p:cNvPr>
          <p:cNvPicPr>
            <a:picLocks noChangeAspect="1"/>
          </p:cNvPicPr>
          <p:nvPr/>
        </p:nvPicPr>
        <p:blipFill>
          <a:blip r:embed="rId3"/>
          <a:stretch>
            <a:fillRect/>
          </a:stretch>
        </p:blipFill>
        <p:spPr>
          <a:xfrm>
            <a:off x="6293815" y="1554480"/>
            <a:ext cx="365760" cy="365760"/>
          </a:xfrm>
          <a:prstGeom prst="rect">
            <a:avLst/>
          </a:prstGeom>
        </p:spPr>
      </p:pic>
      <p:sp>
        <p:nvSpPr>
          <p:cNvPr id="14" name="Text 9"/>
          <p:cNvSpPr txBox="1"/>
          <p:nvPr/>
        </p:nvSpPr>
        <p:spPr>
          <a:xfrm>
            <a:off x="1188720" y="1399032"/>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Segoe UI" pitchFamily="34" charset="0"/>
                <a:ea typeface="Segoe UI" pitchFamily="34" charset="-122"/>
                <a:cs typeface="Segoe UI" pitchFamily="34" charset="-120"/>
              </a:rPr>
              <a:t>الديكور الداخلي</a:t>
            </a:r>
            <a:endParaRPr lang="ar-SA" sz="1600" dirty="0"/>
          </a:p>
        </p:txBody>
      </p:sp>
      <p:sp>
        <p:nvSpPr>
          <p:cNvPr id="15" name="Text 10"/>
          <p:cNvSpPr txBox="1"/>
          <p:nvPr/>
        </p:nvSpPr>
        <p:spPr>
          <a:xfrm>
            <a:off x="777240" y="1399032"/>
            <a:ext cx="457200" cy="676656"/>
          </a:xfrm>
          <a:prstGeom prst="rect">
            <a:avLst/>
          </a:prstGeom>
          <a:noFill/>
          <a:ln/>
        </p:spPr>
        <p:txBody>
          <a:bodyPr wrap="square" lIns="0" tIns="0" rIns="0" bIns="0" rtlCol="0" anchor="ctr"/>
          <a:lstStyle/>
          <a:p>
            <a:pPr rtl="1" algn="l" indent="0" marL="0">
              <a:buNone/>
            </a:pPr>
            <a:r>
              <a:rPr lang="ar-SA" altLang="en-US" sz="1100" b="1" dirty="0">
                <a:solidFill>
                  <a:srgbClr val="6B7688"/>
                </a:solidFill>
                <a:latin typeface="Consolas" pitchFamily="34" charset="0"/>
                <a:ea typeface="Consolas" pitchFamily="34" charset="-122"/>
                <a:cs typeface="Consolas" pitchFamily="34" charset="-120"/>
              </a:rPr>
              <a:t>02</a:t>
            </a:r>
            <a:endParaRPr lang="ar-SA" sz="1100" dirty="0"/>
          </a:p>
        </p:txBody>
      </p:sp>
      <p:sp>
        <p:nvSpPr>
          <p:cNvPr id="16" name="Shape 11"/>
          <p:cNvSpPr/>
          <p:nvPr/>
        </p:nvSpPr>
        <p:spPr>
          <a:xfrm>
            <a:off x="548640" y="2203704"/>
            <a:ext cx="6339535" cy="676656"/>
          </a:xfrm>
          <a:prstGeom prst="rect">
            <a:avLst/>
          </a:prstGeom>
          <a:solidFill>
            <a:srgbClr val="182131">
              <a:alpha val="92000"/>
            </a:srgbClr>
          </a:solidFill>
          <a:ln w="9525">
            <a:solidFill>
              <a:srgbClr val="2A3547"/>
            </a:solidFill>
            <a:prstDash val="solid"/>
          </a:ln>
        </p:spPr>
      </p:sp>
      <p:pic>
        <p:nvPicPr>
          <p:cNvPr id="17" name="Image 3" descr="preencoded.png">    </p:cNvPr>
          <p:cNvPicPr>
            <a:picLocks noChangeAspect="1"/>
          </p:cNvPicPr>
          <p:nvPr/>
        </p:nvPicPr>
        <p:blipFill>
          <a:blip r:embed="rId4"/>
          <a:stretch>
            <a:fillRect/>
          </a:stretch>
        </p:blipFill>
        <p:spPr>
          <a:xfrm>
            <a:off x="6293815" y="2359152"/>
            <a:ext cx="365760" cy="365760"/>
          </a:xfrm>
          <a:prstGeom prst="rect">
            <a:avLst/>
          </a:prstGeom>
        </p:spPr>
      </p:pic>
      <p:sp>
        <p:nvSpPr>
          <p:cNvPr id="18" name="Text 12"/>
          <p:cNvSpPr txBox="1"/>
          <p:nvPr/>
        </p:nvSpPr>
        <p:spPr>
          <a:xfrm>
            <a:off x="1188720" y="2203704"/>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Segoe UI" pitchFamily="34" charset="0"/>
                <a:ea typeface="Segoe UI" pitchFamily="34" charset="-122"/>
                <a:cs typeface="Segoe UI" pitchFamily="34" charset="-120"/>
              </a:rPr>
              <a:t>الأعمال الكهربائية</a:t>
            </a:r>
            <a:endParaRPr lang="ar-SA" sz="1600" dirty="0"/>
          </a:p>
        </p:txBody>
      </p:sp>
      <p:sp>
        <p:nvSpPr>
          <p:cNvPr id="19" name="Text 13"/>
          <p:cNvSpPr txBox="1"/>
          <p:nvPr/>
        </p:nvSpPr>
        <p:spPr>
          <a:xfrm>
            <a:off x="777240" y="2203704"/>
            <a:ext cx="457200" cy="676656"/>
          </a:xfrm>
          <a:prstGeom prst="rect">
            <a:avLst/>
          </a:prstGeom>
          <a:noFill/>
          <a:ln/>
        </p:spPr>
        <p:txBody>
          <a:bodyPr wrap="square" lIns="0" tIns="0" rIns="0" bIns="0" rtlCol="0" anchor="ctr"/>
          <a:lstStyle/>
          <a:p>
            <a:pPr rtl="1" algn="l" indent="0" marL="0">
              <a:buNone/>
            </a:pPr>
            <a:r>
              <a:rPr lang="ar-SA" altLang="en-US" sz="1100" b="1" dirty="0">
                <a:solidFill>
                  <a:srgbClr val="6B7688"/>
                </a:solidFill>
                <a:latin typeface="Consolas" pitchFamily="34" charset="0"/>
                <a:ea typeface="Consolas" pitchFamily="34" charset="-122"/>
                <a:cs typeface="Consolas" pitchFamily="34" charset="-120"/>
              </a:rPr>
              <a:t>03</a:t>
            </a:r>
            <a:endParaRPr lang="ar-SA" sz="1100" dirty="0"/>
          </a:p>
        </p:txBody>
      </p:sp>
      <p:sp>
        <p:nvSpPr>
          <p:cNvPr id="20" name="Shape 14"/>
          <p:cNvSpPr/>
          <p:nvPr/>
        </p:nvSpPr>
        <p:spPr>
          <a:xfrm>
            <a:off x="548640" y="3008376"/>
            <a:ext cx="6339535" cy="676656"/>
          </a:xfrm>
          <a:prstGeom prst="rect">
            <a:avLst/>
          </a:prstGeom>
          <a:solidFill>
            <a:srgbClr val="182131">
              <a:alpha val="92000"/>
            </a:srgbClr>
          </a:solidFill>
          <a:ln w="9525">
            <a:solidFill>
              <a:srgbClr val="2A3547"/>
            </a:solidFill>
            <a:prstDash val="solid"/>
          </a:ln>
        </p:spPr>
      </p:sp>
      <p:pic>
        <p:nvPicPr>
          <p:cNvPr id="21" name="Image 4" descr="preencoded.png">    </p:cNvPr>
          <p:cNvPicPr>
            <a:picLocks noChangeAspect="1"/>
          </p:cNvPicPr>
          <p:nvPr/>
        </p:nvPicPr>
        <p:blipFill>
          <a:blip r:embed="rId5"/>
          <a:stretch>
            <a:fillRect/>
          </a:stretch>
        </p:blipFill>
        <p:spPr>
          <a:xfrm>
            <a:off x="6293815" y="3163824"/>
            <a:ext cx="365760" cy="365760"/>
          </a:xfrm>
          <a:prstGeom prst="rect">
            <a:avLst/>
          </a:prstGeom>
        </p:spPr>
      </p:pic>
      <p:sp>
        <p:nvSpPr>
          <p:cNvPr id="22" name="Text 15"/>
          <p:cNvSpPr txBox="1"/>
          <p:nvPr/>
        </p:nvSpPr>
        <p:spPr>
          <a:xfrm>
            <a:off x="1188720" y="3008376"/>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Segoe UI" pitchFamily="34" charset="0"/>
                <a:ea typeface="Segoe UI" pitchFamily="34" charset="-122"/>
                <a:cs typeface="Segoe UI" pitchFamily="34" charset="-120"/>
              </a:rPr>
              <a:t>أنظمة التيار المنخفض</a:t>
            </a:r>
            <a:endParaRPr lang="ar-SA" sz="1600" dirty="0"/>
          </a:p>
        </p:txBody>
      </p:sp>
      <p:sp>
        <p:nvSpPr>
          <p:cNvPr id="23" name="Text 16"/>
          <p:cNvSpPr txBox="1"/>
          <p:nvPr/>
        </p:nvSpPr>
        <p:spPr>
          <a:xfrm>
            <a:off x="777240" y="3008376"/>
            <a:ext cx="457200" cy="676656"/>
          </a:xfrm>
          <a:prstGeom prst="rect">
            <a:avLst/>
          </a:prstGeom>
          <a:noFill/>
          <a:ln/>
        </p:spPr>
        <p:txBody>
          <a:bodyPr wrap="square" lIns="0" tIns="0" rIns="0" bIns="0" rtlCol="0" anchor="ctr"/>
          <a:lstStyle/>
          <a:p>
            <a:pPr rtl="1" algn="l" indent="0" marL="0">
              <a:buNone/>
            </a:pPr>
            <a:r>
              <a:rPr lang="ar-SA" altLang="en-US" sz="1100" b="1" dirty="0">
                <a:solidFill>
                  <a:srgbClr val="6B7688"/>
                </a:solidFill>
                <a:latin typeface="Consolas" pitchFamily="34" charset="0"/>
                <a:ea typeface="Consolas" pitchFamily="34" charset="-122"/>
                <a:cs typeface="Consolas" pitchFamily="34" charset="-120"/>
              </a:rPr>
              <a:t>04</a:t>
            </a:r>
            <a:endParaRPr lang="ar-SA" sz="1100" dirty="0"/>
          </a:p>
        </p:txBody>
      </p:sp>
      <p:sp>
        <p:nvSpPr>
          <p:cNvPr id="24" name="Shape 17"/>
          <p:cNvSpPr/>
          <p:nvPr/>
        </p:nvSpPr>
        <p:spPr>
          <a:xfrm>
            <a:off x="548640" y="3813048"/>
            <a:ext cx="6339535" cy="676656"/>
          </a:xfrm>
          <a:prstGeom prst="rect">
            <a:avLst/>
          </a:prstGeom>
          <a:solidFill>
            <a:srgbClr val="182131">
              <a:alpha val="92000"/>
            </a:srgbClr>
          </a:solidFill>
          <a:ln w="9525">
            <a:solidFill>
              <a:srgbClr val="2A3547"/>
            </a:solidFill>
            <a:prstDash val="solid"/>
          </a:ln>
        </p:spPr>
      </p:sp>
      <p:pic>
        <p:nvPicPr>
          <p:cNvPr id="25" name="Image 5" descr="preencoded.png">    </p:cNvPr>
          <p:cNvPicPr>
            <a:picLocks noChangeAspect="1"/>
          </p:cNvPicPr>
          <p:nvPr/>
        </p:nvPicPr>
        <p:blipFill>
          <a:blip r:embed="rId6"/>
          <a:stretch>
            <a:fillRect/>
          </a:stretch>
        </p:blipFill>
        <p:spPr>
          <a:xfrm>
            <a:off x="6293815" y="3968496"/>
            <a:ext cx="365760" cy="365760"/>
          </a:xfrm>
          <a:prstGeom prst="rect">
            <a:avLst/>
          </a:prstGeom>
        </p:spPr>
      </p:pic>
      <p:sp>
        <p:nvSpPr>
          <p:cNvPr id="26" name="Text 18"/>
          <p:cNvSpPr txBox="1"/>
          <p:nvPr/>
        </p:nvSpPr>
        <p:spPr>
          <a:xfrm>
            <a:off x="1188720" y="3813048"/>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Segoe UI" pitchFamily="34" charset="0"/>
                <a:ea typeface="Segoe UI" pitchFamily="34" charset="-122"/>
                <a:cs typeface="Segoe UI" pitchFamily="34" charset="-120"/>
              </a:rPr>
              <a:t>الشبكات وكاميرات المراقبة</a:t>
            </a:r>
            <a:endParaRPr lang="ar-SA" sz="1600" dirty="0"/>
          </a:p>
        </p:txBody>
      </p:sp>
      <p:sp>
        <p:nvSpPr>
          <p:cNvPr id="27" name="Text 19"/>
          <p:cNvSpPr txBox="1"/>
          <p:nvPr/>
        </p:nvSpPr>
        <p:spPr>
          <a:xfrm>
            <a:off x="777240" y="3813048"/>
            <a:ext cx="457200" cy="676656"/>
          </a:xfrm>
          <a:prstGeom prst="rect">
            <a:avLst/>
          </a:prstGeom>
          <a:noFill/>
          <a:ln/>
        </p:spPr>
        <p:txBody>
          <a:bodyPr wrap="square" lIns="0" tIns="0" rIns="0" bIns="0" rtlCol="0" anchor="ctr"/>
          <a:lstStyle/>
          <a:p>
            <a:pPr rtl="1" algn="l" indent="0" marL="0">
              <a:buNone/>
            </a:pPr>
            <a:r>
              <a:rPr lang="ar-SA" altLang="en-US" sz="1100" b="1" dirty="0">
                <a:solidFill>
                  <a:srgbClr val="6B7688"/>
                </a:solidFill>
                <a:latin typeface="Consolas" pitchFamily="34" charset="0"/>
                <a:ea typeface="Consolas" pitchFamily="34" charset="-122"/>
                <a:cs typeface="Consolas" pitchFamily="34" charset="-120"/>
              </a:rPr>
              <a:t>05</a:t>
            </a:r>
            <a:endParaRPr lang="ar-SA" sz="1100" dirty="0"/>
          </a:p>
        </p:txBody>
      </p:sp>
      <p:sp>
        <p:nvSpPr>
          <p:cNvPr id="28" name="Shape 20"/>
          <p:cNvSpPr/>
          <p:nvPr/>
        </p:nvSpPr>
        <p:spPr>
          <a:xfrm>
            <a:off x="548640" y="4617720"/>
            <a:ext cx="6339535" cy="676656"/>
          </a:xfrm>
          <a:prstGeom prst="rect">
            <a:avLst/>
          </a:prstGeom>
          <a:solidFill>
            <a:srgbClr val="182131">
              <a:alpha val="92000"/>
            </a:srgbClr>
          </a:solidFill>
          <a:ln w="9525">
            <a:solidFill>
              <a:srgbClr val="2A3547"/>
            </a:solidFill>
            <a:prstDash val="solid"/>
          </a:ln>
        </p:spPr>
      </p:sp>
      <p:pic>
        <p:nvPicPr>
          <p:cNvPr id="29" name="Image 6" descr="preencoded.png">    </p:cNvPr>
          <p:cNvPicPr>
            <a:picLocks noChangeAspect="1"/>
          </p:cNvPicPr>
          <p:nvPr/>
        </p:nvPicPr>
        <p:blipFill>
          <a:blip r:embed="rId7"/>
          <a:stretch>
            <a:fillRect/>
          </a:stretch>
        </p:blipFill>
        <p:spPr>
          <a:xfrm>
            <a:off x="6293815" y="4773168"/>
            <a:ext cx="365760" cy="365760"/>
          </a:xfrm>
          <a:prstGeom prst="rect">
            <a:avLst/>
          </a:prstGeom>
        </p:spPr>
      </p:pic>
      <p:sp>
        <p:nvSpPr>
          <p:cNvPr id="30" name="Text 21"/>
          <p:cNvSpPr txBox="1"/>
          <p:nvPr/>
        </p:nvSpPr>
        <p:spPr>
          <a:xfrm>
            <a:off x="1188720" y="4617720"/>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Segoe UI" pitchFamily="34" charset="0"/>
                <a:ea typeface="Segoe UI" pitchFamily="34" charset="-122"/>
                <a:cs typeface="Segoe UI" pitchFamily="34" charset="-120"/>
              </a:rPr>
              <a:t>الأعمال الميكانيكية والتكييف</a:t>
            </a:r>
            <a:endParaRPr lang="ar-SA" sz="1600" dirty="0"/>
          </a:p>
        </p:txBody>
      </p:sp>
      <p:sp>
        <p:nvSpPr>
          <p:cNvPr id="31" name="Text 22"/>
          <p:cNvSpPr txBox="1"/>
          <p:nvPr/>
        </p:nvSpPr>
        <p:spPr>
          <a:xfrm>
            <a:off x="777240" y="4617720"/>
            <a:ext cx="457200" cy="676656"/>
          </a:xfrm>
          <a:prstGeom prst="rect">
            <a:avLst/>
          </a:prstGeom>
          <a:noFill/>
          <a:ln/>
        </p:spPr>
        <p:txBody>
          <a:bodyPr wrap="square" lIns="0" tIns="0" rIns="0" bIns="0" rtlCol="0" anchor="ctr"/>
          <a:lstStyle/>
          <a:p>
            <a:pPr rtl="1" algn="l" indent="0" marL="0">
              <a:buNone/>
            </a:pPr>
            <a:r>
              <a:rPr lang="ar-SA" altLang="en-US" sz="1100" b="1" dirty="0">
                <a:solidFill>
                  <a:srgbClr val="6B7688"/>
                </a:solidFill>
                <a:latin typeface="Consolas" pitchFamily="34" charset="0"/>
                <a:ea typeface="Consolas" pitchFamily="34" charset="-122"/>
                <a:cs typeface="Consolas" pitchFamily="34" charset="-120"/>
              </a:rPr>
              <a:t>06</a:t>
            </a:r>
            <a:endParaRPr lang="ar-SA" sz="1100" dirty="0"/>
          </a:p>
        </p:txBody>
      </p:sp>
      <p:sp>
        <p:nvSpPr>
          <p:cNvPr id="32" name="Shape 23"/>
          <p:cNvSpPr/>
          <p:nvPr/>
        </p:nvSpPr>
        <p:spPr>
          <a:xfrm>
            <a:off x="548640" y="5422392"/>
            <a:ext cx="6339535" cy="676656"/>
          </a:xfrm>
          <a:prstGeom prst="rect">
            <a:avLst/>
          </a:prstGeom>
          <a:solidFill>
            <a:srgbClr val="182131">
              <a:alpha val="92000"/>
            </a:srgbClr>
          </a:solidFill>
          <a:ln w="9525">
            <a:solidFill>
              <a:srgbClr val="2A3547"/>
            </a:solidFill>
            <a:prstDash val="solid"/>
          </a:ln>
        </p:spPr>
      </p:sp>
      <p:pic>
        <p:nvPicPr>
          <p:cNvPr id="33" name="Image 7" descr="preencoded.png">    </p:cNvPr>
          <p:cNvPicPr>
            <a:picLocks noChangeAspect="1"/>
          </p:cNvPicPr>
          <p:nvPr/>
        </p:nvPicPr>
        <p:blipFill>
          <a:blip r:embed="rId8"/>
          <a:stretch>
            <a:fillRect/>
          </a:stretch>
        </p:blipFill>
        <p:spPr>
          <a:xfrm>
            <a:off x="6293815" y="5577840"/>
            <a:ext cx="365760" cy="365760"/>
          </a:xfrm>
          <a:prstGeom prst="rect">
            <a:avLst/>
          </a:prstGeom>
        </p:spPr>
      </p:pic>
      <p:sp>
        <p:nvSpPr>
          <p:cNvPr id="34" name="Text 24"/>
          <p:cNvSpPr txBox="1"/>
          <p:nvPr/>
        </p:nvSpPr>
        <p:spPr>
          <a:xfrm>
            <a:off x="1188720" y="5422392"/>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Segoe UI" pitchFamily="34" charset="0"/>
                <a:ea typeface="Segoe UI" pitchFamily="34" charset="-122"/>
                <a:cs typeface="Segoe UI" pitchFamily="34" charset="-120"/>
              </a:rPr>
              <a:t>أعمال السباكة</a:t>
            </a:r>
            <a:endParaRPr lang="ar-SA" sz="1600" dirty="0"/>
          </a:p>
        </p:txBody>
      </p:sp>
      <p:sp>
        <p:nvSpPr>
          <p:cNvPr id="35" name="Text 25"/>
          <p:cNvSpPr txBox="1"/>
          <p:nvPr/>
        </p:nvSpPr>
        <p:spPr>
          <a:xfrm>
            <a:off x="777240" y="5422392"/>
            <a:ext cx="457200" cy="676656"/>
          </a:xfrm>
          <a:prstGeom prst="rect">
            <a:avLst/>
          </a:prstGeom>
          <a:noFill/>
          <a:ln/>
        </p:spPr>
        <p:txBody>
          <a:bodyPr wrap="square" lIns="0" tIns="0" rIns="0" bIns="0" rtlCol="0" anchor="ctr"/>
          <a:lstStyle/>
          <a:p>
            <a:pPr rtl="1" algn="l" indent="0" marL="0">
              <a:buNone/>
            </a:pPr>
            <a:r>
              <a:rPr lang="ar-SA" altLang="en-US" sz="1100" b="1" dirty="0">
                <a:solidFill>
                  <a:srgbClr val="6B7688"/>
                </a:solidFill>
                <a:latin typeface="Consolas" pitchFamily="34" charset="0"/>
                <a:ea typeface="Consolas" pitchFamily="34" charset="-122"/>
                <a:cs typeface="Consolas" pitchFamily="34" charset="-120"/>
              </a:rPr>
              <a:t>07</a:t>
            </a:r>
            <a:endParaRPr lang="ar-SA" sz="1100" dirty="0"/>
          </a:p>
        </p:txBody>
      </p:sp>
      <p:sp>
        <p:nvSpPr>
          <p:cNvPr id="36" name="Text 26"/>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980" dirty="0">
                <a:solidFill>
                  <a:srgbClr val="8D97A5"/>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37" name="Text 27"/>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8D97A5"/>
                </a:solidFill>
                <a:latin typeface="Consolas" pitchFamily="34" charset="0"/>
                <a:ea typeface="Consolas" pitchFamily="34" charset="-122"/>
                <a:cs typeface="Consolas" pitchFamily="34" charset="-120"/>
              </a:rPr>
              <a:t>13</a:t>
            </a:r>
            <a:endParaRPr lang="ar-SA"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clients.jpg">    </p:cNvPr>
          <p:cNvPicPr>
            <a:picLocks noChangeAspect="1"/>
          </p:cNvPicPr>
          <p:nvPr/>
        </p:nvPicPr>
        <p:blipFill>
          <a:blip r:embed="rId1"/>
          <a:stretch>
            <a:fillRect/>
          </a:stretch>
        </p:blipFill>
        <p:spPr>
          <a:xfrm>
            <a:off x="0" y="0"/>
            <a:ext cx="12191695" cy="2926080"/>
          </a:xfrm>
          <a:prstGeom prst="rect">
            <a:avLst/>
          </a:prstGeom>
        </p:spPr>
      </p:pic>
      <p:sp>
        <p:nvSpPr>
          <p:cNvPr id="3" name="Shape 0"/>
          <p:cNvSpPr/>
          <p:nvPr/>
        </p:nvSpPr>
        <p:spPr>
          <a:xfrm>
            <a:off x="0" y="0"/>
            <a:ext cx="12191695" cy="2926080"/>
          </a:xfrm>
          <a:prstGeom prst="rect">
            <a:avLst/>
          </a:prstGeom>
          <a:solidFill>
            <a:srgbClr val="0E1420">
              <a:alpha val="78000"/>
            </a:srgbClr>
          </a:solidFill>
          <a:ln w="12700">
            <a:solidFill>
              <a:srgbClr val="0E1420"/>
            </a:solidFill>
            <a:prstDash val="solid"/>
          </a:ln>
        </p:spPr>
      </p:sp>
      <p:pic>
        <p:nvPicPr>
          <p:cNvPr id="4" name="Image 1" descr="/home/user/NVIConsult/build/assets_bold/logo_mark.png">    </p:cNvPr>
          <p:cNvPicPr>
            <a:picLocks noChangeAspect="1"/>
          </p:cNvPicPr>
          <p:nvPr/>
        </p:nvPicPr>
        <p:blipFill>
          <a:blip r:embed="rId2"/>
          <a:stretch>
            <a:fillRect/>
          </a:stretch>
        </p:blipFill>
        <p:spPr>
          <a:xfrm>
            <a:off x="11328969" y="621792"/>
            <a:ext cx="314086" cy="173736"/>
          </a:xfrm>
          <a:prstGeom prst="rect">
            <a:avLst/>
          </a:prstGeom>
        </p:spPr>
      </p:pic>
      <p:sp>
        <p:nvSpPr>
          <p:cNvPr id="5" name="Text 1"/>
          <p:cNvSpPr txBox="1"/>
          <p:nvPr/>
        </p:nvSpPr>
        <p:spPr>
          <a:xfrm>
            <a:off x="4327855" y="594360"/>
            <a:ext cx="6858000" cy="256032"/>
          </a:xfrm>
          <a:prstGeom prst="rect">
            <a:avLst/>
          </a:prstGeom>
          <a:noFill/>
          <a:ln/>
        </p:spPr>
        <p:txBody>
          <a:bodyPr wrap="square" lIns="0" tIns="0" rIns="0" bIns="0" rtlCol="0" anchor="ctr"/>
          <a:lstStyle/>
          <a:p>
            <a:pPr rtl="1" algn="r" indent="0" marL="0">
              <a:buNone/>
            </a:pPr>
            <a:r>
              <a:rPr lang="ar-SA" altLang="en-US" sz="1260" b="1" dirty="0">
                <a:solidFill>
                  <a:srgbClr val="2DB8E0"/>
                </a:solidFill>
                <a:latin typeface="Segoe UI" pitchFamily="34" charset="0"/>
                <a:ea typeface="Segoe UI" pitchFamily="34" charset="-122"/>
                <a:cs typeface="Segoe UI" pitchFamily="34" charset="-120"/>
              </a:rPr>
              <a:t>05  ·  عملاؤنا</a:t>
            </a:r>
            <a:endParaRPr lang="ar-SA" sz="1260" dirty="0"/>
          </a:p>
        </p:txBody>
      </p:sp>
      <p:sp>
        <p:nvSpPr>
          <p:cNvPr id="6" name="Text 2"/>
          <p:cNvSpPr txBox="1"/>
          <p:nvPr/>
        </p:nvSpPr>
        <p:spPr>
          <a:xfrm>
            <a:off x="2499055" y="960120"/>
            <a:ext cx="9144000" cy="685800"/>
          </a:xfrm>
          <a:prstGeom prst="rect">
            <a:avLst/>
          </a:prstGeom>
          <a:noFill/>
          <a:ln/>
        </p:spPr>
        <p:txBody>
          <a:bodyPr wrap="square" lIns="0" tIns="0" rIns="0" bIns="0" rtlCol="0" anchor="t"/>
          <a:lstStyle/>
          <a:p>
            <a:pPr rtl="1" algn="r" indent="0" marL="0">
              <a:buNone/>
            </a:pPr>
            <a:r>
              <a:rPr lang="ar-SA" altLang="en-US" sz="3600" b="1" dirty="0">
                <a:solidFill>
                  <a:srgbClr val="FFFFFF"/>
                </a:solidFill>
                <a:latin typeface="Segoe UI" pitchFamily="34" charset="0"/>
                <a:ea typeface="Segoe UI" pitchFamily="34" charset="-122"/>
                <a:cs typeface="Segoe UI" pitchFamily="34" charset="-120"/>
              </a:rPr>
              <a:t>موضع ثقة علامات تجارية راسخة</a:t>
            </a:r>
            <a:endParaRPr lang="ar-SA" sz="3600" dirty="0"/>
          </a:p>
        </p:txBody>
      </p:sp>
      <p:sp>
        <p:nvSpPr>
          <p:cNvPr id="7" name="Text 3"/>
          <p:cNvSpPr txBox="1"/>
          <p:nvPr/>
        </p:nvSpPr>
        <p:spPr>
          <a:xfrm>
            <a:off x="2499055" y="1691640"/>
            <a:ext cx="9144000" cy="365760"/>
          </a:xfrm>
          <a:prstGeom prst="rect">
            <a:avLst/>
          </a:prstGeom>
          <a:noFill/>
          <a:ln/>
        </p:spPr>
        <p:txBody>
          <a:bodyPr wrap="square" lIns="0" tIns="0" rIns="0" bIns="0" rtlCol="0" anchor="t"/>
          <a:lstStyle/>
          <a:p>
            <a:pPr rtl="1" algn="r" indent="0" marL="0">
              <a:buNone/>
            </a:pPr>
            <a:r>
              <a:rPr lang="ar-SA" altLang="en-US" sz="1500" dirty="0">
                <a:solidFill>
                  <a:srgbClr val="D5DCE4"/>
                </a:solidFill>
                <a:latin typeface="Segoe UI" pitchFamily="34" charset="0"/>
                <a:ea typeface="Segoe UI" pitchFamily="34" charset="-122"/>
                <a:cs typeface="Segoe UI" pitchFamily="34" charset="-120"/>
              </a:rPr>
              <a:t>مجموعة مختارة من العملاء الذين نفذنا لهم أعمالنا.</a:t>
            </a:r>
            <a:endParaRPr lang="ar-SA" sz="1500" dirty="0"/>
          </a:p>
        </p:txBody>
      </p:sp>
      <p:sp>
        <p:nvSpPr>
          <p:cNvPr id="8" name="Shape 4"/>
          <p:cNvSpPr/>
          <p:nvPr/>
        </p:nvSpPr>
        <p:spPr>
          <a:xfrm>
            <a:off x="8127797" y="2468880"/>
            <a:ext cx="3515258" cy="3108960"/>
          </a:xfrm>
          <a:prstGeom prst="rect">
            <a:avLst/>
          </a:prstGeom>
          <a:solidFill>
            <a:srgbClr val="FFFFFF"/>
          </a:solidFill>
          <a:ln w="9525">
            <a:solidFill>
              <a:srgbClr val="DDE1E6"/>
            </a:solidFill>
            <a:prstDash val="solid"/>
          </a:ln>
          <a:effectLst>
            <a:outerShdw sx="100000" sy="100000" kx="0" ky="0" algn="bl" rotWithShape="0" blurRad="127000" dist="25400" dir="5400000">
              <a:srgbClr val="0E1420">
                <a:alpha val="12000"/>
              </a:srgbClr>
            </a:outerShdw>
          </a:effectLst>
        </p:spPr>
      </p:sp>
      <p:sp>
        <p:nvSpPr>
          <p:cNvPr id="9" name="Shape 5"/>
          <p:cNvSpPr/>
          <p:nvPr/>
        </p:nvSpPr>
        <p:spPr>
          <a:xfrm>
            <a:off x="10865815" y="2971800"/>
            <a:ext cx="365760" cy="137160"/>
          </a:xfrm>
          <a:prstGeom prst="parallelogram">
            <a:avLst/>
          </a:prstGeom>
          <a:solidFill>
            <a:srgbClr val="E5177B"/>
          </a:solidFill>
          <a:ln w="12700">
            <a:solidFill>
              <a:srgbClr val="E5177B"/>
            </a:solidFill>
            <a:prstDash val="solid"/>
          </a:ln>
        </p:spPr>
      </p:sp>
      <p:sp>
        <p:nvSpPr>
          <p:cNvPr id="10" name="Text 6"/>
          <p:cNvSpPr txBox="1"/>
          <p:nvPr/>
        </p:nvSpPr>
        <p:spPr>
          <a:xfrm>
            <a:off x="8493557" y="2898648"/>
            <a:ext cx="2235098" cy="274320"/>
          </a:xfrm>
          <a:prstGeom prst="rect">
            <a:avLst/>
          </a:prstGeom>
          <a:noFill/>
          <a:ln/>
        </p:spPr>
        <p:txBody>
          <a:bodyPr wrap="square" lIns="0" tIns="0" rIns="0" bIns="0" rtlCol="0" anchor="ctr"/>
          <a:lstStyle/>
          <a:p>
            <a:pPr rtl="1" algn="r" indent="0" marL="0">
              <a:buNone/>
            </a:pPr>
            <a:r>
              <a:rPr lang="ar-SA" altLang="en-US" sz="1150" b="1" dirty="0">
                <a:solidFill>
                  <a:srgbClr val="667080"/>
                </a:solidFill>
                <a:latin typeface="Segoe UI" pitchFamily="34" charset="0"/>
                <a:ea typeface="Segoe UI" pitchFamily="34" charset="-122"/>
                <a:cs typeface="Segoe UI" pitchFamily="34" charset="-120"/>
              </a:rPr>
              <a:t>عميل</a:t>
            </a:r>
            <a:endParaRPr lang="ar-SA" sz="1150" dirty="0"/>
          </a:p>
        </p:txBody>
      </p:sp>
      <p:sp>
        <p:nvSpPr>
          <p:cNvPr id="11" name="Text 7"/>
          <p:cNvSpPr txBox="1"/>
          <p:nvPr/>
        </p:nvSpPr>
        <p:spPr>
          <a:xfrm>
            <a:off x="8539277" y="3657600"/>
            <a:ext cx="2692298" cy="822960"/>
          </a:xfrm>
          <a:prstGeom prst="rect">
            <a:avLst/>
          </a:prstGeom>
          <a:noFill/>
          <a:ln/>
        </p:spPr>
        <p:txBody>
          <a:bodyPr wrap="square" lIns="0" tIns="0" rIns="0" bIns="0" rtlCol="0" anchor="ctr"/>
          <a:lstStyle/>
          <a:p>
            <a:pPr algn="r" indent="0" marL="0">
              <a:buNone/>
            </a:pPr>
            <a:r>
              <a:rPr lang="en-US" sz="3600" b="1" spc="200" kern="0" dirty="0">
                <a:solidFill>
                  <a:srgbClr val="0E1420"/>
                </a:solidFill>
                <a:latin typeface="Cinzel" pitchFamily="34" charset="0"/>
                <a:ea typeface="Cinzel" pitchFamily="34" charset="-122"/>
                <a:cs typeface="Cinzel" pitchFamily="34" charset="-120"/>
              </a:rPr>
              <a:t>DUKAN</a:t>
            </a:r>
            <a:endParaRPr lang="en-US" sz="3600" dirty="0"/>
          </a:p>
        </p:txBody>
      </p:sp>
      <p:sp>
        <p:nvSpPr>
          <p:cNvPr id="12" name="Text 8"/>
          <p:cNvSpPr txBox="1"/>
          <p:nvPr/>
        </p:nvSpPr>
        <p:spPr>
          <a:xfrm>
            <a:off x="8539277" y="4617720"/>
            <a:ext cx="2692298" cy="914400"/>
          </a:xfrm>
          <a:prstGeom prst="rect">
            <a:avLst/>
          </a:prstGeom>
          <a:noFill/>
          <a:ln/>
        </p:spPr>
        <p:txBody>
          <a:bodyPr wrap="square" lIns="0" tIns="0" rIns="0" bIns="0" rtlCol="0" anchor="t"/>
          <a:lstStyle/>
          <a:p>
            <a:pPr rtl="1" algn="r" indent="0" marL="0">
              <a:buNone/>
            </a:pPr>
            <a:r>
              <a:rPr lang="ar-SA" altLang="en-US" sz="1400" dirty="0">
                <a:solidFill>
                  <a:srgbClr val="3F4856"/>
                </a:solidFill>
                <a:latin typeface="Segoe UI" pitchFamily="34" charset="0"/>
                <a:ea typeface="Segoe UI" pitchFamily="34" charset="-122"/>
                <a:cs typeface="Segoe UI" pitchFamily="34" charset="-120"/>
              </a:rPr>
              <a:t>دكان  ·  مجموعة الدباغ</a:t>
            </a:r>
            <a:endParaRPr lang="ar-SA" sz="1400" dirty="0"/>
          </a:p>
        </p:txBody>
      </p:sp>
      <p:sp>
        <p:nvSpPr>
          <p:cNvPr id="13" name="Shape 9"/>
          <p:cNvSpPr/>
          <p:nvPr/>
        </p:nvSpPr>
        <p:spPr>
          <a:xfrm>
            <a:off x="4338218" y="2468880"/>
            <a:ext cx="3515258" cy="3108960"/>
          </a:xfrm>
          <a:prstGeom prst="rect">
            <a:avLst/>
          </a:prstGeom>
          <a:solidFill>
            <a:srgbClr val="FFFFFF"/>
          </a:solidFill>
          <a:ln w="9525">
            <a:solidFill>
              <a:srgbClr val="DDE1E6"/>
            </a:solidFill>
            <a:prstDash val="solid"/>
          </a:ln>
          <a:effectLst>
            <a:outerShdw sx="100000" sy="100000" kx="0" ky="0" algn="bl" rotWithShape="0" blurRad="127000" dist="25400" dir="5400000">
              <a:srgbClr val="0E1420">
                <a:alpha val="12000"/>
              </a:srgbClr>
            </a:outerShdw>
          </a:effectLst>
        </p:spPr>
      </p:sp>
      <p:sp>
        <p:nvSpPr>
          <p:cNvPr id="14" name="Shape 10"/>
          <p:cNvSpPr/>
          <p:nvPr/>
        </p:nvSpPr>
        <p:spPr>
          <a:xfrm>
            <a:off x="7076237" y="2971800"/>
            <a:ext cx="365760" cy="137160"/>
          </a:xfrm>
          <a:prstGeom prst="parallelogram">
            <a:avLst/>
          </a:prstGeom>
          <a:solidFill>
            <a:srgbClr val="2DB8E0"/>
          </a:solidFill>
          <a:ln w="12700">
            <a:solidFill>
              <a:srgbClr val="2DB8E0"/>
            </a:solidFill>
            <a:prstDash val="solid"/>
          </a:ln>
        </p:spPr>
      </p:sp>
      <p:sp>
        <p:nvSpPr>
          <p:cNvPr id="15" name="Text 11"/>
          <p:cNvSpPr txBox="1"/>
          <p:nvPr/>
        </p:nvSpPr>
        <p:spPr>
          <a:xfrm>
            <a:off x="4703978" y="2898648"/>
            <a:ext cx="2235098" cy="274320"/>
          </a:xfrm>
          <a:prstGeom prst="rect">
            <a:avLst/>
          </a:prstGeom>
          <a:noFill/>
          <a:ln/>
        </p:spPr>
        <p:txBody>
          <a:bodyPr wrap="square" lIns="0" tIns="0" rIns="0" bIns="0" rtlCol="0" anchor="ctr"/>
          <a:lstStyle/>
          <a:p>
            <a:pPr rtl="1" algn="r" indent="0" marL="0">
              <a:buNone/>
            </a:pPr>
            <a:r>
              <a:rPr lang="ar-SA" altLang="en-US" sz="1150" b="1" dirty="0">
                <a:solidFill>
                  <a:srgbClr val="667080"/>
                </a:solidFill>
                <a:latin typeface="Segoe UI" pitchFamily="34" charset="0"/>
                <a:ea typeface="Segoe UI" pitchFamily="34" charset="-122"/>
                <a:cs typeface="Segoe UI" pitchFamily="34" charset="-120"/>
              </a:rPr>
              <a:t>عميل</a:t>
            </a:r>
            <a:endParaRPr lang="ar-SA" sz="1150" dirty="0"/>
          </a:p>
        </p:txBody>
      </p:sp>
      <p:sp>
        <p:nvSpPr>
          <p:cNvPr id="16" name="Text 12"/>
          <p:cNvSpPr txBox="1"/>
          <p:nvPr/>
        </p:nvSpPr>
        <p:spPr>
          <a:xfrm>
            <a:off x="4749698" y="3657600"/>
            <a:ext cx="2692298" cy="822960"/>
          </a:xfrm>
          <a:prstGeom prst="rect">
            <a:avLst/>
          </a:prstGeom>
          <a:noFill/>
          <a:ln/>
        </p:spPr>
        <p:txBody>
          <a:bodyPr wrap="square" lIns="0" tIns="0" rIns="0" bIns="0" rtlCol="0" anchor="ctr"/>
          <a:lstStyle/>
          <a:p>
            <a:pPr algn="r" indent="0" marL="0">
              <a:buNone/>
            </a:pPr>
            <a:r>
              <a:rPr lang="en-US" sz="3600" b="1" spc="200" kern="0" dirty="0">
                <a:solidFill>
                  <a:srgbClr val="0E1420"/>
                </a:solidFill>
                <a:latin typeface="Cinzel" pitchFamily="34" charset="0"/>
                <a:ea typeface="Cinzel" pitchFamily="34" charset="-122"/>
                <a:cs typeface="Cinzel" pitchFamily="34" charset="-120"/>
              </a:rPr>
              <a:t>PANDA</a:t>
            </a:r>
            <a:endParaRPr lang="en-US" sz="3600" dirty="0"/>
          </a:p>
        </p:txBody>
      </p:sp>
      <p:sp>
        <p:nvSpPr>
          <p:cNvPr id="17" name="Text 13"/>
          <p:cNvSpPr txBox="1"/>
          <p:nvPr/>
        </p:nvSpPr>
        <p:spPr>
          <a:xfrm>
            <a:off x="4749698" y="4617720"/>
            <a:ext cx="2692298" cy="914400"/>
          </a:xfrm>
          <a:prstGeom prst="rect">
            <a:avLst/>
          </a:prstGeom>
          <a:noFill/>
          <a:ln/>
        </p:spPr>
        <p:txBody>
          <a:bodyPr wrap="square" lIns="0" tIns="0" rIns="0" bIns="0" rtlCol="0" anchor="t"/>
          <a:lstStyle/>
          <a:p>
            <a:pPr rtl="1" algn="r" indent="0" marL="0">
              <a:buNone/>
            </a:pPr>
            <a:r>
              <a:rPr lang="ar-SA" altLang="en-US" sz="1400" dirty="0">
                <a:solidFill>
                  <a:srgbClr val="3F4856"/>
                </a:solidFill>
                <a:latin typeface="Segoe UI" pitchFamily="34" charset="0"/>
                <a:ea typeface="Segoe UI" pitchFamily="34" charset="-122"/>
                <a:cs typeface="Segoe UI" pitchFamily="34" charset="-120"/>
              </a:rPr>
              <a:t>بنده  ·  مجموعة صافولا</a:t>
            </a:r>
            <a:endParaRPr lang="ar-SA" sz="1400" dirty="0"/>
          </a:p>
        </p:txBody>
      </p:sp>
      <p:sp>
        <p:nvSpPr>
          <p:cNvPr id="18" name="Shape 14"/>
          <p:cNvSpPr/>
          <p:nvPr/>
        </p:nvSpPr>
        <p:spPr>
          <a:xfrm>
            <a:off x="548640" y="2468880"/>
            <a:ext cx="3515258" cy="3108960"/>
          </a:xfrm>
          <a:prstGeom prst="rect">
            <a:avLst/>
          </a:prstGeom>
          <a:solidFill>
            <a:srgbClr val="FFFFFF"/>
          </a:solidFill>
          <a:ln w="9525">
            <a:solidFill>
              <a:srgbClr val="DDE1E6"/>
            </a:solidFill>
            <a:prstDash val="solid"/>
          </a:ln>
          <a:effectLst>
            <a:outerShdw sx="100000" sy="100000" kx="0" ky="0" algn="bl" rotWithShape="0" blurRad="127000" dist="25400" dir="5400000">
              <a:srgbClr val="0E1420">
                <a:alpha val="12000"/>
              </a:srgbClr>
            </a:outerShdw>
          </a:effectLst>
        </p:spPr>
      </p:sp>
      <p:sp>
        <p:nvSpPr>
          <p:cNvPr id="19" name="Shape 15"/>
          <p:cNvSpPr/>
          <p:nvPr/>
        </p:nvSpPr>
        <p:spPr>
          <a:xfrm>
            <a:off x="3286658" y="2971800"/>
            <a:ext cx="365760" cy="137160"/>
          </a:xfrm>
          <a:prstGeom prst="parallelogram">
            <a:avLst/>
          </a:prstGeom>
          <a:solidFill>
            <a:srgbClr val="5B54A4"/>
          </a:solidFill>
          <a:ln w="12700">
            <a:solidFill>
              <a:srgbClr val="5B54A4"/>
            </a:solidFill>
            <a:prstDash val="solid"/>
          </a:ln>
        </p:spPr>
      </p:sp>
      <p:sp>
        <p:nvSpPr>
          <p:cNvPr id="20" name="Text 16"/>
          <p:cNvSpPr txBox="1"/>
          <p:nvPr/>
        </p:nvSpPr>
        <p:spPr>
          <a:xfrm>
            <a:off x="914400" y="2898648"/>
            <a:ext cx="2235098" cy="274320"/>
          </a:xfrm>
          <a:prstGeom prst="rect">
            <a:avLst/>
          </a:prstGeom>
          <a:noFill/>
          <a:ln/>
        </p:spPr>
        <p:txBody>
          <a:bodyPr wrap="square" lIns="0" tIns="0" rIns="0" bIns="0" rtlCol="0" anchor="ctr"/>
          <a:lstStyle/>
          <a:p>
            <a:pPr rtl="1" algn="r" indent="0" marL="0">
              <a:buNone/>
            </a:pPr>
            <a:r>
              <a:rPr lang="ar-SA" altLang="en-US" sz="1150" b="1" dirty="0">
                <a:solidFill>
                  <a:srgbClr val="667080"/>
                </a:solidFill>
                <a:latin typeface="Segoe UI" pitchFamily="34" charset="0"/>
                <a:ea typeface="Segoe UI" pitchFamily="34" charset="-122"/>
                <a:cs typeface="Segoe UI" pitchFamily="34" charset="-120"/>
              </a:rPr>
              <a:t>عميل</a:t>
            </a:r>
            <a:endParaRPr lang="ar-SA" sz="1150" dirty="0"/>
          </a:p>
        </p:txBody>
      </p:sp>
      <p:sp>
        <p:nvSpPr>
          <p:cNvPr id="21" name="Text 17"/>
          <p:cNvSpPr txBox="1"/>
          <p:nvPr/>
        </p:nvSpPr>
        <p:spPr>
          <a:xfrm>
            <a:off x="960120" y="3657600"/>
            <a:ext cx="2692298" cy="822960"/>
          </a:xfrm>
          <a:prstGeom prst="rect">
            <a:avLst/>
          </a:prstGeom>
          <a:noFill/>
          <a:ln/>
        </p:spPr>
        <p:txBody>
          <a:bodyPr wrap="square" lIns="0" tIns="0" rIns="0" bIns="0" rtlCol="0" anchor="ctr"/>
          <a:lstStyle/>
          <a:p>
            <a:pPr algn="r" indent="0" marL="0">
              <a:buNone/>
            </a:pPr>
            <a:r>
              <a:rPr lang="en-US" sz="3600" b="1" spc="200" kern="0" dirty="0">
                <a:solidFill>
                  <a:srgbClr val="0E1420"/>
                </a:solidFill>
                <a:latin typeface="Cinzel" pitchFamily="34" charset="0"/>
                <a:ea typeface="Cinzel" pitchFamily="34" charset="-122"/>
                <a:cs typeface="Cinzel" pitchFamily="34" charset="-120"/>
              </a:rPr>
              <a:t>MAZDA</a:t>
            </a:r>
            <a:endParaRPr lang="en-US" sz="3600" dirty="0"/>
          </a:p>
        </p:txBody>
      </p:sp>
      <p:sp>
        <p:nvSpPr>
          <p:cNvPr id="22" name="Text 18"/>
          <p:cNvSpPr txBox="1"/>
          <p:nvPr/>
        </p:nvSpPr>
        <p:spPr>
          <a:xfrm>
            <a:off x="960120" y="4617720"/>
            <a:ext cx="2692298" cy="914400"/>
          </a:xfrm>
          <a:prstGeom prst="rect">
            <a:avLst/>
          </a:prstGeom>
          <a:noFill/>
          <a:ln/>
        </p:spPr>
        <p:txBody>
          <a:bodyPr wrap="square" lIns="0" tIns="0" rIns="0" bIns="0" rtlCol="0" anchor="t"/>
          <a:lstStyle/>
          <a:p>
            <a:pPr rtl="1" algn="r" indent="0" marL="0">
              <a:buNone/>
            </a:pPr>
            <a:r>
              <a:rPr lang="ar-SA" altLang="en-US" sz="1400" dirty="0">
                <a:solidFill>
                  <a:srgbClr val="3F4856"/>
                </a:solidFill>
                <a:latin typeface="Segoe UI" pitchFamily="34" charset="0"/>
                <a:ea typeface="Segoe UI" pitchFamily="34" charset="-122"/>
                <a:cs typeface="Segoe UI" pitchFamily="34" charset="-120"/>
              </a:rPr>
              <a:t>مازدا  ·  شركة الحاج حسين علي رضا وشركاه المحدودة</a:t>
            </a:r>
            <a:endParaRPr lang="ar-SA" sz="1400" dirty="0"/>
          </a:p>
        </p:txBody>
      </p:sp>
      <p:sp>
        <p:nvSpPr>
          <p:cNvPr id="23" name="Text 19"/>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24" name="Text 20"/>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14</a:t>
            </a:r>
            <a:endParaRPr lang="ar-SA"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ome/user/NVIConsult/build/assets_bold/logo_mark.png">    </p:cNvPr>
          <p:cNvPicPr>
            <a:picLocks noChangeAspect="1"/>
          </p:cNvPicPr>
          <p:nvPr/>
        </p:nvPicPr>
        <p:blipFill>
          <a:blip r:embed="rId1"/>
          <a:stretch>
            <a:fillRect/>
          </a:stretch>
        </p:blipFill>
        <p:spPr>
          <a:xfrm>
            <a:off x="11328969" y="576072"/>
            <a:ext cx="314086" cy="173736"/>
          </a:xfrm>
          <a:prstGeom prst="rect">
            <a:avLst/>
          </a:prstGeom>
        </p:spPr>
      </p:pic>
      <p:sp>
        <p:nvSpPr>
          <p:cNvPr id="3" name="Text 0"/>
          <p:cNvSpPr txBox="1"/>
          <p:nvPr/>
        </p:nvSpPr>
        <p:spPr>
          <a:xfrm>
            <a:off x="4327855" y="548640"/>
            <a:ext cx="6858000" cy="256032"/>
          </a:xfrm>
          <a:prstGeom prst="rect">
            <a:avLst/>
          </a:prstGeom>
          <a:noFill/>
          <a:ln/>
        </p:spPr>
        <p:txBody>
          <a:bodyPr wrap="square" lIns="0" tIns="0" rIns="0" bIns="0" rtlCol="0" anchor="ctr"/>
          <a:lstStyle/>
          <a:p>
            <a:pPr rtl="1" algn="r" indent="0" marL="0">
              <a:buNone/>
            </a:pPr>
            <a:r>
              <a:rPr lang="ar-SA" altLang="en-US" sz="1260" b="1" dirty="0">
                <a:solidFill>
                  <a:srgbClr val="E5177B"/>
                </a:solidFill>
                <a:latin typeface="Segoe UI" pitchFamily="34" charset="0"/>
                <a:ea typeface="Segoe UI" pitchFamily="34" charset="-122"/>
                <a:cs typeface="Segoe UI" pitchFamily="34" charset="-120"/>
              </a:rPr>
              <a:t>06  ·  فريق القيادة</a:t>
            </a:r>
            <a:endParaRPr lang="ar-SA" sz="1260" dirty="0"/>
          </a:p>
        </p:txBody>
      </p:sp>
      <p:sp>
        <p:nvSpPr>
          <p:cNvPr id="4" name="Text 1"/>
          <p:cNvSpPr txBox="1"/>
          <p:nvPr/>
        </p:nvSpPr>
        <p:spPr>
          <a:xfrm>
            <a:off x="548640" y="896112"/>
            <a:ext cx="11094415" cy="640080"/>
          </a:xfrm>
          <a:prstGeom prst="rect">
            <a:avLst/>
          </a:prstGeom>
          <a:noFill/>
          <a:ln/>
        </p:spPr>
        <p:txBody>
          <a:bodyPr wrap="square" lIns="0" tIns="0" rIns="0" bIns="0" rtlCol="0" anchor="t"/>
          <a:lstStyle/>
          <a:p>
            <a:pPr rtl="1" algn="r" indent="0" marL="0">
              <a:buNone/>
            </a:pPr>
            <a:r>
              <a:rPr lang="ar-SA" altLang="en-US" sz="3200" b="1" dirty="0">
                <a:solidFill>
                  <a:srgbClr val="0E1420"/>
                </a:solidFill>
                <a:latin typeface="Segoe UI" pitchFamily="34" charset="0"/>
                <a:ea typeface="Segoe UI" pitchFamily="34" charset="-122"/>
                <a:cs typeface="Segoe UI" pitchFamily="34" charset="-120"/>
              </a:rPr>
              <a:t>مهندسون ذوو خبرة في كل التخصصات</a:t>
            </a:r>
            <a:endParaRPr lang="ar-SA" sz="3200" dirty="0"/>
          </a:p>
        </p:txBody>
      </p:sp>
      <p:sp>
        <p:nvSpPr>
          <p:cNvPr id="5" name="Shape 2"/>
          <p:cNvSpPr/>
          <p:nvPr/>
        </p:nvSpPr>
        <p:spPr>
          <a:xfrm>
            <a:off x="8351215" y="1783080"/>
            <a:ext cx="3291840" cy="4526280"/>
          </a:xfrm>
          <a:prstGeom prst="rect">
            <a:avLst/>
          </a:prstGeom>
          <a:solidFill>
            <a:srgbClr val="0E1420"/>
          </a:solidFill>
          <a:ln w="12700">
            <a:solidFill>
              <a:srgbClr val="0E1420"/>
            </a:solidFill>
            <a:prstDash val="solid"/>
          </a:ln>
        </p:spPr>
      </p:sp>
      <p:pic>
        <p:nvPicPr>
          <p:cNvPr id="6" name="Image 1" descr="/home/user/NVIConsult/build/assets_bold/p_azzam.jpg">    </p:cNvPr>
          <p:cNvPicPr>
            <a:picLocks noChangeAspect="1"/>
          </p:cNvPicPr>
          <p:nvPr/>
        </p:nvPicPr>
        <p:blipFill>
          <a:blip r:embed="rId2"/>
          <a:stretch>
            <a:fillRect/>
          </a:stretch>
        </p:blipFill>
        <p:spPr>
          <a:xfrm>
            <a:off x="8351215" y="1783080"/>
            <a:ext cx="3291840" cy="2743200"/>
          </a:xfrm>
          <a:prstGeom prst="rect">
            <a:avLst/>
          </a:prstGeom>
        </p:spPr>
      </p:pic>
      <p:sp>
        <p:nvSpPr>
          <p:cNvPr id="7" name="Shape 3"/>
          <p:cNvSpPr/>
          <p:nvPr/>
        </p:nvSpPr>
        <p:spPr>
          <a:xfrm>
            <a:off x="11057839" y="4754880"/>
            <a:ext cx="310896" cy="128016"/>
          </a:xfrm>
          <a:prstGeom prst="parallelogram">
            <a:avLst/>
          </a:prstGeom>
          <a:solidFill>
            <a:srgbClr val="2DB8E0"/>
          </a:solidFill>
          <a:ln w="12700">
            <a:solidFill>
              <a:srgbClr val="2DB8E0"/>
            </a:solidFill>
            <a:prstDash val="solid"/>
          </a:ln>
        </p:spPr>
      </p:sp>
      <p:sp>
        <p:nvSpPr>
          <p:cNvPr id="8" name="Text 4"/>
          <p:cNvSpPr txBox="1"/>
          <p:nvPr/>
        </p:nvSpPr>
        <p:spPr>
          <a:xfrm>
            <a:off x="8625535" y="4681728"/>
            <a:ext cx="2286000" cy="274320"/>
          </a:xfrm>
          <a:prstGeom prst="rect">
            <a:avLst/>
          </a:prstGeom>
          <a:noFill/>
          <a:ln/>
        </p:spPr>
        <p:txBody>
          <a:bodyPr wrap="square" lIns="0" tIns="0" rIns="0" bIns="0" rtlCol="0" anchor="ctr"/>
          <a:lstStyle/>
          <a:p>
            <a:pPr rtl="1" algn="r" indent="0" marL="0">
              <a:buNone/>
            </a:pPr>
            <a:r>
              <a:rPr lang="ar-SA" altLang="en-US" sz="1150" b="1" dirty="0">
                <a:solidFill>
                  <a:srgbClr val="2DB8E0"/>
                </a:solidFill>
                <a:latin typeface="Segoe UI" pitchFamily="34" charset="0"/>
                <a:ea typeface="Segoe UI" pitchFamily="34" charset="-122"/>
                <a:cs typeface="Segoe UI" pitchFamily="34" charset="-120"/>
              </a:rPr>
              <a:t>المدير العام</a:t>
            </a:r>
            <a:endParaRPr lang="ar-SA" sz="1150" dirty="0"/>
          </a:p>
        </p:txBody>
      </p:sp>
      <p:sp>
        <p:nvSpPr>
          <p:cNvPr id="9" name="Text 5"/>
          <p:cNvSpPr txBox="1"/>
          <p:nvPr/>
        </p:nvSpPr>
        <p:spPr>
          <a:xfrm>
            <a:off x="8625535" y="5029200"/>
            <a:ext cx="2743200" cy="411480"/>
          </a:xfrm>
          <a:prstGeom prst="rect">
            <a:avLst/>
          </a:prstGeom>
          <a:noFill/>
          <a:ln/>
        </p:spPr>
        <p:txBody>
          <a:bodyPr wrap="square" lIns="0" tIns="0" rIns="0" bIns="0" rtlCol="0" anchor="ctr"/>
          <a:lstStyle/>
          <a:p>
            <a:pPr rtl="1" algn="r" indent="0" marL="0">
              <a:buNone/>
            </a:pPr>
            <a:r>
              <a:rPr lang="ar-SA" altLang="en-US" sz="2000" b="1" dirty="0">
                <a:solidFill>
                  <a:srgbClr val="FFFFFF"/>
                </a:solidFill>
                <a:latin typeface="Segoe UI" pitchFamily="34" charset="0"/>
                <a:ea typeface="Segoe UI" pitchFamily="34" charset="-122"/>
                <a:cs typeface="Segoe UI" pitchFamily="34" charset="-120"/>
              </a:rPr>
              <a:t>عزام الصايح</a:t>
            </a:r>
            <a:endParaRPr lang="ar-SA" sz="2000" dirty="0"/>
          </a:p>
        </p:txBody>
      </p:sp>
      <p:sp>
        <p:nvSpPr>
          <p:cNvPr id="10" name="Text 6"/>
          <p:cNvSpPr txBox="1"/>
          <p:nvPr/>
        </p:nvSpPr>
        <p:spPr>
          <a:xfrm>
            <a:off x="8625535" y="5486400"/>
            <a:ext cx="2743200" cy="731520"/>
          </a:xfrm>
          <a:prstGeom prst="rect">
            <a:avLst/>
          </a:prstGeom>
          <a:noFill/>
          <a:ln/>
        </p:spPr>
        <p:txBody>
          <a:bodyPr wrap="square" lIns="0" tIns="0" rIns="0" bIns="0" rtlCol="0" anchor="t"/>
          <a:lstStyle/>
          <a:p>
            <a:pPr rtl="1" algn="r" indent="0" marL="0">
              <a:buNone/>
            </a:pPr>
            <a:r>
              <a:rPr lang="ar-SA" altLang="en-US" sz="1380" dirty="0">
                <a:solidFill>
                  <a:srgbClr val="C3CBD6"/>
                </a:solidFill>
                <a:latin typeface="Segoe UI" pitchFamily="34" charset="0"/>
                <a:ea typeface="Segoe UI" pitchFamily="34" charset="-122"/>
                <a:cs typeface="Segoe UI" pitchFamily="34" charset="-120"/>
              </a:rPr>
              <a:t>مهندس مدني  ·  خبرة 35 عامًا، منها العمل مع مجموعة بن لادن السعودية</a:t>
            </a:r>
            <a:endParaRPr lang="ar-SA" sz="1380" dirty="0"/>
          </a:p>
        </p:txBody>
      </p:sp>
      <p:sp>
        <p:nvSpPr>
          <p:cNvPr id="11" name="Shape 7"/>
          <p:cNvSpPr/>
          <p:nvPr/>
        </p:nvSpPr>
        <p:spPr>
          <a:xfrm>
            <a:off x="4427068" y="1783080"/>
            <a:ext cx="3649828" cy="2148840"/>
          </a:xfrm>
          <a:prstGeom prst="rect">
            <a:avLst/>
          </a:prstGeom>
          <a:solidFill>
            <a:srgbClr val="F2F4F7"/>
          </a:solidFill>
          <a:ln w="12700">
            <a:solidFill>
              <a:srgbClr val="F2F4F7"/>
            </a:solidFill>
            <a:prstDash val="solid"/>
          </a:ln>
        </p:spPr>
      </p:sp>
      <p:pic>
        <p:nvPicPr>
          <p:cNvPr id="12" name="Image 2" descr="/home/user/NVIConsult/build/assets_bold/p_hazem.jpg">    </p:cNvPr>
          <p:cNvPicPr>
            <a:picLocks noChangeAspect="1"/>
          </p:cNvPicPr>
          <p:nvPr/>
        </p:nvPicPr>
        <p:blipFill>
          <a:blip r:embed="rId3"/>
          <a:stretch>
            <a:fillRect/>
          </a:stretch>
        </p:blipFill>
        <p:spPr>
          <a:xfrm>
            <a:off x="6202375" y="2057400"/>
            <a:ext cx="1600200" cy="1600200"/>
          </a:xfrm>
          <a:prstGeom prst="rect">
            <a:avLst/>
          </a:prstGeom>
        </p:spPr>
      </p:pic>
      <p:sp>
        <p:nvSpPr>
          <p:cNvPr id="13" name="Text 8"/>
          <p:cNvSpPr txBox="1"/>
          <p:nvPr/>
        </p:nvSpPr>
        <p:spPr>
          <a:xfrm>
            <a:off x="4564228" y="2057400"/>
            <a:ext cx="1455268" cy="228600"/>
          </a:xfrm>
          <a:prstGeom prst="rect">
            <a:avLst/>
          </a:prstGeom>
          <a:noFill/>
          <a:ln/>
        </p:spPr>
        <p:txBody>
          <a:bodyPr wrap="square" lIns="0" tIns="0" rIns="0" bIns="0" rtlCol="0" anchor="t"/>
          <a:lstStyle/>
          <a:p>
            <a:pPr rtl="1" algn="r" indent="0" marL="0">
              <a:buNone/>
            </a:pPr>
            <a:r>
              <a:rPr lang="ar-SA" altLang="en-US" sz="980" b="1" dirty="0">
                <a:solidFill>
                  <a:srgbClr val="E5177B"/>
                </a:solidFill>
                <a:latin typeface="Segoe UI" pitchFamily="34" charset="0"/>
                <a:ea typeface="Segoe UI" pitchFamily="34" charset="-122"/>
                <a:cs typeface="Segoe UI" pitchFamily="34" charset="-120"/>
              </a:rPr>
              <a:t>مدير مشاريع</a:t>
            </a:r>
            <a:endParaRPr lang="ar-SA" sz="980" dirty="0"/>
          </a:p>
        </p:txBody>
      </p:sp>
      <p:sp>
        <p:nvSpPr>
          <p:cNvPr id="14" name="Text 9"/>
          <p:cNvSpPr txBox="1"/>
          <p:nvPr/>
        </p:nvSpPr>
        <p:spPr>
          <a:xfrm>
            <a:off x="4564228" y="2331720"/>
            <a:ext cx="1455268" cy="54864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حازم غربال</a:t>
            </a:r>
            <a:endParaRPr lang="ar-SA" sz="1500" dirty="0"/>
          </a:p>
        </p:txBody>
      </p:sp>
      <p:sp>
        <p:nvSpPr>
          <p:cNvPr id="15" name="Text 10"/>
          <p:cNvSpPr txBox="1"/>
          <p:nvPr/>
        </p:nvSpPr>
        <p:spPr>
          <a:xfrm>
            <a:off x="4564228" y="2898648"/>
            <a:ext cx="1455268" cy="274320"/>
          </a:xfrm>
          <a:prstGeom prst="rect">
            <a:avLst/>
          </a:prstGeom>
          <a:noFill/>
          <a:ln/>
        </p:spPr>
        <p:txBody>
          <a:bodyPr wrap="square" lIns="0" tIns="0" rIns="0" bIns="0" rtlCol="0" anchor="t"/>
          <a:lstStyle/>
          <a:p>
            <a:pPr rtl="1" algn="r" indent="0" marL="0">
              <a:buNone/>
            </a:pPr>
            <a:r>
              <a:rPr lang="ar-SA" altLang="en-US" sz="1260" dirty="0">
                <a:solidFill>
                  <a:srgbClr val="3F4856"/>
                </a:solidFill>
                <a:latin typeface="Segoe UI" pitchFamily="34" charset="0"/>
                <a:ea typeface="Segoe UI" pitchFamily="34" charset="-122"/>
                <a:cs typeface="Segoe UI" pitchFamily="34" charset="-120"/>
              </a:rPr>
              <a:t>مصمم داخلي</a:t>
            </a:r>
            <a:endParaRPr lang="ar-SA" sz="1260" dirty="0"/>
          </a:p>
        </p:txBody>
      </p:sp>
      <p:sp>
        <p:nvSpPr>
          <p:cNvPr id="16" name="Text 11"/>
          <p:cNvSpPr txBox="1"/>
          <p:nvPr/>
        </p:nvSpPr>
        <p:spPr>
          <a:xfrm>
            <a:off x="5562295" y="3200400"/>
            <a:ext cx="457200" cy="457200"/>
          </a:xfrm>
          <a:prstGeom prst="rect">
            <a:avLst/>
          </a:prstGeom>
          <a:noFill/>
          <a:ln/>
        </p:spPr>
        <p:txBody>
          <a:bodyPr wrap="square" lIns="0" tIns="0" rIns="0" bIns="0" rtlCol="0" anchor="ctr"/>
          <a:lstStyle/>
          <a:p>
            <a:pPr rtl="1" algn="r" indent="0" marL="0">
              <a:buNone/>
            </a:pPr>
            <a:r>
              <a:rPr lang="ar-SA" altLang="en-US" sz="2200" b="1" dirty="0">
                <a:solidFill>
                  <a:srgbClr val="0E1420"/>
                </a:solidFill>
                <a:latin typeface="Consolas" pitchFamily="34" charset="0"/>
                <a:ea typeface="Consolas" pitchFamily="34" charset="-122"/>
                <a:cs typeface="Consolas" pitchFamily="34" charset="-120"/>
              </a:rPr>
              <a:t>18</a:t>
            </a:r>
            <a:endParaRPr lang="ar-SA" sz="2200" dirty="0"/>
          </a:p>
        </p:txBody>
      </p:sp>
      <p:sp>
        <p:nvSpPr>
          <p:cNvPr id="17" name="Text 12"/>
          <p:cNvSpPr txBox="1"/>
          <p:nvPr/>
        </p:nvSpPr>
        <p:spPr>
          <a:xfrm>
            <a:off x="4564228" y="3200400"/>
            <a:ext cx="979780" cy="457200"/>
          </a:xfrm>
          <a:prstGeom prst="rect">
            <a:avLst/>
          </a:prstGeom>
          <a:noFill/>
          <a:ln/>
        </p:spPr>
        <p:txBody>
          <a:bodyPr wrap="square" lIns="0" tIns="0" rIns="0" bIns="0" rtlCol="0" anchor="ctr"/>
          <a:lstStyle/>
          <a:p>
            <a:pPr rtl="1" algn="r" indent="0" marL="0">
              <a:buNone/>
            </a:pPr>
            <a:r>
              <a:rPr lang="ar-SA" altLang="en-US" sz="1150" dirty="0">
                <a:solidFill>
                  <a:srgbClr val="667080"/>
                </a:solidFill>
                <a:latin typeface="Segoe UI" pitchFamily="34" charset="0"/>
                <a:ea typeface="Segoe UI" pitchFamily="34" charset="-122"/>
                <a:cs typeface="Segoe UI" pitchFamily="34" charset="-120"/>
              </a:rPr>
              <a:t>عامًا من الخبرة</a:t>
            </a:r>
            <a:endParaRPr lang="ar-SA" sz="1150" dirty="0"/>
          </a:p>
        </p:txBody>
      </p:sp>
      <p:sp>
        <p:nvSpPr>
          <p:cNvPr id="18" name="Shape 13"/>
          <p:cNvSpPr/>
          <p:nvPr/>
        </p:nvSpPr>
        <p:spPr>
          <a:xfrm>
            <a:off x="548640" y="1783080"/>
            <a:ext cx="3649828" cy="2148840"/>
          </a:xfrm>
          <a:prstGeom prst="rect">
            <a:avLst/>
          </a:prstGeom>
          <a:solidFill>
            <a:srgbClr val="F2F4F7"/>
          </a:solidFill>
          <a:ln w="12700">
            <a:solidFill>
              <a:srgbClr val="F2F4F7"/>
            </a:solidFill>
            <a:prstDash val="solid"/>
          </a:ln>
        </p:spPr>
      </p:sp>
      <p:pic>
        <p:nvPicPr>
          <p:cNvPr id="19" name="Image 3" descr="/home/user/NVIConsult/build/assets_bold/p_mohammad.jpg">    </p:cNvPr>
          <p:cNvPicPr>
            <a:picLocks noChangeAspect="1"/>
          </p:cNvPicPr>
          <p:nvPr/>
        </p:nvPicPr>
        <p:blipFill>
          <a:blip r:embed="rId4"/>
          <a:stretch>
            <a:fillRect/>
          </a:stretch>
        </p:blipFill>
        <p:spPr>
          <a:xfrm>
            <a:off x="2323948" y="2057400"/>
            <a:ext cx="1600200" cy="1600200"/>
          </a:xfrm>
          <a:prstGeom prst="rect">
            <a:avLst/>
          </a:prstGeom>
        </p:spPr>
      </p:pic>
      <p:sp>
        <p:nvSpPr>
          <p:cNvPr id="20" name="Text 14"/>
          <p:cNvSpPr txBox="1"/>
          <p:nvPr/>
        </p:nvSpPr>
        <p:spPr>
          <a:xfrm>
            <a:off x="685800" y="2057400"/>
            <a:ext cx="1455268" cy="228600"/>
          </a:xfrm>
          <a:prstGeom prst="rect">
            <a:avLst/>
          </a:prstGeom>
          <a:noFill/>
          <a:ln/>
        </p:spPr>
        <p:txBody>
          <a:bodyPr wrap="square" lIns="0" tIns="0" rIns="0" bIns="0" rtlCol="0" anchor="t"/>
          <a:lstStyle/>
          <a:p>
            <a:pPr rtl="1" algn="r" indent="0" marL="0">
              <a:buNone/>
            </a:pPr>
            <a:r>
              <a:rPr lang="ar-SA" altLang="en-US" sz="980" b="1" dirty="0">
                <a:solidFill>
                  <a:srgbClr val="1A93B8"/>
                </a:solidFill>
                <a:latin typeface="Segoe UI" pitchFamily="34" charset="0"/>
                <a:ea typeface="Segoe UI" pitchFamily="34" charset="-122"/>
                <a:cs typeface="Segoe UI" pitchFamily="34" charset="-120"/>
              </a:rPr>
              <a:t>مدير مشاريع</a:t>
            </a:r>
            <a:endParaRPr lang="ar-SA" sz="980" dirty="0"/>
          </a:p>
        </p:txBody>
      </p:sp>
      <p:sp>
        <p:nvSpPr>
          <p:cNvPr id="21" name="Text 15"/>
          <p:cNvSpPr txBox="1"/>
          <p:nvPr/>
        </p:nvSpPr>
        <p:spPr>
          <a:xfrm>
            <a:off x="685800" y="2331720"/>
            <a:ext cx="1455268" cy="54864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محمد خياط</a:t>
            </a:r>
            <a:endParaRPr lang="ar-SA" sz="1500" dirty="0"/>
          </a:p>
        </p:txBody>
      </p:sp>
      <p:sp>
        <p:nvSpPr>
          <p:cNvPr id="22" name="Text 16"/>
          <p:cNvSpPr txBox="1"/>
          <p:nvPr/>
        </p:nvSpPr>
        <p:spPr>
          <a:xfrm>
            <a:off x="685800" y="2898648"/>
            <a:ext cx="1455268" cy="274320"/>
          </a:xfrm>
          <a:prstGeom prst="rect">
            <a:avLst/>
          </a:prstGeom>
          <a:noFill/>
          <a:ln/>
        </p:spPr>
        <p:txBody>
          <a:bodyPr wrap="square" lIns="0" tIns="0" rIns="0" bIns="0" rtlCol="0" anchor="t"/>
          <a:lstStyle/>
          <a:p>
            <a:pPr rtl="1" algn="r" indent="0" marL="0">
              <a:buNone/>
            </a:pPr>
            <a:r>
              <a:rPr lang="ar-SA" altLang="en-US" sz="1260" dirty="0">
                <a:solidFill>
                  <a:srgbClr val="3F4856"/>
                </a:solidFill>
                <a:latin typeface="Segoe UI" pitchFamily="34" charset="0"/>
                <a:ea typeface="Segoe UI" pitchFamily="34" charset="-122"/>
                <a:cs typeface="Segoe UI" pitchFamily="34" charset="-120"/>
              </a:rPr>
              <a:t>مهندس شبكات</a:t>
            </a:r>
            <a:endParaRPr lang="ar-SA" sz="1260" dirty="0"/>
          </a:p>
        </p:txBody>
      </p:sp>
      <p:sp>
        <p:nvSpPr>
          <p:cNvPr id="23" name="Text 17"/>
          <p:cNvSpPr txBox="1"/>
          <p:nvPr/>
        </p:nvSpPr>
        <p:spPr>
          <a:xfrm>
            <a:off x="1683868" y="3200400"/>
            <a:ext cx="457200" cy="457200"/>
          </a:xfrm>
          <a:prstGeom prst="rect">
            <a:avLst/>
          </a:prstGeom>
          <a:noFill/>
          <a:ln/>
        </p:spPr>
        <p:txBody>
          <a:bodyPr wrap="square" lIns="0" tIns="0" rIns="0" bIns="0" rtlCol="0" anchor="ctr"/>
          <a:lstStyle/>
          <a:p>
            <a:pPr rtl="1" algn="r" indent="0" marL="0">
              <a:buNone/>
            </a:pPr>
            <a:r>
              <a:rPr lang="ar-SA" altLang="en-US" sz="2200" b="1" dirty="0">
                <a:solidFill>
                  <a:srgbClr val="0E1420"/>
                </a:solidFill>
                <a:latin typeface="Consolas" pitchFamily="34" charset="0"/>
                <a:ea typeface="Consolas" pitchFamily="34" charset="-122"/>
                <a:cs typeface="Consolas" pitchFamily="34" charset="-120"/>
              </a:rPr>
              <a:t>15</a:t>
            </a:r>
            <a:endParaRPr lang="ar-SA" sz="2200" dirty="0"/>
          </a:p>
        </p:txBody>
      </p:sp>
      <p:sp>
        <p:nvSpPr>
          <p:cNvPr id="24" name="Text 18"/>
          <p:cNvSpPr txBox="1"/>
          <p:nvPr/>
        </p:nvSpPr>
        <p:spPr>
          <a:xfrm>
            <a:off x="685800" y="3200400"/>
            <a:ext cx="979780" cy="457200"/>
          </a:xfrm>
          <a:prstGeom prst="rect">
            <a:avLst/>
          </a:prstGeom>
          <a:noFill/>
          <a:ln/>
        </p:spPr>
        <p:txBody>
          <a:bodyPr wrap="square" lIns="0" tIns="0" rIns="0" bIns="0" rtlCol="0" anchor="ctr"/>
          <a:lstStyle/>
          <a:p>
            <a:pPr rtl="1" algn="r" indent="0" marL="0">
              <a:buNone/>
            </a:pPr>
            <a:r>
              <a:rPr lang="ar-SA" altLang="en-US" sz="1150" dirty="0">
                <a:solidFill>
                  <a:srgbClr val="667080"/>
                </a:solidFill>
                <a:latin typeface="Segoe UI" pitchFamily="34" charset="0"/>
                <a:ea typeface="Segoe UI" pitchFamily="34" charset="-122"/>
                <a:cs typeface="Segoe UI" pitchFamily="34" charset="-120"/>
              </a:rPr>
              <a:t>عامًا من الخبرة</a:t>
            </a:r>
            <a:endParaRPr lang="ar-SA" sz="1150" dirty="0"/>
          </a:p>
        </p:txBody>
      </p:sp>
      <p:sp>
        <p:nvSpPr>
          <p:cNvPr id="25" name="Shape 19"/>
          <p:cNvSpPr/>
          <p:nvPr/>
        </p:nvSpPr>
        <p:spPr>
          <a:xfrm>
            <a:off x="4427068" y="4160520"/>
            <a:ext cx="3649828" cy="2148840"/>
          </a:xfrm>
          <a:prstGeom prst="rect">
            <a:avLst/>
          </a:prstGeom>
          <a:solidFill>
            <a:srgbClr val="F2F4F7"/>
          </a:solidFill>
          <a:ln w="12700">
            <a:solidFill>
              <a:srgbClr val="F2F4F7"/>
            </a:solidFill>
            <a:prstDash val="solid"/>
          </a:ln>
        </p:spPr>
      </p:sp>
      <p:pic>
        <p:nvPicPr>
          <p:cNvPr id="26" name="Image 4" descr="/home/user/NVIConsult/build/assets_bold/p_nader.jpg">    </p:cNvPr>
          <p:cNvPicPr>
            <a:picLocks noChangeAspect="1"/>
          </p:cNvPicPr>
          <p:nvPr/>
        </p:nvPicPr>
        <p:blipFill>
          <a:blip r:embed="rId5"/>
          <a:stretch>
            <a:fillRect/>
          </a:stretch>
        </p:blipFill>
        <p:spPr>
          <a:xfrm>
            <a:off x="6202375" y="4434840"/>
            <a:ext cx="1600200" cy="1600200"/>
          </a:xfrm>
          <a:prstGeom prst="rect">
            <a:avLst/>
          </a:prstGeom>
        </p:spPr>
      </p:pic>
      <p:sp>
        <p:nvSpPr>
          <p:cNvPr id="27" name="Text 20"/>
          <p:cNvSpPr txBox="1"/>
          <p:nvPr/>
        </p:nvSpPr>
        <p:spPr>
          <a:xfrm>
            <a:off x="4564228" y="4434840"/>
            <a:ext cx="1455268" cy="228600"/>
          </a:xfrm>
          <a:prstGeom prst="rect">
            <a:avLst/>
          </a:prstGeom>
          <a:noFill/>
          <a:ln/>
        </p:spPr>
        <p:txBody>
          <a:bodyPr wrap="square" lIns="0" tIns="0" rIns="0" bIns="0" rtlCol="0" anchor="t"/>
          <a:lstStyle/>
          <a:p>
            <a:pPr rtl="1" algn="r" indent="0" marL="0">
              <a:buNone/>
            </a:pPr>
            <a:r>
              <a:rPr lang="ar-SA" altLang="en-US" sz="980" b="1" dirty="0">
                <a:solidFill>
                  <a:srgbClr val="C98F00"/>
                </a:solidFill>
                <a:latin typeface="Segoe UI" pitchFamily="34" charset="0"/>
                <a:ea typeface="Segoe UI" pitchFamily="34" charset="-122"/>
                <a:cs typeface="Segoe UI" pitchFamily="34" charset="-120"/>
              </a:rPr>
              <a:t>مدير مشاريع</a:t>
            </a:r>
            <a:endParaRPr lang="ar-SA" sz="980" dirty="0"/>
          </a:p>
        </p:txBody>
      </p:sp>
      <p:sp>
        <p:nvSpPr>
          <p:cNvPr id="28" name="Text 21"/>
          <p:cNvSpPr txBox="1"/>
          <p:nvPr/>
        </p:nvSpPr>
        <p:spPr>
          <a:xfrm>
            <a:off x="4564228" y="4709160"/>
            <a:ext cx="1455268" cy="54864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نادر م. عبد الهادي</a:t>
            </a:r>
            <a:endParaRPr lang="ar-SA" sz="1500" dirty="0"/>
          </a:p>
        </p:txBody>
      </p:sp>
      <p:sp>
        <p:nvSpPr>
          <p:cNvPr id="29" name="Text 22"/>
          <p:cNvSpPr txBox="1"/>
          <p:nvPr/>
        </p:nvSpPr>
        <p:spPr>
          <a:xfrm>
            <a:off x="4564228" y="5276088"/>
            <a:ext cx="1455268" cy="274320"/>
          </a:xfrm>
          <a:prstGeom prst="rect">
            <a:avLst/>
          </a:prstGeom>
          <a:noFill/>
          <a:ln/>
        </p:spPr>
        <p:txBody>
          <a:bodyPr wrap="square" lIns="0" tIns="0" rIns="0" bIns="0" rtlCol="0" anchor="t"/>
          <a:lstStyle/>
          <a:p>
            <a:pPr rtl="1" algn="r" indent="0" marL="0">
              <a:buNone/>
            </a:pPr>
            <a:r>
              <a:rPr lang="ar-SA" altLang="en-US" sz="1260" dirty="0">
                <a:solidFill>
                  <a:srgbClr val="3F4856"/>
                </a:solidFill>
                <a:latin typeface="Segoe UI" pitchFamily="34" charset="0"/>
                <a:ea typeface="Segoe UI" pitchFamily="34" charset="-122"/>
                <a:cs typeface="Segoe UI" pitchFamily="34" charset="-120"/>
              </a:rPr>
              <a:t>مهندس كهرباء</a:t>
            </a:r>
            <a:endParaRPr lang="ar-SA" sz="1260" dirty="0"/>
          </a:p>
        </p:txBody>
      </p:sp>
      <p:sp>
        <p:nvSpPr>
          <p:cNvPr id="30" name="Text 23"/>
          <p:cNvSpPr txBox="1"/>
          <p:nvPr/>
        </p:nvSpPr>
        <p:spPr>
          <a:xfrm>
            <a:off x="5562295" y="5577840"/>
            <a:ext cx="457200" cy="457200"/>
          </a:xfrm>
          <a:prstGeom prst="rect">
            <a:avLst/>
          </a:prstGeom>
          <a:noFill/>
          <a:ln/>
        </p:spPr>
        <p:txBody>
          <a:bodyPr wrap="square" lIns="0" tIns="0" rIns="0" bIns="0" rtlCol="0" anchor="ctr"/>
          <a:lstStyle/>
          <a:p>
            <a:pPr rtl="1" algn="r" indent="0" marL="0">
              <a:buNone/>
            </a:pPr>
            <a:r>
              <a:rPr lang="ar-SA" altLang="en-US" sz="2200" b="1" dirty="0">
                <a:solidFill>
                  <a:srgbClr val="0E1420"/>
                </a:solidFill>
                <a:latin typeface="Consolas" pitchFamily="34" charset="0"/>
                <a:ea typeface="Consolas" pitchFamily="34" charset="-122"/>
                <a:cs typeface="Consolas" pitchFamily="34" charset="-120"/>
              </a:rPr>
              <a:t>11</a:t>
            </a:r>
            <a:endParaRPr lang="ar-SA" sz="2200" dirty="0"/>
          </a:p>
        </p:txBody>
      </p:sp>
      <p:sp>
        <p:nvSpPr>
          <p:cNvPr id="31" name="Text 24"/>
          <p:cNvSpPr txBox="1"/>
          <p:nvPr/>
        </p:nvSpPr>
        <p:spPr>
          <a:xfrm>
            <a:off x="4564228" y="5577840"/>
            <a:ext cx="979780" cy="457200"/>
          </a:xfrm>
          <a:prstGeom prst="rect">
            <a:avLst/>
          </a:prstGeom>
          <a:noFill/>
          <a:ln/>
        </p:spPr>
        <p:txBody>
          <a:bodyPr wrap="square" lIns="0" tIns="0" rIns="0" bIns="0" rtlCol="0" anchor="ctr"/>
          <a:lstStyle/>
          <a:p>
            <a:pPr rtl="1" algn="r" indent="0" marL="0">
              <a:buNone/>
            </a:pPr>
            <a:r>
              <a:rPr lang="ar-SA" altLang="en-US" sz="1150" dirty="0">
                <a:solidFill>
                  <a:srgbClr val="667080"/>
                </a:solidFill>
                <a:latin typeface="Segoe UI" pitchFamily="34" charset="0"/>
                <a:ea typeface="Segoe UI" pitchFamily="34" charset="-122"/>
                <a:cs typeface="Segoe UI" pitchFamily="34" charset="-120"/>
              </a:rPr>
              <a:t>عامًا من الخبرة</a:t>
            </a:r>
            <a:endParaRPr lang="ar-SA" sz="1150" dirty="0"/>
          </a:p>
        </p:txBody>
      </p:sp>
      <p:sp>
        <p:nvSpPr>
          <p:cNvPr id="32" name="Shape 25"/>
          <p:cNvSpPr/>
          <p:nvPr/>
        </p:nvSpPr>
        <p:spPr>
          <a:xfrm>
            <a:off x="548640" y="4160520"/>
            <a:ext cx="3649828" cy="2148840"/>
          </a:xfrm>
          <a:prstGeom prst="rect">
            <a:avLst/>
          </a:prstGeom>
          <a:solidFill>
            <a:srgbClr val="F2F4F7"/>
          </a:solidFill>
          <a:ln w="12700">
            <a:solidFill>
              <a:srgbClr val="F2F4F7"/>
            </a:solidFill>
            <a:prstDash val="solid"/>
          </a:ln>
        </p:spPr>
      </p:sp>
      <p:pic>
        <p:nvPicPr>
          <p:cNvPr id="33" name="Image 5" descr="/home/user/NVIConsult/build/assets_bold/p_anas.jpg">    </p:cNvPr>
          <p:cNvPicPr>
            <a:picLocks noChangeAspect="1"/>
          </p:cNvPicPr>
          <p:nvPr/>
        </p:nvPicPr>
        <p:blipFill>
          <a:blip r:embed="rId6"/>
          <a:stretch>
            <a:fillRect/>
          </a:stretch>
        </p:blipFill>
        <p:spPr>
          <a:xfrm>
            <a:off x="2323948" y="4434840"/>
            <a:ext cx="1600200" cy="1600200"/>
          </a:xfrm>
          <a:prstGeom prst="rect">
            <a:avLst/>
          </a:prstGeom>
        </p:spPr>
      </p:pic>
      <p:sp>
        <p:nvSpPr>
          <p:cNvPr id="34" name="Text 26"/>
          <p:cNvSpPr txBox="1"/>
          <p:nvPr/>
        </p:nvSpPr>
        <p:spPr>
          <a:xfrm>
            <a:off x="685800" y="4434840"/>
            <a:ext cx="1455268" cy="228600"/>
          </a:xfrm>
          <a:prstGeom prst="rect">
            <a:avLst/>
          </a:prstGeom>
          <a:noFill/>
          <a:ln/>
        </p:spPr>
        <p:txBody>
          <a:bodyPr wrap="square" lIns="0" tIns="0" rIns="0" bIns="0" rtlCol="0" anchor="t"/>
          <a:lstStyle/>
          <a:p>
            <a:pPr rtl="1" algn="r" indent="0" marL="0">
              <a:buNone/>
            </a:pPr>
            <a:r>
              <a:rPr lang="ar-SA" altLang="en-US" sz="980" b="1" dirty="0">
                <a:solidFill>
                  <a:srgbClr val="5B54A4"/>
                </a:solidFill>
                <a:latin typeface="Segoe UI" pitchFamily="34" charset="0"/>
                <a:ea typeface="Segoe UI" pitchFamily="34" charset="-122"/>
                <a:cs typeface="Segoe UI" pitchFamily="34" charset="-120"/>
              </a:rPr>
              <a:t>مدير مشاريع</a:t>
            </a:r>
            <a:endParaRPr lang="ar-SA" sz="980" dirty="0"/>
          </a:p>
        </p:txBody>
      </p:sp>
      <p:sp>
        <p:nvSpPr>
          <p:cNvPr id="35" name="Text 27"/>
          <p:cNvSpPr txBox="1"/>
          <p:nvPr/>
        </p:nvSpPr>
        <p:spPr>
          <a:xfrm>
            <a:off x="685800" y="4709160"/>
            <a:ext cx="1455268" cy="54864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Segoe UI" pitchFamily="34" charset="0"/>
                <a:ea typeface="Segoe UI" pitchFamily="34" charset="-122"/>
                <a:cs typeface="Segoe UI" pitchFamily="34" charset="-120"/>
              </a:rPr>
              <a:t>أنس خياط</a:t>
            </a:r>
            <a:endParaRPr lang="ar-SA" sz="1500" dirty="0"/>
          </a:p>
        </p:txBody>
      </p:sp>
      <p:sp>
        <p:nvSpPr>
          <p:cNvPr id="36" name="Text 28"/>
          <p:cNvSpPr txBox="1"/>
          <p:nvPr/>
        </p:nvSpPr>
        <p:spPr>
          <a:xfrm>
            <a:off x="685800" y="5276088"/>
            <a:ext cx="1455268" cy="274320"/>
          </a:xfrm>
          <a:prstGeom prst="rect">
            <a:avLst/>
          </a:prstGeom>
          <a:noFill/>
          <a:ln/>
        </p:spPr>
        <p:txBody>
          <a:bodyPr wrap="square" lIns="0" tIns="0" rIns="0" bIns="0" rtlCol="0" anchor="t"/>
          <a:lstStyle/>
          <a:p>
            <a:pPr rtl="1" algn="r" indent="0" marL="0">
              <a:buNone/>
            </a:pPr>
            <a:r>
              <a:rPr lang="ar-SA" altLang="en-US" sz="1260" dirty="0">
                <a:solidFill>
                  <a:srgbClr val="3F4856"/>
                </a:solidFill>
                <a:latin typeface="Segoe UI" pitchFamily="34" charset="0"/>
                <a:ea typeface="Segoe UI" pitchFamily="34" charset="-122"/>
                <a:cs typeface="Segoe UI" pitchFamily="34" charset="-120"/>
              </a:rPr>
              <a:t>مهندس ميكانيكا</a:t>
            </a:r>
            <a:endParaRPr lang="ar-SA" sz="1260" dirty="0"/>
          </a:p>
        </p:txBody>
      </p:sp>
      <p:sp>
        <p:nvSpPr>
          <p:cNvPr id="37" name="Text 29"/>
          <p:cNvSpPr txBox="1"/>
          <p:nvPr/>
        </p:nvSpPr>
        <p:spPr>
          <a:xfrm>
            <a:off x="1683868" y="5577840"/>
            <a:ext cx="457200" cy="457200"/>
          </a:xfrm>
          <a:prstGeom prst="rect">
            <a:avLst/>
          </a:prstGeom>
          <a:noFill/>
          <a:ln/>
        </p:spPr>
        <p:txBody>
          <a:bodyPr wrap="square" lIns="0" tIns="0" rIns="0" bIns="0" rtlCol="0" anchor="ctr"/>
          <a:lstStyle/>
          <a:p>
            <a:pPr rtl="1" algn="r" indent="0" marL="0">
              <a:buNone/>
            </a:pPr>
            <a:r>
              <a:rPr lang="ar-SA" altLang="en-US" sz="2200" b="1" dirty="0">
                <a:solidFill>
                  <a:srgbClr val="0E1420"/>
                </a:solidFill>
                <a:latin typeface="Consolas" pitchFamily="34" charset="0"/>
                <a:ea typeface="Consolas" pitchFamily="34" charset="-122"/>
                <a:cs typeface="Consolas" pitchFamily="34" charset="-120"/>
              </a:rPr>
              <a:t>5</a:t>
            </a:r>
            <a:endParaRPr lang="ar-SA" sz="2200" dirty="0"/>
          </a:p>
        </p:txBody>
      </p:sp>
      <p:sp>
        <p:nvSpPr>
          <p:cNvPr id="38" name="Text 30"/>
          <p:cNvSpPr txBox="1"/>
          <p:nvPr/>
        </p:nvSpPr>
        <p:spPr>
          <a:xfrm>
            <a:off x="685800" y="5577840"/>
            <a:ext cx="979780" cy="457200"/>
          </a:xfrm>
          <a:prstGeom prst="rect">
            <a:avLst/>
          </a:prstGeom>
          <a:noFill/>
          <a:ln/>
        </p:spPr>
        <p:txBody>
          <a:bodyPr wrap="square" lIns="0" tIns="0" rIns="0" bIns="0" rtlCol="0" anchor="ctr"/>
          <a:lstStyle/>
          <a:p>
            <a:pPr rtl="1" algn="r" indent="0" marL="0">
              <a:buNone/>
            </a:pPr>
            <a:r>
              <a:rPr lang="ar-SA" altLang="en-US" sz="1150" dirty="0">
                <a:solidFill>
                  <a:srgbClr val="667080"/>
                </a:solidFill>
                <a:latin typeface="Segoe UI" pitchFamily="34" charset="0"/>
                <a:ea typeface="Segoe UI" pitchFamily="34" charset="-122"/>
                <a:cs typeface="Segoe UI" pitchFamily="34" charset="-120"/>
              </a:rPr>
              <a:t>أعوام من الخبرة</a:t>
            </a:r>
            <a:endParaRPr lang="ar-SA" sz="1150" dirty="0"/>
          </a:p>
        </p:txBody>
      </p:sp>
      <p:sp>
        <p:nvSpPr>
          <p:cNvPr id="39" name="Text 31"/>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980" dirty="0">
                <a:solidFill>
                  <a:srgbClr val="667080"/>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40" name="Text 32"/>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667080"/>
                </a:solidFill>
                <a:latin typeface="Consolas" pitchFamily="34" charset="0"/>
                <a:ea typeface="Consolas" pitchFamily="34" charset="-122"/>
                <a:cs typeface="Consolas" pitchFamily="34" charset="-120"/>
              </a:rPr>
              <a:t>15</a:t>
            </a:r>
            <a:endParaRPr lang="ar-SA"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420"/>
        </a:solidFill>
      </p:bgPr>
    </p:bg>
    <p:spTree>
      <p:nvGrpSpPr>
        <p:cNvPr id="1" name=""/>
        <p:cNvGrpSpPr/>
        <p:nvPr/>
      </p:nvGrpSpPr>
      <p:grpSpPr>
        <a:xfrm>
          <a:off x="0" y="0"/>
          <a:ext cx="0" cy="0"/>
          <a:chOff x="0" y="0"/>
          <a:chExt cx="0" cy="0"/>
        </a:xfrm>
      </p:grpSpPr>
      <p:pic>
        <p:nvPicPr>
          <p:cNvPr id="2" name="Image 0" descr="/home/user/NVIConsult/build/assets_bold/contac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420">
              <a:alpha val="80000"/>
            </a:srgbClr>
          </a:solidFill>
          <a:ln w="12700">
            <a:solidFill>
              <a:srgbClr val="0E1420"/>
            </a:solidFill>
            <a:prstDash val="solid"/>
          </a:ln>
        </p:spPr>
      </p:sp>
      <p:pic>
        <p:nvPicPr>
          <p:cNvPr id="4" name="Image 1" descr="/home/user/NVIConsult/build/assets_bold/logo_white.png">    </p:cNvPr>
          <p:cNvPicPr>
            <a:picLocks noChangeAspect="1"/>
          </p:cNvPicPr>
          <p:nvPr/>
        </p:nvPicPr>
        <p:blipFill>
          <a:blip r:embed="rId2"/>
          <a:stretch>
            <a:fillRect/>
          </a:stretch>
        </p:blipFill>
        <p:spPr>
          <a:xfrm>
            <a:off x="9357055" y="548640"/>
            <a:ext cx="2286000" cy="1475772"/>
          </a:xfrm>
          <a:prstGeom prst="rect">
            <a:avLst/>
          </a:prstGeom>
        </p:spPr>
      </p:pic>
      <p:pic>
        <p:nvPicPr>
          <p:cNvPr id="5" name="Image 2" descr="/home/user/NVIConsult/build/assets_bold/logo_mark.png">    </p:cNvPr>
          <p:cNvPicPr>
            <a:picLocks noChangeAspect="1"/>
          </p:cNvPicPr>
          <p:nvPr/>
        </p:nvPicPr>
        <p:blipFill>
          <a:blip r:embed="rId3"/>
          <a:stretch>
            <a:fillRect/>
          </a:stretch>
        </p:blipFill>
        <p:spPr>
          <a:xfrm>
            <a:off x="11328969" y="2359152"/>
            <a:ext cx="314086" cy="173736"/>
          </a:xfrm>
          <a:prstGeom prst="rect">
            <a:avLst/>
          </a:prstGeom>
        </p:spPr>
      </p:pic>
      <p:sp>
        <p:nvSpPr>
          <p:cNvPr id="6" name="Text 1"/>
          <p:cNvSpPr txBox="1"/>
          <p:nvPr/>
        </p:nvSpPr>
        <p:spPr>
          <a:xfrm>
            <a:off x="4327855" y="2331720"/>
            <a:ext cx="6858000" cy="256032"/>
          </a:xfrm>
          <a:prstGeom prst="rect">
            <a:avLst/>
          </a:prstGeom>
          <a:noFill/>
          <a:ln/>
        </p:spPr>
        <p:txBody>
          <a:bodyPr wrap="square" lIns="0" tIns="0" rIns="0" bIns="0" rtlCol="0" anchor="ctr"/>
          <a:lstStyle/>
          <a:p>
            <a:pPr rtl="1" algn="r" indent="0" marL="0">
              <a:buNone/>
            </a:pPr>
            <a:r>
              <a:rPr lang="ar-SA" altLang="en-US" sz="1260" b="1" dirty="0">
                <a:solidFill>
                  <a:srgbClr val="2DB8E0"/>
                </a:solidFill>
                <a:latin typeface="Segoe UI" pitchFamily="34" charset="0"/>
                <a:ea typeface="Segoe UI" pitchFamily="34" charset="-122"/>
                <a:cs typeface="Segoe UI" pitchFamily="34" charset="-120"/>
              </a:rPr>
              <a:t>07  ·  تواصل معنا</a:t>
            </a:r>
            <a:endParaRPr lang="ar-SA" sz="1260" dirty="0"/>
          </a:p>
        </p:txBody>
      </p:sp>
      <p:sp>
        <p:nvSpPr>
          <p:cNvPr id="7" name="Text 2"/>
          <p:cNvSpPr txBox="1"/>
          <p:nvPr/>
        </p:nvSpPr>
        <p:spPr>
          <a:xfrm>
            <a:off x="1584655" y="2697480"/>
            <a:ext cx="10058400" cy="868680"/>
          </a:xfrm>
          <a:prstGeom prst="rect">
            <a:avLst/>
          </a:prstGeom>
          <a:noFill/>
          <a:ln/>
        </p:spPr>
        <p:txBody>
          <a:bodyPr wrap="square" lIns="0" tIns="0" rIns="0" bIns="0" rtlCol="0" anchor="t"/>
          <a:lstStyle/>
          <a:p>
            <a:pPr rtl="1" algn="r" indent="0" marL="0">
              <a:buNone/>
            </a:pPr>
            <a:r>
              <a:rPr lang="ar-SA" altLang="en-US" sz="4400" b="1" dirty="0">
                <a:solidFill>
                  <a:srgbClr val="FFFFFF"/>
                </a:solidFill>
                <a:latin typeface="Segoe UI" pitchFamily="34" charset="0"/>
                <a:ea typeface="Segoe UI" pitchFamily="34" charset="-122"/>
                <a:cs typeface="Segoe UI" pitchFamily="34" charset="-120"/>
              </a:rPr>
              <a:t>لنبنِ معًا، بلا قلق.</a:t>
            </a:r>
            <a:endParaRPr lang="ar-SA" sz="4400" dirty="0"/>
          </a:p>
        </p:txBody>
      </p:sp>
      <p:sp>
        <p:nvSpPr>
          <p:cNvPr id="8" name="Text 3"/>
          <p:cNvSpPr txBox="1"/>
          <p:nvPr/>
        </p:nvSpPr>
        <p:spPr>
          <a:xfrm>
            <a:off x="1127455" y="3611880"/>
            <a:ext cx="10515600" cy="365760"/>
          </a:xfrm>
          <a:prstGeom prst="rect">
            <a:avLst/>
          </a:prstGeom>
          <a:noFill/>
          <a:ln/>
        </p:spPr>
        <p:txBody>
          <a:bodyPr wrap="square" lIns="0" tIns="0" rIns="0" bIns="0" rtlCol="0" anchor="t"/>
          <a:lstStyle/>
          <a:p>
            <a:pPr rtl="1" algn="r" indent="0" marL="0">
              <a:buNone/>
            </a:pPr>
            <a:r>
              <a:rPr lang="ar-SA" altLang="en-US" sz="1500" dirty="0">
                <a:solidFill>
                  <a:srgbClr val="C3CBD6"/>
                </a:solidFill>
                <a:latin typeface="Segoe UI" pitchFamily="34" charset="0"/>
                <a:ea typeface="Segoe UI" pitchFamily="34" charset="-122"/>
                <a:cs typeface="Segoe UI" pitchFamily="34" charset="-120"/>
              </a:rPr>
              <a:t>الرؤية الجديدة التكاملية للصيانة والمقاولات  ·  جدة، المملكة العربية السعودية</a:t>
            </a:r>
            <a:endParaRPr lang="ar-SA" sz="1500" dirty="0"/>
          </a:p>
        </p:txBody>
      </p:sp>
      <p:sp>
        <p:nvSpPr>
          <p:cNvPr id="9" name="Shape 4"/>
          <p:cNvSpPr/>
          <p:nvPr/>
        </p:nvSpPr>
        <p:spPr>
          <a:xfrm>
            <a:off x="7894015" y="4343400"/>
            <a:ext cx="3749040" cy="1691640"/>
          </a:xfrm>
          <a:prstGeom prst="rect">
            <a:avLst/>
          </a:prstGeom>
          <a:solidFill>
            <a:srgbClr val="182131">
              <a:alpha val="90000"/>
            </a:srgbClr>
          </a:solidFill>
          <a:ln w="9525">
            <a:solidFill>
              <a:srgbClr val="2A3547"/>
            </a:solidFill>
            <a:prstDash val="solid"/>
          </a:ln>
        </p:spPr>
      </p:sp>
      <p:sp>
        <p:nvSpPr>
          <p:cNvPr id="10" name="Text 5"/>
          <p:cNvSpPr txBox="1"/>
          <p:nvPr/>
        </p:nvSpPr>
        <p:spPr>
          <a:xfrm>
            <a:off x="8168335" y="4572000"/>
            <a:ext cx="3200400" cy="228600"/>
          </a:xfrm>
          <a:prstGeom prst="rect">
            <a:avLst/>
          </a:prstGeom>
          <a:noFill/>
          <a:ln/>
        </p:spPr>
        <p:txBody>
          <a:bodyPr wrap="square" lIns="0" tIns="0" rIns="0" bIns="0" rtlCol="0" anchor="t"/>
          <a:lstStyle/>
          <a:p>
            <a:pPr rtl="1" algn="r" indent="0" marL="0">
              <a:buNone/>
            </a:pPr>
            <a:r>
              <a:rPr lang="ar-SA" altLang="en-US" sz="1150" b="1" dirty="0">
                <a:solidFill>
                  <a:srgbClr val="2DB8E0"/>
                </a:solidFill>
                <a:latin typeface="Segoe UI" pitchFamily="34" charset="0"/>
                <a:ea typeface="Segoe UI" pitchFamily="34" charset="-122"/>
                <a:cs typeface="Segoe UI" pitchFamily="34" charset="-120"/>
              </a:rPr>
              <a:t>المدير العام</a:t>
            </a:r>
            <a:endParaRPr lang="ar-SA" sz="1150" dirty="0"/>
          </a:p>
        </p:txBody>
      </p:sp>
      <p:sp>
        <p:nvSpPr>
          <p:cNvPr id="11" name="Text 6"/>
          <p:cNvSpPr txBox="1"/>
          <p:nvPr/>
        </p:nvSpPr>
        <p:spPr>
          <a:xfrm>
            <a:off x="8168335" y="4800600"/>
            <a:ext cx="3200400" cy="41148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Segoe UI" pitchFamily="34" charset="0"/>
                <a:ea typeface="Segoe UI" pitchFamily="34" charset="-122"/>
                <a:cs typeface="Segoe UI" pitchFamily="34" charset="-120"/>
              </a:rPr>
              <a:t>عزام الصايح</a:t>
            </a:r>
            <a:endParaRPr lang="ar-SA" sz="1800" dirty="0"/>
          </a:p>
        </p:txBody>
      </p:sp>
      <p:pic>
        <p:nvPicPr>
          <p:cNvPr id="12" name="Image 3" descr="preencoded.png">    </p:cNvPr>
          <p:cNvPicPr>
            <a:picLocks noChangeAspect="1"/>
          </p:cNvPicPr>
          <p:nvPr/>
        </p:nvPicPr>
        <p:blipFill>
          <a:blip r:embed="rId4"/>
          <a:stretch>
            <a:fillRect/>
          </a:stretch>
        </p:blipFill>
        <p:spPr>
          <a:xfrm>
            <a:off x="11167567" y="5321808"/>
            <a:ext cx="201168" cy="201168"/>
          </a:xfrm>
          <a:prstGeom prst="rect">
            <a:avLst/>
          </a:prstGeom>
        </p:spPr>
      </p:pic>
      <p:sp>
        <p:nvSpPr>
          <p:cNvPr id="13" name="Text 7"/>
          <p:cNvSpPr txBox="1"/>
          <p:nvPr/>
        </p:nvSpPr>
        <p:spPr>
          <a:xfrm>
            <a:off x="8168335" y="5276088"/>
            <a:ext cx="2880360" cy="292608"/>
          </a:xfrm>
          <a:prstGeom prst="rect">
            <a:avLst/>
          </a:prstGeom>
          <a:noFill/>
          <a:ln/>
        </p:spPr>
        <p:txBody>
          <a:bodyPr wrap="square" lIns="0" tIns="0" rIns="0" bIns="0" rtlCol="0" anchor="ctr"/>
          <a:lstStyle/>
          <a:p>
            <a:pPr algn="r" indent="0" marL="0">
              <a:buNone/>
            </a:pPr>
            <a:r>
              <a:rPr lang="en-US" sz="1300" u="sng" dirty="0">
                <a:solidFill>
                  <a:srgbClr val="FFFFFF"/>
                </a:solidFill>
                <a:latin typeface="Century Gothic" pitchFamily="34" charset="0"/>
                <a:ea typeface="Century Gothic" pitchFamily="34" charset="-122"/>
                <a:cs typeface="Century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a.alsayeh@nvi-sa.com</a:t>
            </a:r>
            <a:endParaRPr lang="en-US" sz="1300" dirty="0"/>
          </a:p>
        </p:txBody>
      </p:sp>
      <p:pic>
        <p:nvPicPr>
          <p:cNvPr id="14" name="Image 4" descr="preencoded.png">    </p:cNvPr>
          <p:cNvPicPr>
            <a:picLocks noChangeAspect="1"/>
          </p:cNvPicPr>
          <p:nvPr/>
        </p:nvPicPr>
        <p:blipFill>
          <a:blip r:embed="rId6"/>
          <a:stretch>
            <a:fillRect/>
          </a:stretch>
        </p:blipFill>
        <p:spPr>
          <a:xfrm>
            <a:off x="11167567" y="5641848"/>
            <a:ext cx="201168" cy="201168"/>
          </a:xfrm>
          <a:prstGeom prst="rect">
            <a:avLst/>
          </a:prstGeom>
        </p:spPr>
      </p:pic>
      <p:sp>
        <p:nvSpPr>
          <p:cNvPr id="15" name="Text 8"/>
          <p:cNvSpPr txBox="1"/>
          <p:nvPr/>
        </p:nvSpPr>
        <p:spPr>
          <a:xfrm>
            <a:off x="8168335" y="5596128"/>
            <a:ext cx="2880360" cy="292608"/>
          </a:xfrm>
          <a:prstGeom prst="rect">
            <a:avLst/>
          </a:prstGeom>
          <a:noFill/>
          <a:ln/>
        </p:spPr>
        <p:txBody>
          <a:bodyPr wrap="square" lIns="0" tIns="0" rIns="0" bIns="0" rtlCol="0" anchor="ctr"/>
          <a:lstStyle/>
          <a:p>
            <a:pPr algn="r" indent="0" marL="0">
              <a:buNone/>
            </a:pPr>
            <a:r>
              <a:rPr lang="en-US" sz="1300" u="sng" dirty="0">
                <a:solidFill>
                  <a:srgbClr val="FFFFFF"/>
                </a:solidFill>
                <a:latin typeface="Century Gothic" pitchFamily="34" charset="0"/>
                <a:ea typeface="Century Gothic" pitchFamily="34" charset="-122"/>
                <a:cs typeface="Century 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+966 50 597 6970</a:t>
            </a:r>
            <a:endParaRPr lang="en-US" sz="1300" dirty="0"/>
          </a:p>
        </p:txBody>
      </p:sp>
      <p:sp>
        <p:nvSpPr>
          <p:cNvPr id="16" name="Shape 9"/>
          <p:cNvSpPr/>
          <p:nvPr/>
        </p:nvSpPr>
        <p:spPr>
          <a:xfrm>
            <a:off x="3870655" y="4343400"/>
            <a:ext cx="3749040" cy="1691640"/>
          </a:xfrm>
          <a:prstGeom prst="rect">
            <a:avLst/>
          </a:prstGeom>
          <a:solidFill>
            <a:srgbClr val="182131">
              <a:alpha val="90000"/>
            </a:srgbClr>
          </a:solidFill>
          <a:ln w="9525">
            <a:solidFill>
              <a:srgbClr val="2A3547"/>
            </a:solidFill>
            <a:prstDash val="solid"/>
          </a:ln>
        </p:spPr>
      </p:sp>
      <p:sp>
        <p:nvSpPr>
          <p:cNvPr id="17" name="Text 10"/>
          <p:cNvSpPr txBox="1"/>
          <p:nvPr/>
        </p:nvSpPr>
        <p:spPr>
          <a:xfrm>
            <a:off x="4144975" y="4572000"/>
            <a:ext cx="3200400" cy="228600"/>
          </a:xfrm>
          <a:prstGeom prst="rect">
            <a:avLst/>
          </a:prstGeom>
          <a:noFill/>
          <a:ln/>
        </p:spPr>
        <p:txBody>
          <a:bodyPr wrap="square" lIns="0" tIns="0" rIns="0" bIns="0" rtlCol="0" anchor="t"/>
          <a:lstStyle/>
          <a:p>
            <a:pPr rtl="1" algn="r" indent="0" marL="0">
              <a:buNone/>
            </a:pPr>
            <a:r>
              <a:rPr lang="ar-SA" altLang="en-US" sz="1150" b="1" dirty="0">
                <a:solidFill>
                  <a:srgbClr val="2DB8E0"/>
                </a:solidFill>
                <a:latin typeface="Segoe UI" pitchFamily="34" charset="0"/>
                <a:ea typeface="Segoe UI" pitchFamily="34" charset="-122"/>
                <a:cs typeface="Segoe UI" pitchFamily="34" charset="-120"/>
              </a:rPr>
              <a:t>العضو المنتدب</a:t>
            </a:r>
            <a:endParaRPr lang="ar-SA" sz="1150" dirty="0"/>
          </a:p>
        </p:txBody>
      </p:sp>
      <p:sp>
        <p:nvSpPr>
          <p:cNvPr id="18" name="Text 11"/>
          <p:cNvSpPr txBox="1"/>
          <p:nvPr/>
        </p:nvSpPr>
        <p:spPr>
          <a:xfrm>
            <a:off x="4144975" y="4800600"/>
            <a:ext cx="3200400" cy="41148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Segoe UI" pitchFamily="34" charset="0"/>
                <a:ea typeface="Segoe UI" pitchFamily="34" charset="-122"/>
                <a:cs typeface="Segoe UI" pitchFamily="34" charset="-120"/>
              </a:rPr>
              <a:t>عبد الحي حمبروش</a:t>
            </a:r>
            <a:endParaRPr lang="ar-SA" sz="1800" dirty="0"/>
          </a:p>
        </p:txBody>
      </p:sp>
      <p:pic>
        <p:nvPicPr>
          <p:cNvPr id="19" name="Image 5" descr="preencoded.png">    </p:cNvPr>
          <p:cNvPicPr>
            <a:picLocks noChangeAspect="1"/>
          </p:cNvPicPr>
          <p:nvPr/>
        </p:nvPicPr>
        <p:blipFill>
          <a:blip r:embed="rId8"/>
          <a:stretch>
            <a:fillRect/>
          </a:stretch>
        </p:blipFill>
        <p:spPr>
          <a:xfrm>
            <a:off x="7144207" y="5321808"/>
            <a:ext cx="201168" cy="201168"/>
          </a:xfrm>
          <a:prstGeom prst="rect">
            <a:avLst/>
          </a:prstGeom>
        </p:spPr>
      </p:pic>
      <p:sp>
        <p:nvSpPr>
          <p:cNvPr id="20" name="Text 12"/>
          <p:cNvSpPr txBox="1"/>
          <p:nvPr/>
        </p:nvSpPr>
        <p:spPr>
          <a:xfrm>
            <a:off x="4144975" y="5276088"/>
            <a:ext cx="2880360" cy="292608"/>
          </a:xfrm>
          <a:prstGeom prst="rect">
            <a:avLst/>
          </a:prstGeom>
          <a:noFill/>
          <a:ln/>
        </p:spPr>
        <p:txBody>
          <a:bodyPr wrap="square" lIns="0" tIns="0" rIns="0" bIns="0" rtlCol="0" anchor="ctr"/>
          <a:lstStyle/>
          <a:p>
            <a:pPr algn="r" indent="0" marL="0">
              <a:buNone/>
            </a:pPr>
            <a:r>
              <a:rPr lang="en-US" sz="1300" u="sng" dirty="0">
                <a:solidFill>
                  <a:srgbClr val="FFFFFF"/>
                </a:solidFill>
                <a:latin typeface="Century Gothic" pitchFamily="34" charset="0"/>
                <a:ea typeface="Century Gothic" pitchFamily="34" charset="-122"/>
                <a:cs typeface="Century Goth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a.ahmed@nvi-sa.com</a:t>
            </a:r>
            <a:endParaRPr lang="en-US" sz="1300" dirty="0"/>
          </a:p>
        </p:txBody>
      </p:sp>
      <p:pic>
        <p:nvPicPr>
          <p:cNvPr id="21" name="Image 6" descr="preencoded.png">    </p:cNvPr>
          <p:cNvPicPr>
            <a:picLocks noChangeAspect="1"/>
          </p:cNvPicPr>
          <p:nvPr/>
        </p:nvPicPr>
        <p:blipFill>
          <a:blip r:embed="rId10"/>
          <a:stretch>
            <a:fillRect/>
          </a:stretch>
        </p:blipFill>
        <p:spPr>
          <a:xfrm>
            <a:off x="7144207" y="5641848"/>
            <a:ext cx="201168" cy="201168"/>
          </a:xfrm>
          <a:prstGeom prst="rect">
            <a:avLst/>
          </a:prstGeom>
        </p:spPr>
      </p:pic>
      <p:sp>
        <p:nvSpPr>
          <p:cNvPr id="22" name="Text 13"/>
          <p:cNvSpPr txBox="1"/>
          <p:nvPr/>
        </p:nvSpPr>
        <p:spPr>
          <a:xfrm>
            <a:off x="4144975" y="5596128"/>
            <a:ext cx="2880360" cy="292608"/>
          </a:xfrm>
          <a:prstGeom prst="rect">
            <a:avLst/>
          </a:prstGeom>
          <a:noFill/>
          <a:ln/>
        </p:spPr>
        <p:txBody>
          <a:bodyPr wrap="square" lIns="0" tIns="0" rIns="0" bIns="0" rtlCol="0" anchor="ctr"/>
          <a:lstStyle/>
          <a:p>
            <a:pPr algn="r" indent="0" marL="0">
              <a:buNone/>
            </a:pPr>
            <a:r>
              <a:rPr lang="en-US" sz="1300" u="sng" dirty="0">
                <a:solidFill>
                  <a:srgbClr val="FFFFFF"/>
                </a:solidFill>
                <a:latin typeface="Century Gothic" pitchFamily="34" charset="0"/>
                <a:ea typeface="Century Gothic" pitchFamily="34" charset="-122"/>
                <a:cs typeface="Century Gothic" pitchFamily="34" charset="-120"/>
                <a:hlinkClick r:id="rId11" invalidUrl="" action="" tgtFrame="" tooltip="" history="1" highlightClick="0" endSnd="0">
                  <a:extLst>
                    <a:ext uri="{A12FA001-AC4F-418D-AE19-62706E023703}">
                      <ahyp:hlinkClr xmlns:ahyp="http://schemas.microsoft.com/office/drawing/2018/hyperlinkcolor" val="tx"/>
                    </a:ext>
                  </a:extLst>
                </a:hlinkClick>
              </a:rPr>
              <a:t>+966 55 069 6190</a:t>
            </a:r>
            <a:endParaRPr lang="en-US" sz="1300" dirty="0"/>
          </a:p>
        </p:txBody>
      </p:sp>
      <p:sp>
        <p:nvSpPr>
          <p:cNvPr id="23" name="Shape 14"/>
          <p:cNvSpPr/>
          <p:nvPr/>
        </p:nvSpPr>
        <p:spPr>
          <a:xfrm>
            <a:off x="548640" y="4343400"/>
            <a:ext cx="3047695" cy="1691640"/>
          </a:xfrm>
          <a:prstGeom prst="rect">
            <a:avLst/>
          </a:prstGeom>
          <a:solidFill>
            <a:srgbClr val="E5177B"/>
          </a:solidFill>
          <a:ln w="12700">
            <a:solidFill>
              <a:srgbClr val="E5177B"/>
            </a:solidFill>
            <a:prstDash val="solid"/>
          </a:ln>
        </p:spPr>
      </p:sp>
      <p:sp>
        <p:nvSpPr>
          <p:cNvPr id="24" name="Text 15"/>
          <p:cNvSpPr txBox="1"/>
          <p:nvPr/>
        </p:nvSpPr>
        <p:spPr>
          <a:xfrm>
            <a:off x="822960" y="4572000"/>
            <a:ext cx="2499055" cy="228600"/>
          </a:xfrm>
          <a:prstGeom prst="rect">
            <a:avLst/>
          </a:prstGeom>
          <a:noFill/>
          <a:ln/>
        </p:spPr>
        <p:txBody>
          <a:bodyPr wrap="square" lIns="0" tIns="0" rIns="0" bIns="0" rtlCol="0" anchor="t"/>
          <a:lstStyle/>
          <a:p>
            <a:pPr rtl="1" algn="r" indent="0" marL="0">
              <a:buNone/>
            </a:pPr>
            <a:r>
              <a:rPr lang="ar-SA" altLang="en-US" sz="1150" b="1" dirty="0">
                <a:solidFill>
                  <a:srgbClr val="FFFFFF"/>
                </a:solidFill>
                <a:latin typeface="Segoe UI" pitchFamily="34" charset="0"/>
                <a:ea typeface="Segoe UI" pitchFamily="34" charset="-122"/>
                <a:cs typeface="Segoe UI" pitchFamily="34" charset="-120"/>
              </a:rPr>
              <a:t>الموقع الإلكتروني</a:t>
            </a:r>
            <a:endParaRPr lang="ar-SA" sz="1150" dirty="0"/>
          </a:p>
        </p:txBody>
      </p:sp>
      <p:pic>
        <p:nvPicPr>
          <p:cNvPr id="25" name="Image 7" descr="preencoded.png">    </p:cNvPr>
          <p:cNvPicPr>
            <a:picLocks noChangeAspect="1"/>
          </p:cNvPicPr>
          <p:nvPr/>
        </p:nvPicPr>
        <p:blipFill>
          <a:blip r:embed="rId12"/>
          <a:stretch>
            <a:fillRect/>
          </a:stretch>
        </p:blipFill>
        <p:spPr>
          <a:xfrm>
            <a:off x="2992831" y="4983480"/>
            <a:ext cx="329184" cy="329184"/>
          </a:xfrm>
          <a:prstGeom prst="rect">
            <a:avLst/>
          </a:prstGeom>
        </p:spPr>
      </p:pic>
      <p:sp>
        <p:nvSpPr>
          <p:cNvPr id="26" name="Text 16"/>
          <p:cNvSpPr txBox="1"/>
          <p:nvPr/>
        </p:nvSpPr>
        <p:spPr>
          <a:xfrm>
            <a:off x="731520" y="4937760"/>
            <a:ext cx="2133295" cy="411480"/>
          </a:xfrm>
          <a:prstGeom prst="rect">
            <a:avLst/>
          </a:prstGeom>
          <a:noFill/>
          <a:ln/>
        </p:spPr>
        <p:txBody>
          <a:bodyPr wrap="square" lIns="0" tIns="0" rIns="0" bIns="0" rtlCol="0" anchor="ctr"/>
          <a:lstStyle/>
          <a:p>
            <a:pPr algn="r" indent="0" marL="0">
              <a:buNone/>
            </a:pPr>
            <a:r>
              <a:rPr lang="en-US" sz="1800" b="1" u="sng" dirty="0">
                <a:solidFill>
                  <a:srgbClr val="FFFFFF"/>
                </a:solidFill>
                <a:latin typeface="Bahnschrift" pitchFamily="34" charset="0"/>
                <a:ea typeface="Bahnschrift" pitchFamily="34" charset="-122"/>
                <a:cs typeface="Bahnschrif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www.nvi-sa.com</a:t>
            </a:r>
            <a:endParaRPr lang="en-US" sz="1800" dirty="0"/>
          </a:p>
        </p:txBody>
      </p:sp>
      <p:sp>
        <p:nvSpPr>
          <p:cNvPr id="27" name="Text 17"/>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980" dirty="0">
                <a:solidFill>
                  <a:srgbClr val="8D97A5"/>
                </a:solidFill>
                <a:latin typeface="Segoe UI" pitchFamily="34" charset="0"/>
                <a:ea typeface="Segoe UI" pitchFamily="34" charset="-122"/>
                <a:cs typeface="Segoe UI" pitchFamily="34" charset="-120"/>
              </a:rPr>
              <a:t>الرؤية الجديدة التكاملية  ·  ملف الشركة</a:t>
            </a:r>
            <a:endParaRPr lang="ar-SA" sz="980" dirty="0"/>
          </a:p>
        </p:txBody>
      </p:sp>
      <p:sp>
        <p:nvSpPr>
          <p:cNvPr id="28" name="Text 18"/>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900" b="1" dirty="0">
                <a:solidFill>
                  <a:srgbClr val="8D97A5"/>
                </a:solidFill>
                <a:latin typeface="Consolas" pitchFamily="34" charset="0"/>
                <a:ea typeface="Consolas" pitchFamily="34" charset="-122"/>
                <a:cs typeface="Consolas" pitchFamily="34" charset="-120"/>
              </a:rPr>
              <a:t>16</a:t>
            </a:r>
            <a:endParaRPr lang="ar-SA"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New Vision Integral for Maintenance and Contracting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ملف الشركة</dc:title>
  <dc:subject>PptxGenJS Presentation</dc:subject>
  <dc:creator>New Vision Integral for Maintenance and Contracting</dc:creator>
  <cp:lastModifiedBy>New Vision Integral for Maintenance and Contracting</cp:lastModifiedBy>
  <cp:revision>1</cp:revision>
  <dcterms:created xsi:type="dcterms:W3CDTF">2026-09-29T16:30:22Z</dcterms:created>
  <dcterms:modified xsi:type="dcterms:W3CDTF">2026-09-29T16:30:22Z</dcterms:modified>
</cp:coreProperties>
</file>