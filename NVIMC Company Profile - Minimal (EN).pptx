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nvi-sa.com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a.alsayeh@nvi-sa.com" TargetMode="External"/><Relationship Id="rId4" Type="http://schemas.openxmlformats.org/officeDocument/2006/relationships/hyperlink" Target="https://wa.me/966505976970" TargetMode="External"/><Relationship Id="rId5" Type="http://schemas.openxmlformats.org/officeDocument/2006/relationships/hyperlink" Target="mailto:a.ahmed@nvi-sa.com" TargetMode="External"/><Relationship Id="rId6" Type="http://schemas.openxmlformats.org/officeDocument/2006/relationships/hyperlink" Target="https://wa.me/966550696190" TargetMode="External"/><Relationship Id="rId7" Type="http://schemas.openxmlformats.org/officeDocument/2006/relationships/hyperlink" Target="https://www.nvi-sa.com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lin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/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4" name="Image 2" descr="/home/user/NVIConsult/build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377440" cy="1534803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2514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2834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WORRY-FREE CONSTRUCTION.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389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Vision Integral for Maintenance &amp; Contracting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754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  ·  Contracting  ·  Fit-Out  ·  MEP  ·  Facility Maintenance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8978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Jeddah  ·  Kingdom of Saudi Arabia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1447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5B54A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www.nvi-sa.com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WHO WE ARE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Established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Jeddah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22244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35+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 of expertise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69451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869451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 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26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new Jeddah contractor, backed by 35+ years of expertise.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Vision Integral for Maintenance &amp; Contracting is a Jeddah-based company established in 2024, providing comprehensive maintenance and contracting solutions tailored to each client's needs.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team brings over 35 years of hands-on expertise, and our central Jeddah location lets us serve a diverse range of sectors efficiently.</a:t>
            </a:r>
            <a:endParaRPr lang="en-US" sz="1200" dirty="0"/>
          </a:p>
        </p:txBody>
      </p:sp>
      <p:pic>
        <p:nvPicPr>
          <p:cNvPr id="16" name="Image 0" descr="/home/user/NVIConsult/build/assets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6423" y="2971800"/>
            <a:ext cx="5056632" cy="32918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vi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VISION, MISSION &amp; VALUES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371600"/>
            <a:ext cx="4967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become a leading building firm, from creative design solutions and maintenance to execution and delivery, that resolves our clients' social, environmental and economic needs.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2880360"/>
            <a:ext cx="4967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earn our clients' trust and satisfaction, and build long-term relationships through the projects we deliver and maintain.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85876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we stand for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4069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406908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 satisfaction, never compromised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4572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57200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Integrity &amp; honesty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5074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507492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Effective, principled management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5577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557784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Continuous development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OUR APPROACH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pic>
        <p:nvPicPr>
          <p:cNvPr id="5" name="Image 0" descr="/home/user/NVIConsult/build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055" y="1371600"/>
            <a:ext cx="2286000" cy="1264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Worry-Free Construction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don't just build things. We are committed to enhancing people's lives through the built environment. Doing the job properly the first time, with preventive maintenance planned from the beginning, delivers long-term savings for our clients.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249928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Accurate Engineering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Getting it right the first time.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13684" y="3520440"/>
            <a:ext cx="249928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3684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413684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Detail-Oriented Project Management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13684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phase planned, tracked and controlled.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78728" y="3520440"/>
            <a:ext cx="249928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78728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78728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Timely Communication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278728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Clients kept informed at every stage.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3771" y="3520440"/>
            <a:ext cx="249928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3771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Preventive Maintenance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143771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Planned from day one for long-term savings.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WHAT WE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Eight integrated service lines. One accountable partner.</a:t>
            </a:r>
            <a:endParaRPr lang="en-US" sz="1250" dirty="0"/>
          </a:p>
        </p:txBody>
      </p:sp>
      <p:pic>
        <p:nvPicPr>
          <p:cNvPr id="6" name="Image 0" descr="/home/user/NVIConsult/build/assets/t_e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2567864" cy="1600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 &amp; Planning</a:t>
            </a:r>
            <a:endParaRPr lang="en-US" sz="1300" dirty="0"/>
          </a:p>
        </p:txBody>
      </p:sp>
      <p:pic>
        <p:nvPicPr>
          <p:cNvPr id="9" name="Image 1" descr="/home/user/NVIConsult/build/assets/t_st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24" y="1783080"/>
            <a:ext cx="2567864" cy="160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90824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3985184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Contracting &amp; Structure</a:t>
            </a:r>
            <a:endParaRPr lang="en-US" sz="1300" dirty="0"/>
          </a:p>
        </p:txBody>
      </p:sp>
      <p:pic>
        <p:nvPicPr>
          <p:cNvPr id="12" name="Image 2" descr="/home/user/NVIConsult/build/assets/t_fi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783080"/>
            <a:ext cx="2567864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33008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04.3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827368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Fit-Out &amp; Finishing</a:t>
            </a:r>
            <a:endParaRPr lang="en-US" sz="1300" dirty="0"/>
          </a:p>
        </p:txBody>
      </p:sp>
      <p:pic>
        <p:nvPicPr>
          <p:cNvPr id="15" name="Image 3" descr="/home/user/NVIConsult/build/assets/t_e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191" y="1783080"/>
            <a:ext cx="2567864" cy="1600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75191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04.4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669551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300" dirty="0"/>
          </a:p>
        </p:txBody>
      </p:sp>
      <p:pic>
        <p:nvPicPr>
          <p:cNvPr id="18" name="Image 4" descr="/home/user/NVIConsult/build/assets/t_low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14800"/>
            <a:ext cx="2567864" cy="1600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04.5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 Current Systems</a:t>
            </a:r>
            <a:endParaRPr lang="en-US" sz="1300" dirty="0"/>
          </a:p>
        </p:txBody>
      </p:sp>
      <p:pic>
        <p:nvPicPr>
          <p:cNvPr id="21" name="Image 5" descr="/home/user/NVIConsult/build/assets/t_me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824" y="4114800"/>
            <a:ext cx="2567864" cy="1600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390824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04.6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3985184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&amp; HVAC</a:t>
            </a:r>
            <a:endParaRPr lang="en-US" sz="1300" dirty="0"/>
          </a:p>
        </p:txBody>
      </p:sp>
      <p:pic>
        <p:nvPicPr>
          <p:cNvPr id="24" name="Image 6" descr="/home/user/NVIConsult/build/assets/t_plu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008" y="4114800"/>
            <a:ext cx="2567864" cy="1600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233008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04.7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6827368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&amp; Fire Fighting</a:t>
            </a:r>
            <a:endParaRPr lang="en-US" sz="1300" dirty="0"/>
          </a:p>
        </p:txBody>
      </p:sp>
      <p:pic>
        <p:nvPicPr>
          <p:cNvPr id="27" name="Image 7" descr="/home/user/NVIConsult/build/assets/t_mn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5191" y="4114800"/>
            <a:ext cx="2567864" cy="16002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075191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04.8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9669551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Facility Maintenance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1" name="Text 2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e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ENGINEERING &amp; PLANNING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Disciplined project management applied end to end, from feasibility to handover.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4884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01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2316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Define &amp; Evaluate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5292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definition &amp; characteristics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Portfolio, programme &amp; operations alignment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performance &amp; strategic planning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study &amp; project evaluation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75608" y="201168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75608" y="214884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02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175608" y="242316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Select &amp; Plan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75608" y="285292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Commercial vs. governmental profitability criteria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selection &amp; project charter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Scope planning &amp; master schedule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Cost, quality &amp; human-resources planning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29768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03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57200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00176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Communications, risk &amp; opportunity management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Needs &amp; supplies planning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Analysis methods &amp; change requests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75608" y="416052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75608" y="429768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04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4175608" y="457200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Execute &amp; Close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175608" y="500176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phases &amp; their management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Organisation &amp; execution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Closure &amp; project delivery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st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CONTRACTING &amp; STRUCTURE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structural contracting, led by a civil engineer with 35 years' experience, including Saudi Binladen Group.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Concrete Works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Steel Works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329184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977640"/>
            <a:ext cx="329184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74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 of civil engineering leadership</a:t>
            </a:r>
            <a:endParaRPr lang="en-US" sz="1100" dirty="0"/>
          </a:p>
        </p:txBody>
      </p:sp>
      <p:pic>
        <p:nvPicPr>
          <p:cNvPr id="16" name="Image 1" descr="/home/user/NVIConsult/build/assets/str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59" y="2057400"/>
            <a:ext cx="3305556" cy="41605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f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FIT-OUT &amp; FINISHING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 and every finishing trade, delivered under one roof.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11680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design &amp; fit-out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42032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Landscaping works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02666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072384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Tile works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55701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60273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602736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Woodworking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8736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75608" y="2011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724248" y="2011680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Glass works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175608" y="249631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75608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724248" y="2542032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Painting works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175608" y="302666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75608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24248" y="3072384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Gypsum works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175608" y="355701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75608" y="360273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724248" y="3602736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Aluminium &amp; metal structures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175608" y="408736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pic>
        <p:nvPicPr>
          <p:cNvPr id="31" name="Image 1" descr="/home/user/NVIConsult/build/assets/fit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3261208" cy="1920240"/>
          </a:xfrm>
          <a:prstGeom prst="rect">
            <a:avLst/>
          </a:prstGeom>
        </p:spPr>
      </p:pic>
      <p:pic>
        <p:nvPicPr>
          <p:cNvPr id="32" name="Image 2" descr="/home/user/NVIConsult/build/assets/fit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08" y="4343400"/>
            <a:ext cx="3261208" cy="192024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e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ELECTRICAL WORKS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electrical installation, from main cables to the final point.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11680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Lighting fixtures &amp; points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51176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5968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96896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Raceways &amp; cabling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1821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182112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Power outlets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72160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7673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767328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panels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306824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525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352544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Main cables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9377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937760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Grounding &amp; earthing systems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5477256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52297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522976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Lightning protection systems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6062472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LOW CURRENT SYSTEMS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Integrated building systems for data, safety, security and communications.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1168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systems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700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004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 telephone systems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8269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2841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alarm systems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94106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986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98678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CCTV systems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59943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64515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Public address systems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5780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303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530352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Nurse call systems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91616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75608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24248" y="201168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 control systems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75608" y="262432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75608" y="26700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724248" y="267004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Master clock systems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175608" y="328269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75608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724248" y="332841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 management systems (BMS)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175608" y="394106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75608" y="3986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724248" y="398678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IPTV &amp; audio / video systems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175608" y="459943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175608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4724248" y="464515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Intercom systems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75608" y="525780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175608" y="5303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800" dirty="0"/>
          </a:p>
        </p:txBody>
      </p:sp>
      <p:sp>
        <p:nvSpPr>
          <p:cNvPr id="41" name="Text 38"/>
          <p:cNvSpPr txBox="1"/>
          <p:nvPr/>
        </p:nvSpPr>
        <p:spPr>
          <a:xfrm>
            <a:off x="4724248" y="530352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integrated systems, one installer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m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MECHANICAL &amp; HVAC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Cooling, air handling and air distribution systems.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5740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Chillers &amp; package units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017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01752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Fan coil &amp; air handling units (FCU / AHU)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977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97764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Ductwork &amp; grilles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937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93776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Cold &amp; hot water piping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5852160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pl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PLUMBING &amp; FIRE FIGHTING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Water supply, drainage and fire-fighting networks.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326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PLUMBING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871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48716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Sanitary fixtures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9981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14553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Cold &amp; hot water piping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5818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03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80390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Water &amp; submersible pumps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41655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4622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46227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Sewage piping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75608" y="2011680"/>
            <a:ext cx="326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FIGHTING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75608" y="2395728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75608" y="24871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724248" y="248716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Fire-fighting piping &amp; pumps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175608" y="3099816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75608" y="31455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724248" y="314553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Valves, insulation &amp; fittings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175608" y="3758184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75608" y="3803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724248" y="380390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hose cabinets &amp; sprinklers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175608" y="4416552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m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FACILITY MAINTENANCE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Preventive maintenance, planned from the beginning, to protect our clients' investment over the long term.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1168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Buildings &amp; exterior façades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83464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decoration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657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65760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480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48056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Low-voltage systems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75608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724248" y="201168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Networks &amp; CCTV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75608" y="278892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75608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724248" y="283464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works &amp; air conditioning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75608" y="361188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75608" y="3657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24248" y="365760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works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75608" y="4434840"/>
            <a:ext cx="326120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TRUSTED BY ESTABLISHED BRANDS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selection of the clients we have delivered for.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5429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DUKAN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Dabbagh Group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1828800"/>
            <a:ext cx="345429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8698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PANDA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368698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Savola 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8757" y="1828800"/>
            <a:ext cx="3454298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8757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MAZDA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188757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Haji Husein Alireza &amp; Co. Ltd.</a:t>
            </a:r>
            <a:endParaRPr lang="en-US" sz="1200" dirty="0"/>
          </a:p>
        </p:txBody>
      </p:sp>
      <p:pic>
        <p:nvPicPr>
          <p:cNvPr id="18" name="Image 0" descr="/home/user/NVIConsult/build/assets/cli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11094415" cy="23774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4D4D4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LEADERSHIP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pic>
        <p:nvPicPr>
          <p:cNvPr id="5" name="Image 0" descr="/home/user/NVIConsult/build/assets/p_azz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92608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029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875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Civil Engineer  ·  35 years' experience, including Saudi Binladen Group</a:t>
            </a:r>
            <a:endParaRPr lang="en-US" sz="1000" dirty="0"/>
          </a:p>
        </p:txBody>
      </p:sp>
      <p:pic>
        <p:nvPicPr>
          <p:cNvPr id="9" name="Image 1" descr="/home/user/NVIConsult/build/assets/p_haz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1722044" cy="208457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31920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3931920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Hazem Ghorbal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931920" y="4736339"/>
            <a:ext cx="172204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31920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16" name="Image 2" descr="/home/user/NVIConsult/build/assets/p_mohamma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284" y="1325880"/>
            <a:ext cx="1722044" cy="208457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28284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928284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Mohammad Khayat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928284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Engineer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928284" y="4736339"/>
            <a:ext cx="172204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928284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476924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23" name="Image 3" descr="/home/user/NVIConsult/build/assets/p_nad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1325880"/>
            <a:ext cx="1722044" cy="208457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24648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7924648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Nader M. Abdulhadi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7924648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Electrical Engineer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924648" y="4736339"/>
            <a:ext cx="172204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924648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8473288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30" name="Image 4" descr="/home/user/NVIConsult/build/assets/p_ana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011" y="1325880"/>
            <a:ext cx="1722044" cy="208457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21011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9921011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Anas Khayat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921011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3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Mechanical Engineer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921011" y="4736339"/>
            <a:ext cx="1722044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921011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29"/>
          <p:cNvSpPr txBox="1"/>
          <p:nvPr/>
        </p:nvSpPr>
        <p:spPr>
          <a:xfrm>
            <a:off x="10469651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8" name="Text 3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lin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08" y="502920"/>
            <a:ext cx="2468880" cy="159383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37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Vision Integral for Maintenance &amp; Contracting</a:t>
            </a:r>
            <a:endParaRPr lang="en-US" sz="1500" dirty="0"/>
          </a:p>
        </p:txBody>
      </p:sp>
      <p:sp>
        <p:nvSpPr>
          <p:cNvPr id="5" name="Shape 1"/>
          <p:cNvSpPr/>
          <p:nvPr/>
        </p:nvSpPr>
        <p:spPr>
          <a:xfrm>
            <a:off x="2255368" y="3429000"/>
            <a:ext cx="356616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25536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2255368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2255368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5B54A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a.alsayeh@nvi-sa.com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2255368" y="4590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5B54A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+966 50 597 6970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70168" y="3429000"/>
            <a:ext cx="356616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7016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 DIRECTOR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6370168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Abdulhai Hambrouch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370168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5B54A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a.ahmed@nvi-sa.com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370168" y="4590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5B54A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+966 55 069 6190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255368" y="5166360"/>
            <a:ext cx="7680960" cy="0"/>
          </a:xfrm>
          <a:prstGeom prst="line">
            <a:avLst/>
          </a:prstGeom>
          <a:noFill/>
          <a:ln w="9525">
            <a:solidFill>
              <a:srgbClr val="CDD1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5349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5B54A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www.nvi-sa.com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Jeddah  ·  Kingdom of Saudi Arabia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New Vision Integral for Maintenance and Contracting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subject>PptxGenJS Presentation</dc:subject>
  <dc:creator>New Vision Integral for Maintenance and Contracting</dc:creator>
  <cp:lastModifiedBy>New Vision Integral for Maintenance and Contracting</cp:lastModifiedBy>
  <cp:revision>1</cp:revision>
  <dcterms:created xsi:type="dcterms:W3CDTF">2026-09-29T16:30:21Z</dcterms:created>
  <dcterms:modified xsi:type="dcterms:W3CDTF">2026-09-29T16:30:21Z</dcterms:modified>
</cp:coreProperties>
</file>