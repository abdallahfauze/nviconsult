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image" Target="../media/image-5-7.jpg"/><Relationship Id="rId8" Type="http://schemas.openxmlformats.org/officeDocument/2006/relationships/image" Target="../media/image-5-8.jpg"/><Relationship Id="rId9" Type="http://schemas.openxmlformats.org/officeDocument/2006/relationships/image" Target="../media/image-5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image" Target="../media/image-15-5.jpg"/><Relationship Id="rId6" Type="http://schemas.openxmlformats.org/officeDocument/2006/relationships/image" Target="../media/image-15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hyperlink" Target="mailto:a.alsayeh@nvi-sa.com" TargetMode="External"/><Relationship Id="rId7" Type="http://schemas.openxmlformats.org/officeDocument/2006/relationships/hyperlink" Target="https://wa.me/966505976970" TargetMode="External"/><Relationship Id="rId9" Type="http://schemas.openxmlformats.org/officeDocument/2006/relationships/hyperlink" Target="mailto:a.ahmed@nvi-sa.com" TargetMode="External"/><Relationship Id="rId11" Type="http://schemas.openxmlformats.org/officeDocument/2006/relationships/hyperlink" Target="https://wa.me/966550696190" TargetMode="External"/><Relationship Id="rId13" Type="http://schemas.openxmlformats.org/officeDocument/2006/relationships/hyperlink" Target="https://www.nvi-sa.com" TargetMode="External"/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6" Type="http://schemas.openxmlformats.org/officeDocument/2006/relationships/image" Target="../media/image-16-5.png"/><Relationship Id="rId8" Type="http://schemas.openxmlformats.org/officeDocument/2006/relationships/image" Target="../media/image-16-6.png"/><Relationship Id="rId10" Type="http://schemas.openxmlformats.org/officeDocument/2006/relationships/image" Target="../media/image-16-7.png"/><Relationship Id="rId12" Type="http://schemas.openxmlformats.org/officeDocument/2006/relationships/image" Target="../media/image-16-8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bold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0"/>
            <a:ext cx="74368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0" y="0"/>
            <a:ext cx="7436815" cy="6858000"/>
          </a:xfrm>
          <a:prstGeom prst="rect">
            <a:avLst/>
          </a:prstGeom>
          <a:solidFill>
            <a:srgbClr val="0E1420">
              <a:alpha val="62000"/>
            </a:srgbClr>
          </a:solidFill>
          <a:ln w="12700">
            <a:solidFill>
              <a:srgbClr val="0E1420"/>
            </a:solidFill>
            <a:prstDash val="solid"/>
          </a:ln>
        </p:spPr>
      </p:sp>
      <p:pic>
        <p:nvPicPr>
          <p:cNvPr id="4" name="Image 1" descr="/home/user/NVIConsult/build/assets_bold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68680"/>
            <a:ext cx="3291840" cy="2125112"/>
          </a:xfrm>
          <a:prstGeom prst="rect">
            <a:avLst/>
          </a:prstGeom>
        </p:spPr>
      </p:pic>
      <p:pic>
        <p:nvPicPr>
          <p:cNvPr id="5" name="Image 2" descr="/home/user/NVIConsult/build/assets_bold/logo_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39312"/>
            <a:ext cx="314086" cy="17373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88720" y="3611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51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 PROFILE</a:t>
            </a:r>
            <a:endParaRPr lang="en-US" sz="1100" dirty="0"/>
          </a:p>
        </p:txBody>
      </p:sp>
      <p:sp>
        <p:nvSpPr>
          <p:cNvPr id="7" name="Text 2"/>
          <p:cNvSpPr txBox="1"/>
          <p:nvPr/>
        </p:nvSpPr>
        <p:spPr>
          <a:xfrm>
            <a:off x="731520" y="39776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New Vision Integral</a:t>
            </a:r>
            <a:endParaRPr lang="en-US" sz="22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Maintenance &amp; Contracting</a:t>
            </a:r>
            <a:endParaRPr lang="en-US" sz="2200" dirty="0"/>
          </a:p>
        </p:txBody>
      </p:sp>
      <p:sp>
        <p:nvSpPr>
          <p:cNvPr id="8" name="Text 3"/>
          <p:cNvSpPr txBox="1"/>
          <p:nvPr/>
        </p:nvSpPr>
        <p:spPr>
          <a:xfrm>
            <a:off x="731520" y="4937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Engineering  ·  Contracting  ·  Fit-Out  ·  MEP  ·  Facility Maintenance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731520" y="5897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Jeddah  ·  Kingdom of Saudi Arabia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731520" y="6172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177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www.nvi-sa.com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5486400" y="1828800"/>
            <a:ext cx="384048" cy="146304"/>
          </a:xfrm>
          <a:prstGeom prst="parallelogram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961888" y="1828800"/>
            <a:ext cx="384048" cy="146304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437376" y="1828800"/>
            <a:ext cx="384048" cy="146304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912864" y="1828800"/>
            <a:ext cx="384048" cy="146304"/>
          </a:xfrm>
          <a:prstGeom prst="parallelogram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486400" y="219456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Worry-Free</a:t>
            </a:r>
            <a:endParaRPr lang="en-US" sz="6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Construction.</a:t>
            </a:r>
            <a:endParaRPr lang="en-US" sz="60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0" y="45262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CE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From design and engineering to execution, delivery and maintenance.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bold/abou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pic>
        <p:nvPicPr>
          <p:cNvPr id="3" name="Image 1" descr="/home/user/NVIConsult/build/assets_bold/logo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1792"/>
            <a:ext cx="314086" cy="17373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05840" y="5943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51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WHO WE ARE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E142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 new Jeddah contractor, backed by 35+ years of expertise.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286000"/>
            <a:ext cx="6126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New Vision Integral for Maintenance &amp; Contracting is a Jeddah-based company established in 2024, providing comprehensive maintenance and contracting solutions tailored to each client's needs.</a:t>
            </a:r>
            <a:endParaRPr lang="en-US" sz="1450" dirty="0"/>
          </a:p>
          <a:p>
            <a:pPr algn="l" indent="0" marL="0">
              <a:lnSpc>
                <a:spcPct val="115000"/>
              </a:lnSpc>
              <a:buNone/>
            </a:pPr>
            <a:endParaRPr lang="en-US" sz="14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Our team brings over 35 years of hands-on expertise, and our central Jeddah location lets us serve a diverse range of sectors efficiently.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548640" y="4434840"/>
            <a:ext cx="329184" cy="128016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617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3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120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ESTABLISHED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657600" y="4434840"/>
            <a:ext cx="329184" cy="128016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657600" y="4617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Jeddah</a:t>
            </a:r>
            <a:endParaRPr lang="en-US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5120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HEADQUARTERS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5440680"/>
            <a:ext cx="329184" cy="128016"/>
          </a:xfrm>
          <a:prstGeom prst="parallelogram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5623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35+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126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YEARS OF EXPERTISE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0" y="5440680"/>
            <a:ext cx="329184" cy="128016"/>
          </a:xfrm>
          <a:prstGeom prst="parallelogram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657600" y="5623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3657600" y="6126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LINES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44652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612648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bold/vis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pic>
        <p:nvPicPr>
          <p:cNvPr id="3" name="Image 1" descr="/home/user/NVIConsult/build/assets_bold/logo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621792"/>
            <a:ext cx="314086" cy="17373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212080" y="594360"/>
            <a:ext cx="6430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51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PURPOSE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960120"/>
            <a:ext cx="6888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142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Vision, mission &amp; values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4754880" y="1938528"/>
            <a:ext cx="310896" cy="128016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212080" y="1874520"/>
            <a:ext cx="2804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51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VISION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754880" y="2286000"/>
            <a:ext cx="3261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E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 become a leading building firm, from creative design solutions and maintenance to execution and delivery, that resolves our clients' social, environmental and economic needs.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381848" y="1938528"/>
            <a:ext cx="310896" cy="128016"/>
          </a:xfrm>
          <a:prstGeom prst="parallelogram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839048" y="1874520"/>
            <a:ext cx="2804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MISSION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381848" y="2286000"/>
            <a:ext cx="3261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E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 earn our clients' trust and satisfaction, and build long-term relationships through the projects we deliver and maintain.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754880" y="4343400"/>
            <a:ext cx="6888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STAND FOR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54880" y="4754880"/>
            <a:ext cx="1584884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56048" y="4956048"/>
            <a:ext cx="274320" cy="109728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956048" y="5212080"/>
            <a:ext cx="11825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Customer satisfaction, never compromised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522644" y="4754880"/>
            <a:ext cx="1584884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723812" y="4956048"/>
            <a:ext cx="274320" cy="109728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723812" y="5212080"/>
            <a:ext cx="11825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Integrity &amp; honesty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290408" y="4754880"/>
            <a:ext cx="1584884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91576" y="4956048"/>
            <a:ext cx="274320" cy="109728"/>
          </a:xfrm>
          <a:prstGeom prst="parallelogram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491576" y="5212080"/>
            <a:ext cx="11825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Effective, principled management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0058171" y="4754880"/>
            <a:ext cx="1584884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0259339" y="4956048"/>
            <a:ext cx="274320" cy="109728"/>
          </a:xfrm>
          <a:prstGeom prst="parallelogram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0259339" y="5212080"/>
            <a:ext cx="11825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Continuous development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4754880" y="6446520"/>
            <a:ext cx="6339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bold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495" y="548640"/>
            <a:ext cx="2194560" cy="1213916"/>
          </a:xfrm>
          <a:prstGeom prst="rect">
            <a:avLst/>
          </a:prstGeom>
        </p:spPr>
      </p:pic>
      <p:pic>
        <p:nvPicPr>
          <p:cNvPr id="3" name="Image 1" descr="/home/user/NVIConsult/build/assets_bold/logo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1792"/>
            <a:ext cx="314086" cy="17373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05840" y="5943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B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·  OUR APPROACH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Worry-Free Construction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7830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don't just build things. We are committed to enhancing people's lives through the built environment. Doing the job properly the first time, with preventive maintenance planned from the beginning, delivers long-term savings for our clients.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48640" y="3337560"/>
            <a:ext cx="2602154" cy="2834640"/>
          </a:xfrm>
          <a:prstGeom prst="rect">
            <a:avLst/>
          </a:prstGeom>
          <a:solidFill>
            <a:srgbClr val="182131"/>
          </a:solidFill>
          <a:ln w="12700">
            <a:solidFill>
              <a:srgbClr val="182131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68680" y="3703320"/>
            <a:ext cx="731520" cy="731520"/>
          </a:xfrm>
          <a:prstGeom prst="ellipse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858768"/>
            <a:ext cx="420624" cy="42062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282114" y="3749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C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868680" y="4617720"/>
            <a:ext cx="19620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Accurate Engineering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868680" y="5532120"/>
            <a:ext cx="196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DC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Getting it right the first time.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3379394" y="3337560"/>
            <a:ext cx="2602154" cy="2834640"/>
          </a:xfrm>
          <a:prstGeom prst="rect">
            <a:avLst/>
          </a:prstGeom>
          <a:solidFill>
            <a:srgbClr val="182131"/>
          </a:solidFill>
          <a:ln w="12700">
            <a:solidFill>
              <a:srgbClr val="18213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699434" y="3703320"/>
            <a:ext cx="731520" cy="731520"/>
          </a:xfrm>
          <a:prstGeom prst="ellipse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4882" y="3858768"/>
            <a:ext cx="420624" cy="4206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112868" y="3749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C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3699434" y="4617720"/>
            <a:ext cx="19620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Detail-Oriented Project Management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3699434" y="5532120"/>
            <a:ext cx="196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DC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phase planned, tracked and controlled.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210148" y="3337560"/>
            <a:ext cx="2602154" cy="2834640"/>
          </a:xfrm>
          <a:prstGeom prst="rect">
            <a:avLst/>
          </a:prstGeom>
          <a:solidFill>
            <a:srgbClr val="182131"/>
          </a:solidFill>
          <a:ln w="12700">
            <a:solidFill>
              <a:srgbClr val="182131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530188" y="3703320"/>
            <a:ext cx="731520" cy="731520"/>
          </a:xfrm>
          <a:prstGeom prst="ellipse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5636" y="3858768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943621" y="3749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C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6530188" y="4617720"/>
            <a:ext cx="19620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Timely Communication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6530188" y="5532120"/>
            <a:ext cx="196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DC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Clients kept informed at every stage.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9040901" y="3337560"/>
            <a:ext cx="2602154" cy="2834640"/>
          </a:xfrm>
          <a:prstGeom prst="rect">
            <a:avLst/>
          </a:prstGeom>
          <a:solidFill>
            <a:srgbClr val="182131"/>
          </a:solidFill>
          <a:ln w="12700">
            <a:solidFill>
              <a:srgbClr val="182131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9360941" y="3703320"/>
            <a:ext cx="731520" cy="731520"/>
          </a:xfrm>
          <a:prstGeom prst="ellipse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6389" y="3858768"/>
            <a:ext cx="420624" cy="42062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0774375" y="3749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C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9360941" y="4617720"/>
            <a:ext cx="19620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Preventive Maintenance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9360941" y="5532120"/>
            <a:ext cx="196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DC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Planned from day one for long-term savings.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8D9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32" name="Text 24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D9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bold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30352"/>
            <a:ext cx="314086" cy="1737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05840" y="5029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51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WHAT WE DO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42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Eight integrated service lines. One accountable partner.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26021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pic>
        <p:nvPicPr>
          <p:cNvPr id="6" name="Image 1" descr="/home/user/NVIConsult/build/assets_bold/t_e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2602154" cy="1463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3355848"/>
            <a:ext cx="566928" cy="237744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33558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1417320" y="329184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Engineering &amp; Planning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3379394" y="1737360"/>
            <a:ext cx="26021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pic>
        <p:nvPicPr>
          <p:cNvPr id="11" name="Image 2" descr="/home/user/NVIConsult/build/assets_bold/t_st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394" y="1737360"/>
            <a:ext cx="2602154" cy="14630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562274" y="3355848"/>
            <a:ext cx="566928" cy="237744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3562274" y="33558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4248074" y="329184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Contracting &amp; Structure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210148" y="1737360"/>
            <a:ext cx="26021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pic>
        <p:nvPicPr>
          <p:cNvPr id="16" name="Image 3" descr="/home/user/NVIConsult/build/assets_bold/t_fit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148" y="1737360"/>
            <a:ext cx="2602154" cy="14630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393028" y="3355848"/>
            <a:ext cx="566928" cy="237744"/>
          </a:xfrm>
          <a:prstGeom prst="parallelogram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393028" y="33558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3"/>
          <p:cNvSpPr txBox="1"/>
          <p:nvPr/>
        </p:nvSpPr>
        <p:spPr>
          <a:xfrm>
            <a:off x="7078828" y="329184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Fit-Out &amp; Finishing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9040901" y="1737360"/>
            <a:ext cx="26021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pic>
        <p:nvPicPr>
          <p:cNvPr id="21" name="Image 4" descr="/home/user/NVIConsult/build/assets_bold/t_el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0901" y="1737360"/>
            <a:ext cx="2602154" cy="146304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9223781" y="3355848"/>
            <a:ext cx="566928" cy="237744"/>
          </a:xfrm>
          <a:prstGeom prst="parallelogram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9223781" y="33558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17"/>
          <p:cNvSpPr txBox="1"/>
          <p:nvPr/>
        </p:nvSpPr>
        <p:spPr>
          <a:xfrm>
            <a:off x="9909581" y="329184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Electrical Works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548640" y="4114800"/>
            <a:ext cx="26021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pic>
        <p:nvPicPr>
          <p:cNvPr id="26" name="Image 5" descr="/home/user/NVIConsult/build/assets_bold/t_low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114800"/>
            <a:ext cx="2602154" cy="146304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731520" y="5733288"/>
            <a:ext cx="566928" cy="237744"/>
          </a:xfrm>
          <a:prstGeom prst="parallelogram">
            <a:avLst/>
          </a:prstGeom>
          <a:solidFill>
            <a:srgbClr val="98207E"/>
          </a:solidFill>
          <a:ln w="12700">
            <a:solidFill>
              <a:srgbClr val="98207E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731520" y="57332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29" name="Text 21"/>
          <p:cNvSpPr txBox="1"/>
          <p:nvPr/>
        </p:nvSpPr>
        <p:spPr>
          <a:xfrm>
            <a:off x="1417320" y="566928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Low Current Systems</a:t>
            </a:r>
            <a:endParaRPr lang="en-US" sz="1350" dirty="0"/>
          </a:p>
        </p:txBody>
      </p:sp>
      <p:sp>
        <p:nvSpPr>
          <p:cNvPr id="30" name="Shape 22"/>
          <p:cNvSpPr/>
          <p:nvPr/>
        </p:nvSpPr>
        <p:spPr>
          <a:xfrm>
            <a:off x="3379394" y="4114800"/>
            <a:ext cx="26021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pic>
        <p:nvPicPr>
          <p:cNvPr id="31" name="Image 6" descr="/home/user/NVIConsult/build/assets_bold/t_mec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9394" y="4114800"/>
            <a:ext cx="2602154" cy="146304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3562274" y="5733288"/>
            <a:ext cx="566928" cy="237744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3562274" y="57332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 dirty="0"/>
          </a:p>
        </p:txBody>
      </p:sp>
      <p:sp>
        <p:nvSpPr>
          <p:cNvPr id="34" name="Text 25"/>
          <p:cNvSpPr txBox="1"/>
          <p:nvPr/>
        </p:nvSpPr>
        <p:spPr>
          <a:xfrm>
            <a:off x="4248074" y="566928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Mechanical &amp; HVAC</a:t>
            </a:r>
            <a:endParaRPr lang="en-US" sz="1350" dirty="0"/>
          </a:p>
        </p:txBody>
      </p:sp>
      <p:sp>
        <p:nvSpPr>
          <p:cNvPr id="35" name="Shape 26"/>
          <p:cNvSpPr/>
          <p:nvPr/>
        </p:nvSpPr>
        <p:spPr>
          <a:xfrm>
            <a:off x="6210148" y="4114800"/>
            <a:ext cx="26021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pic>
        <p:nvPicPr>
          <p:cNvPr id="36" name="Image 7" descr="/home/user/NVIConsult/build/assets_bold/t_plu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148" y="4114800"/>
            <a:ext cx="2602154" cy="1463040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6393028" y="5733288"/>
            <a:ext cx="566928" cy="237744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6393028" y="57332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50" dirty="0"/>
          </a:p>
        </p:txBody>
      </p:sp>
      <p:sp>
        <p:nvSpPr>
          <p:cNvPr id="39" name="Text 29"/>
          <p:cNvSpPr txBox="1"/>
          <p:nvPr/>
        </p:nvSpPr>
        <p:spPr>
          <a:xfrm>
            <a:off x="7078828" y="566928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Plumbing &amp; Fire Fighting</a:t>
            </a:r>
            <a:endParaRPr lang="en-US" sz="1350" dirty="0"/>
          </a:p>
        </p:txBody>
      </p:sp>
      <p:sp>
        <p:nvSpPr>
          <p:cNvPr id="40" name="Shape 30"/>
          <p:cNvSpPr/>
          <p:nvPr/>
        </p:nvSpPr>
        <p:spPr>
          <a:xfrm>
            <a:off x="9040901" y="4114800"/>
            <a:ext cx="26021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pic>
        <p:nvPicPr>
          <p:cNvPr id="41" name="Image 8" descr="/home/user/NVIConsult/build/assets_bold/t_mnt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0901" y="4114800"/>
            <a:ext cx="2602154" cy="1463040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9223781" y="5733288"/>
            <a:ext cx="566928" cy="237744"/>
          </a:xfrm>
          <a:prstGeom prst="parallelogram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43" name="Text 32"/>
          <p:cNvSpPr txBox="1"/>
          <p:nvPr/>
        </p:nvSpPr>
        <p:spPr>
          <a:xfrm>
            <a:off x="9223781" y="57332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50" dirty="0"/>
          </a:p>
        </p:txBody>
      </p:sp>
      <p:sp>
        <p:nvSpPr>
          <p:cNvPr id="44" name="Text 33"/>
          <p:cNvSpPr txBox="1"/>
          <p:nvPr/>
        </p:nvSpPr>
        <p:spPr>
          <a:xfrm>
            <a:off x="9909581" y="566928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Facility Maintenance</a:t>
            </a:r>
            <a:endParaRPr lang="en-US" sz="1350" dirty="0"/>
          </a:p>
        </p:txBody>
      </p:sp>
      <p:sp>
        <p:nvSpPr>
          <p:cNvPr id="45" name="Text 34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46" name="Text 3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bold/s_e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404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43400" y="603504"/>
            <a:ext cx="310896" cy="146304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800600" y="548640"/>
            <a:ext cx="6842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51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04.1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343400" y="896112"/>
            <a:ext cx="7299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42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Engineering &amp; Planning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343400" y="1627632"/>
            <a:ext cx="7299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Disciplined project management applied end to end, from feasibility to handover.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343400" y="2286000"/>
            <a:ext cx="3535528" cy="193852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0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1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257800" y="2450592"/>
            <a:ext cx="2438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9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Define &amp; Evaluate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3063240"/>
            <a:ext cx="312404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definition &amp; characteristics</a:t>
            </a:r>
            <a:endParaRPr lang="en-US" sz="10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Portfolio, programme &amp; operations alignment</a:t>
            </a:r>
            <a:endParaRPr lang="en-US" sz="10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Business performance &amp; strategic planning</a:t>
            </a:r>
            <a:endParaRPr lang="en-US" sz="10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Feasibility study &amp; project evaluation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107528" y="2286000"/>
            <a:ext cx="3535528" cy="193852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36128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9021928" y="2450592"/>
            <a:ext cx="2438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9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Select &amp; Plan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336128" y="3063240"/>
            <a:ext cx="312404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Commercial vs. governmental profitability criteria</a:t>
            </a:r>
            <a:endParaRPr lang="en-US" sz="10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selection &amp; project charter</a:t>
            </a:r>
            <a:endParaRPr lang="en-US" sz="10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Scope planning &amp; master schedule</a:t>
            </a:r>
            <a:endParaRPr lang="en-US" sz="10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Cost, quality &amp; human-resources planning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43400" y="4407408"/>
            <a:ext cx="3535528" cy="193852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0" y="4590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8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5257800" y="4572000"/>
            <a:ext cx="2438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9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Control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5184648"/>
            <a:ext cx="312404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Communications, risk &amp; opportunity management</a:t>
            </a:r>
            <a:endParaRPr lang="en-US" sz="10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Needs &amp; supplies planning</a:t>
            </a:r>
            <a:endParaRPr lang="en-US" sz="10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Analysis methods &amp; change requests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107528" y="4407408"/>
            <a:ext cx="3535528" cy="193852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36128" y="4590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9021928" y="4572000"/>
            <a:ext cx="2438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</a:t>
            </a:r>
            <a:endParaRPr lang="en-US" sz="9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Execute &amp; Close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336128" y="5184648"/>
            <a:ext cx="312404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phases &amp; their management</a:t>
            </a:r>
            <a:endParaRPr lang="en-US" sz="10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Organisation &amp; execution</a:t>
            </a:r>
            <a:endParaRPr lang="en-US" sz="10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Closure &amp; project delivery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343400" y="6446520"/>
            <a:ext cx="6751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9224"/>
            <a:ext cx="310896" cy="146304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5943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B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04.2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41832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Contracting &amp; Structure Works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Core structural contracting, led by a civil engineer with 35 years' experience, including Saudi Binladen Group.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BB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578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years of civil engineering leadership</a:t>
            </a:r>
            <a:endParaRPr lang="en-US" sz="1300" dirty="0"/>
          </a:p>
        </p:txBody>
      </p:sp>
      <p:pic>
        <p:nvPicPr>
          <p:cNvPr id="8" name="Image 0" descr="/home/user/NVIConsult/build/assets_bold/s_str_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548640"/>
            <a:ext cx="3429000" cy="5760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0" y="5349240"/>
            <a:ext cx="3429000" cy="960120"/>
          </a:xfrm>
          <a:prstGeom prst="rect">
            <a:avLst/>
          </a:prstGeom>
          <a:solidFill>
            <a:srgbClr val="0E1420">
              <a:alpha val="88000"/>
            </a:srgbClr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5577840"/>
            <a:ext cx="384048" cy="128016"/>
          </a:xfrm>
          <a:prstGeom prst="parallelogram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57607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Concrete Works</a:t>
            </a:r>
            <a:endParaRPr lang="en-US" sz="2000" dirty="0"/>
          </a:p>
        </p:txBody>
      </p:sp>
      <p:pic>
        <p:nvPicPr>
          <p:cNvPr id="12" name="Image 1" descr="/home/user/NVIConsult/build/assets_bold/s_str_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548640"/>
            <a:ext cx="3429000" cy="57607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211312" y="5349240"/>
            <a:ext cx="3429000" cy="960120"/>
          </a:xfrm>
          <a:prstGeom prst="rect">
            <a:avLst/>
          </a:prstGeom>
          <a:solidFill>
            <a:srgbClr val="0E1420">
              <a:alpha val="88000"/>
            </a:srgbClr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85632" y="5577840"/>
            <a:ext cx="384048" cy="128016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485632" y="57607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Steel Works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8D9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D9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310896" cy="146304"/>
          </a:xfrm>
          <a:prstGeom prst="parallelogram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5486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8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04.3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42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Fit-Out &amp; Finishing Works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Interior design and every finishing trade, delivered under one roof.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56032" cy="109728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Interior design &amp; fit-out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72968"/>
            <a:ext cx="26517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429000"/>
            <a:ext cx="256032" cy="109728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337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Landscaping works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087368"/>
            <a:ext cx="26517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343400"/>
            <a:ext cx="256032" cy="109728"/>
          </a:xfrm>
          <a:prstGeom prst="parallelogram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251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Tile works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001768"/>
            <a:ext cx="26517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257800"/>
            <a:ext cx="256032" cy="109728"/>
          </a:xfrm>
          <a:prstGeom prst="parallelogram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5166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Woodworking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916168"/>
            <a:ext cx="26517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2514600"/>
            <a:ext cx="256032" cy="109728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8620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Glass works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474720" y="3172968"/>
            <a:ext cx="26517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3429000"/>
            <a:ext cx="256032" cy="109728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86200" y="3337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Painting works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474720" y="4087368"/>
            <a:ext cx="26517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4343400"/>
            <a:ext cx="256032" cy="109728"/>
          </a:xfrm>
          <a:prstGeom prst="parallelogram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86200" y="4251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Gypsum works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474720" y="5001768"/>
            <a:ext cx="26517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5257800"/>
            <a:ext cx="256032" cy="109728"/>
          </a:xfrm>
          <a:prstGeom prst="parallelogram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86200" y="5166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Aluminium &amp; metal structures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474720" y="5916168"/>
            <a:ext cx="26517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pic>
        <p:nvPicPr>
          <p:cNvPr id="30" name="Image 0" descr="/home/user/NVIConsult/build/assets_bold/s_fit_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8640"/>
            <a:ext cx="5056632" cy="2926080"/>
          </a:xfrm>
          <a:prstGeom prst="rect">
            <a:avLst/>
          </a:prstGeom>
        </p:spPr>
      </p:pic>
      <p:pic>
        <p:nvPicPr>
          <p:cNvPr id="31" name="Image 1" descr="/home/user/NVIConsult/build/assets_bold/s_fit_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657600"/>
            <a:ext cx="2436876" cy="2651760"/>
          </a:xfrm>
          <a:prstGeom prst="rect">
            <a:avLst/>
          </a:prstGeom>
        </p:spPr>
      </p:pic>
      <p:pic>
        <p:nvPicPr>
          <p:cNvPr id="32" name="Image 2" descr="/home/user/NVIConsult/build/assets_bold/s_fit_c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3436" y="3657600"/>
            <a:ext cx="2436876" cy="265176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548640" y="6446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34" name="Text 29"/>
          <p:cNvSpPr txBox="1"/>
          <p:nvPr/>
        </p:nvSpPr>
        <p:spPr>
          <a:xfrm>
            <a:off x="557784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bold/s_e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6815" y="0"/>
            <a:ext cx="4754880" cy="3383280"/>
          </a:xfrm>
          <a:prstGeom prst="rect">
            <a:avLst/>
          </a:prstGeom>
        </p:spPr>
      </p:pic>
      <p:pic>
        <p:nvPicPr>
          <p:cNvPr id="3" name="Image 1" descr="/home/user/NVIConsult/build/assets_bold/s_ele_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3474720"/>
            <a:ext cx="4754880" cy="33832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603504"/>
            <a:ext cx="310896" cy="146304"/>
          </a:xfrm>
          <a:prstGeom prst="parallelogram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1005840" y="54864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04.4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89611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42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Electrical Works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62763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Complete electrical installation, from main cables to the final point.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228600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Lighting fixtures &amp; points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2807208"/>
            <a:ext cx="63093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28712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2871216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Raceways &amp; cabling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392424"/>
            <a:ext cx="63093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3456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234440" y="3456432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Power outlets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63093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4041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234440" y="4041648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Electrical panels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4562856"/>
            <a:ext cx="63093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8640" y="46268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234440" y="4626864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Main cables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48640" y="5148072"/>
            <a:ext cx="63093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5212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234440" y="521208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Grounding &amp; earthing systems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548640" y="5733288"/>
            <a:ext cx="63093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48640" y="57972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1234440" y="5797296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Lightning protection systems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548640" y="6318504"/>
            <a:ext cx="63093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48640" y="644652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30" name="Text 26"/>
          <p:cNvSpPr txBox="1"/>
          <p:nvPr/>
        </p:nvSpPr>
        <p:spPr>
          <a:xfrm>
            <a:off x="63093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bold/s_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0">
              <a:alpha val="88000"/>
            </a:srgbClr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649224"/>
            <a:ext cx="310896" cy="146304"/>
          </a:xfrm>
          <a:prstGeom prst="parallelogram">
            <a:avLst/>
          </a:prstGeom>
          <a:solidFill>
            <a:srgbClr val="98207E"/>
          </a:solidFill>
          <a:ln w="12700">
            <a:solidFill>
              <a:srgbClr val="98207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594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B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04.5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41832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Low Current Systems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Integrated building systems for data, safety, security and communications.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3400" y="59436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68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0" y="150876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Data systems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14034" y="59436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634" y="8686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442634" y="150876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IP telephone systems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084668" y="59436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268" y="86868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313268" y="150876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Fire alarm systems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9955301" y="59436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3901" y="86868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183901" y="150876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CCTV systems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4343400" y="256032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83464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572000" y="347472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Public address systems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6214034" y="256032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2634" y="2834640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442634" y="347472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Nurse call systems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8084668" y="256032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3268" y="2834640"/>
            <a:ext cx="457200" cy="45720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313268" y="347472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Access control systems</a:t>
            </a:r>
            <a:endParaRPr lang="en-US" sz="1300" dirty="0"/>
          </a:p>
        </p:txBody>
      </p:sp>
      <p:sp>
        <p:nvSpPr>
          <p:cNvPr id="29" name="Shape 19"/>
          <p:cNvSpPr/>
          <p:nvPr/>
        </p:nvSpPr>
        <p:spPr>
          <a:xfrm>
            <a:off x="9955301" y="256032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83901" y="2834640"/>
            <a:ext cx="457200" cy="45720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10183901" y="347472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Master clock systems</a:t>
            </a:r>
            <a:endParaRPr lang="en-US" sz="1300" dirty="0"/>
          </a:p>
        </p:txBody>
      </p:sp>
      <p:sp>
        <p:nvSpPr>
          <p:cNvPr id="32" name="Shape 21"/>
          <p:cNvSpPr/>
          <p:nvPr/>
        </p:nvSpPr>
        <p:spPr>
          <a:xfrm>
            <a:off x="4343400" y="452628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4800600"/>
            <a:ext cx="457200" cy="457200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4572000" y="544068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Building management systems (BMS)</a:t>
            </a:r>
            <a:endParaRPr lang="en-US" sz="1300" dirty="0"/>
          </a:p>
        </p:txBody>
      </p:sp>
      <p:sp>
        <p:nvSpPr>
          <p:cNvPr id="35" name="Shape 23"/>
          <p:cNvSpPr/>
          <p:nvPr/>
        </p:nvSpPr>
        <p:spPr>
          <a:xfrm>
            <a:off x="6214034" y="452628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2634" y="4800600"/>
            <a:ext cx="457200" cy="457200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6442634" y="544068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IPTV &amp; audio / video systems</a:t>
            </a:r>
            <a:endParaRPr lang="en-US" sz="1300" dirty="0"/>
          </a:p>
        </p:txBody>
      </p:sp>
      <p:sp>
        <p:nvSpPr>
          <p:cNvPr id="38" name="Shape 25"/>
          <p:cNvSpPr/>
          <p:nvPr/>
        </p:nvSpPr>
        <p:spPr>
          <a:xfrm>
            <a:off x="8084668" y="452628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13268" y="4800600"/>
            <a:ext cx="457200" cy="457200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8313268" y="544068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Intercom systems</a:t>
            </a:r>
            <a:endParaRPr lang="en-US" sz="1300" dirty="0"/>
          </a:p>
        </p:txBody>
      </p:sp>
      <p:sp>
        <p:nvSpPr>
          <p:cNvPr id="41" name="Shape 27"/>
          <p:cNvSpPr/>
          <p:nvPr/>
        </p:nvSpPr>
        <p:spPr>
          <a:xfrm>
            <a:off x="9955301" y="4526280"/>
            <a:ext cx="1687754" cy="1783080"/>
          </a:xfrm>
          <a:prstGeom prst="rect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42" name="Text 28"/>
          <p:cNvSpPr txBox="1"/>
          <p:nvPr/>
        </p:nvSpPr>
        <p:spPr>
          <a:xfrm>
            <a:off x="10183901" y="4709160"/>
            <a:ext cx="12305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E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4800" dirty="0"/>
          </a:p>
        </p:txBody>
      </p:sp>
      <p:sp>
        <p:nvSpPr>
          <p:cNvPr id="43" name="Text 29"/>
          <p:cNvSpPr txBox="1"/>
          <p:nvPr/>
        </p:nvSpPr>
        <p:spPr>
          <a:xfrm>
            <a:off x="10183901" y="5532120"/>
            <a:ext cx="12305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integrated systems, one installer</a:t>
            </a:r>
            <a:endParaRPr lang="en-US" sz="1200" dirty="0"/>
          </a:p>
        </p:txBody>
      </p:sp>
      <p:sp>
        <p:nvSpPr>
          <p:cNvPr id="44" name="Text 30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8D9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45" name="Text 31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D9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bold/s_me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9377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0" y="603504"/>
            <a:ext cx="310896" cy="146304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943600" y="548640"/>
            <a:ext cx="5699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51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04.6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896112"/>
            <a:ext cx="6156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42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Mechanical &amp; HVAC Works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1627632"/>
            <a:ext cx="6156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Cooling, air handling and air distribution systems.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0" y="2331720"/>
            <a:ext cx="2964028" cy="18745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0" y="2606040"/>
            <a:ext cx="658368" cy="658368"/>
          </a:xfrm>
          <a:prstGeom prst="ellipse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74320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760720" y="3429000"/>
            <a:ext cx="2415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Chillers &amp; package units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679028" y="2331720"/>
            <a:ext cx="2964028" cy="18745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953348" y="2606040"/>
            <a:ext cx="658368" cy="658368"/>
          </a:xfrm>
          <a:prstGeom prst="ellipse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508" y="274320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953348" y="3429000"/>
            <a:ext cx="2415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Fan coil &amp; air handling units (FCU / AHU)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0" y="4434840"/>
            <a:ext cx="2964028" cy="18745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760720" y="4709160"/>
            <a:ext cx="658368" cy="658368"/>
          </a:xfrm>
          <a:prstGeom prst="ellipse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484632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760720" y="5532120"/>
            <a:ext cx="2415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Ductwork &amp; grilles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8679028" y="4434840"/>
            <a:ext cx="2964028" cy="18745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953348" y="4709160"/>
            <a:ext cx="658368" cy="658368"/>
          </a:xfrm>
          <a:prstGeom prst="ellipse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0508" y="484632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953348" y="5532120"/>
            <a:ext cx="2415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Cold &amp; hot water piping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5486400" y="6446520"/>
            <a:ext cx="5608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24" name="Text 17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bold/s_pl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695" y="0"/>
            <a:ext cx="457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603504"/>
            <a:ext cx="310896" cy="146304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05840" y="5486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04.7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96112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42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Plumbing &amp; Fire Fighting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Water supply, drainage and fire-fighting networks.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566928" cy="566928"/>
          </a:xfrm>
          <a:prstGeom prst="ellipse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496312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3774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Plumbing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548640" y="3282696"/>
            <a:ext cx="237744" cy="100584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32688" y="3200400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E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Sanitary fixtures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3785616"/>
            <a:ext cx="306324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3995928"/>
            <a:ext cx="237744" cy="100584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32688" y="3913632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E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Cold &amp; hot water piping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548640" y="4498848"/>
            <a:ext cx="306324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4709160"/>
            <a:ext cx="237744" cy="100584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32688" y="4626864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E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Water &amp; submersible pumps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548640" y="5212080"/>
            <a:ext cx="306324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5422392"/>
            <a:ext cx="237744" cy="100584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32688" y="5340096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E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Sewage piping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548640" y="5925312"/>
            <a:ext cx="306324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977640" y="2377440"/>
            <a:ext cx="566928" cy="566928"/>
          </a:xfrm>
          <a:prstGeom prst="ellipse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2496312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709160" y="23774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Fire Fighting</a:t>
            </a:r>
            <a:endParaRPr lang="en-US" sz="1900" dirty="0"/>
          </a:p>
        </p:txBody>
      </p:sp>
      <p:sp>
        <p:nvSpPr>
          <p:cNvPr id="25" name="Shape 20"/>
          <p:cNvSpPr/>
          <p:nvPr/>
        </p:nvSpPr>
        <p:spPr>
          <a:xfrm>
            <a:off x="3977640" y="3282696"/>
            <a:ext cx="237744" cy="100584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361688" y="3200400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E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Fire-fighting piping &amp; pumps</a:t>
            </a:r>
            <a:endParaRPr lang="en-US" sz="1450" dirty="0"/>
          </a:p>
        </p:txBody>
      </p:sp>
      <p:sp>
        <p:nvSpPr>
          <p:cNvPr id="27" name="Shape 22"/>
          <p:cNvSpPr/>
          <p:nvPr/>
        </p:nvSpPr>
        <p:spPr>
          <a:xfrm>
            <a:off x="3977640" y="3785616"/>
            <a:ext cx="306324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977640" y="3995928"/>
            <a:ext cx="237744" cy="100584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361688" y="3913632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E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Valves, insulation &amp; fittings</a:t>
            </a:r>
            <a:endParaRPr lang="en-US" sz="1450" dirty="0"/>
          </a:p>
        </p:txBody>
      </p:sp>
      <p:sp>
        <p:nvSpPr>
          <p:cNvPr id="30" name="Shape 25"/>
          <p:cNvSpPr/>
          <p:nvPr/>
        </p:nvSpPr>
        <p:spPr>
          <a:xfrm>
            <a:off x="3977640" y="4498848"/>
            <a:ext cx="306324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977640" y="4709160"/>
            <a:ext cx="237744" cy="100584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4361688" y="4626864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E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Fire hose cabinets &amp; sprinklers</a:t>
            </a:r>
            <a:endParaRPr lang="en-US" sz="1450" dirty="0"/>
          </a:p>
        </p:txBody>
      </p:sp>
      <p:sp>
        <p:nvSpPr>
          <p:cNvPr id="33" name="Shape 28"/>
          <p:cNvSpPr/>
          <p:nvPr/>
        </p:nvSpPr>
        <p:spPr>
          <a:xfrm>
            <a:off x="3977640" y="5212080"/>
            <a:ext cx="306324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35" name="Text 30"/>
          <p:cNvSpPr txBox="1"/>
          <p:nvPr/>
        </p:nvSpPr>
        <p:spPr>
          <a:xfrm>
            <a:off x="649224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bold/s_m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0">
              <a:alpha val="90000"/>
            </a:srgbClr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649224"/>
            <a:ext cx="310896" cy="146304"/>
          </a:xfrm>
          <a:prstGeom prst="parallelogram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594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B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04.8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4183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Facility Maintenance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402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Preventive maintenance, planned from the beginning, to protect our clients' investment over the long term.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303520" y="594360"/>
            <a:ext cx="6339535" cy="676656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74980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26480" y="594360"/>
            <a:ext cx="48764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Buildings &amp; exterior façades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0957255" y="59436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303520" y="1399032"/>
            <a:ext cx="6339535" cy="676656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5544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126480" y="1399032"/>
            <a:ext cx="48764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Interior decoration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0957255" y="139903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303520" y="2203704"/>
            <a:ext cx="6339535" cy="676656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5915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126480" y="2203704"/>
            <a:ext cx="48764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Electrical works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0957255" y="220370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303520" y="3008376"/>
            <a:ext cx="6339535" cy="676656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3163824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126480" y="3008376"/>
            <a:ext cx="48764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Low-voltage systems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10957255" y="300837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303520" y="3813048"/>
            <a:ext cx="6339535" cy="676656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3968496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126480" y="3813048"/>
            <a:ext cx="48764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Networks &amp; CCTV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10957255" y="381304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5303520" y="4617720"/>
            <a:ext cx="6339535" cy="676656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4773168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126480" y="4617720"/>
            <a:ext cx="48764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Mechanical works &amp; air conditioning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10957255" y="461772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5303520" y="5422392"/>
            <a:ext cx="6339535" cy="676656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5577840"/>
            <a:ext cx="365760" cy="36576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126480" y="5422392"/>
            <a:ext cx="48764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Plumbing works</a:t>
            </a:r>
            <a:endParaRPr lang="en-US" sz="1600" dirty="0"/>
          </a:p>
        </p:txBody>
      </p:sp>
      <p:sp>
        <p:nvSpPr>
          <p:cNvPr id="35" name="Text 25"/>
          <p:cNvSpPr txBox="1"/>
          <p:nvPr/>
        </p:nvSpPr>
        <p:spPr>
          <a:xfrm>
            <a:off x="10957255" y="542239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26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8D9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37" name="Text 27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D9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bold/clie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E1420">
              <a:alpha val="78000"/>
            </a:srgbClr>
          </a:solidFill>
          <a:ln w="12700">
            <a:solidFill>
              <a:srgbClr val="0E1420"/>
            </a:solidFill>
            <a:prstDash val="solid"/>
          </a:ln>
        </p:spPr>
      </p:sp>
      <p:pic>
        <p:nvPicPr>
          <p:cNvPr id="4" name="Image 1" descr="/home/user/NVIConsult/build/assets_bold/logo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1792"/>
            <a:ext cx="314086" cy="17373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5943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B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CLIENTS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9601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Trusted by established brands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5DCE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selection of the clients we have delivered for.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48640" y="2468880"/>
            <a:ext cx="351525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960120" y="2971800"/>
            <a:ext cx="365760" cy="137160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463040" y="2898648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3657600"/>
            <a:ext cx="2692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200" kern="0" dirty="0">
                <a:solidFill>
                  <a:srgbClr val="0E142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DUKAN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960120" y="4617720"/>
            <a:ext cx="2692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Dabbagh Group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338218" y="2468880"/>
            <a:ext cx="351525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49698" y="2971800"/>
            <a:ext cx="365760" cy="137160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252618" y="2898648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749698" y="3657600"/>
            <a:ext cx="2692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200" kern="0" dirty="0">
                <a:solidFill>
                  <a:srgbClr val="0E142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PANDA</a:t>
            </a:r>
            <a:endParaRPr lang="en-US" sz="3600" dirty="0"/>
          </a:p>
        </p:txBody>
      </p:sp>
      <p:sp>
        <p:nvSpPr>
          <p:cNvPr id="17" name="Text 13"/>
          <p:cNvSpPr txBox="1"/>
          <p:nvPr/>
        </p:nvSpPr>
        <p:spPr>
          <a:xfrm>
            <a:off x="4749698" y="4617720"/>
            <a:ext cx="2692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Savola Group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127797" y="2468880"/>
            <a:ext cx="351525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39277" y="2971800"/>
            <a:ext cx="365760" cy="137160"/>
          </a:xfrm>
          <a:prstGeom prst="parallelogram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042197" y="2898648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8539277" y="3657600"/>
            <a:ext cx="2692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200" kern="0" dirty="0">
                <a:solidFill>
                  <a:srgbClr val="0E142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MAZDA</a:t>
            </a:r>
            <a:endParaRPr lang="en-US" sz="3600" dirty="0"/>
          </a:p>
        </p:txBody>
      </p:sp>
      <p:sp>
        <p:nvSpPr>
          <p:cNvPr id="22" name="Text 18"/>
          <p:cNvSpPr txBox="1"/>
          <p:nvPr/>
        </p:nvSpPr>
        <p:spPr>
          <a:xfrm>
            <a:off x="8539277" y="4617720"/>
            <a:ext cx="2692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Haji Husein Alireza &amp; Co. Ltd.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bold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76072"/>
            <a:ext cx="314086" cy="1737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05840" y="5486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51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·  LEADERSHIP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42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Experienced engineers across every discipline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291840" cy="4526280"/>
          </a:xfrm>
          <a:prstGeom prst="rect">
            <a:avLst/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pic>
        <p:nvPicPr>
          <p:cNvPr id="6" name="Image 1" descr="/home/user/NVIConsult/build/assets_bold/p_azza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3291840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4754880"/>
            <a:ext cx="310896" cy="128016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28016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DB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GENERAL MANAGER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5029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Azzam Al Sayeh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5486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3CBD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Civil Engineer  ·  35 years' experience, including Saudi Binladen Group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14800" y="1783080"/>
            <a:ext cx="3649828" cy="21488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pic>
        <p:nvPicPr>
          <p:cNvPr id="12" name="Image 2" descr="/home/user/NVIConsult/build/assets_bold/p_hazem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057400"/>
            <a:ext cx="1600200" cy="1600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72200" y="2057400"/>
            <a:ext cx="14552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E51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MANAGER</a:t>
            </a:r>
            <a:endParaRPr lang="en-US" sz="850" dirty="0"/>
          </a:p>
        </p:txBody>
      </p:sp>
      <p:sp>
        <p:nvSpPr>
          <p:cNvPr id="14" name="Text 9"/>
          <p:cNvSpPr txBox="1"/>
          <p:nvPr/>
        </p:nvSpPr>
        <p:spPr>
          <a:xfrm>
            <a:off x="6172200" y="2331720"/>
            <a:ext cx="1455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Hazem Ghorbal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172200" y="2898648"/>
            <a:ext cx="1455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Interior Designer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61722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647688" y="3200400"/>
            <a:ext cx="979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years' experience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993228" y="1783080"/>
            <a:ext cx="3649828" cy="21488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pic>
        <p:nvPicPr>
          <p:cNvPr id="19" name="Image 3" descr="/home/user/NVIConsult/build/assets_bold/p_mohammad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548" y="2057400"/>
            <a:ext cx="1600200" cy="1600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050628" y="2057400"/>
            <a:ext cx="14552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1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MANAGER</a:t>
            </a:r>
            <a:endParaRPr lang="en-US" sz="850" dirty="0"/>
          </a:p>
        </p:txBody>
      </p:sp>
      <p:sp>
        <p:nvSpPr>
          <p:cNvPr id="21" name="Text 15"/>
          <p:cNvSpPr txBox="1"/>
          <p:nvPr/>
        </p:nvSpPr>
        <p:spPr>
          <a:xfrm>
            <a:off x="10050628" y="2331720"/>
            <a:ext cx="1455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Mohammad Khayat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0050628" y="2898648"/>
            <a:ext cx="1455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Network Engineer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10050628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10526116" y="3200400"/>
            <a:ext cx="979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years' experience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114800" y="4160520"/>
            <a:ext cx="3649828" cy="21488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pic>
        <p:nvPicPr>
          <p:cNvPr id="26" name="Image 4" descr="/home/user/NVIConsult/build/assets_bold/p_nader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434840"/>
            <a:ext cx="1600200" cy="16002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172200" y="4434840"/>
            <a:ext cx="14552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98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MANAGER</a:t>
            </a:r>
            <a:endParaRPr lang="en-US" sz="850" dirty="0"/>
          </a:p>
        </p:txBody>
      </p:sp>
      <p:sp>
        <p:nvSpPr>
          <p:cNvPr id="28" name="Text 21"/>
          <p:cNvSpPr txBox="1"/>
          <p:nvPr/>
        </p:nvSpPr>
        <p:spPr>
          <a:xfrm>
            <a:off x="6172200" y="4709160"/>
            <a:ext cx="1455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Nader M. Abdulhadi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6172200" y="5276088"/>
            <a:ext cx="1455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Electrical Engineer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617220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200" dirty="0"/>
          </a:p>
        </p:txBody>
      </p:sp>
      <p:sp>
        <p:nvSpPr>
          <p:cNvPr id="31" name="Text 24"/>
          <p:cNvSpPr txBox="1"/>
          <p:nvPr/>
        </p:nvSpPr>
        <p:spPr>
          <a:xfrm>
            <a:off x="6647688" y="5577840"/>
            <a:ext cx="979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years' experience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7993228" y="4160520"/>
            <a:ext cx="3649828" cy="21488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pic>
        <p:nvPicPr>
          <p:cNvPr id="33" name="Image 5" descr="/home/user/NVIConsult/build/assets_bold/p_ana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7548" y="4434840"/>
            <a:ext cx="1600200" cy="16002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0050628" y="4434840"/>
            <a:ext cx="14552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B54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MANAGER</a:t>
            </a:r>
            <a:endParaRPr lang="en-US" sz="850" dirty="0"/>
          </a:p>
        </p:txBody>
      </p:sp>
      <p:sp>
        <p:nvSpPr>
          <p:cNvPr id="35" name="Text 27"/>
          <p:cNvSpPr txBox="1"/>
          <p:nvPr/>
        </p:nvSpPr>
        <p:spPr>
          <a:xfrm>
            <a:off x="10050628" y="4709160"/>
            <a:ext cx="1455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Anas Khayat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10050628" y="5276088"/>
            <a:ext cx="1455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F485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Mechanical Engineer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10050628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38" name="Text 30"/>
          <p:cNvSpPr txBox="1"/>
          <p:nvPr/>
        </p:nvSpPr>
        <p:spPr>
          <a:xfrm>
            <a:off x="10526116" y="5577840"/>
            <a:ext cx="979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years' experience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40" name="Text 32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_bold/conta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0">
              <a:alpha val="80000"/>
            </a:srgbClr>
          </a:solidFill>
          <a:ln w="12700">
            <a:solidFill>
              <a:srgbClr val="0E1420"/>
            </a:solidFill>
            <a:prstDash val="solid"/>
          </a:ln>
        </p:spPr>
      </p:sp>
      <p:pic>
        <p:nvPicPr>
          <p:cNvPr id="4" name="Image 1" descr="/home/user/NVIConsult/build/assets_bold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286000" cy="1475772"/>
          </a:xfrm>
          <a:prstGeom prst="rect">
            <a:avLst/>
          </a:prstGeom>
        </p:spPr>
      </p:pic>
      <p:pic>
        <p:nvPicPr>
          <p:cNvPr id="5" name="Image 2" descr="/home/user/NVIConsult/build/assets_bold/logo_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59152"/>
            <a:ext cx="314086" cy="17373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005840" y="23317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B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·  CONTACT</a:t>
            </a:r>
            <a:endParaRPr lang="en-US" sz="11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2697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Let's build, worry-free.</a:t>
            </a:r>
            <a:endParaRPr lang="en-US" sz="44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3CBD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New Vision Integral for Maintenance &amp; Contracting  ·  Jeddah, Kingdom of Saudi Arabia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48640" y="4343400"/>
            <a:ext cx="3749040" cy="1691640"/>
          </a:xfrm>
          <a:prstGeom prst="rect">
            <a:avLst/>
          </a:prstGeom>
          <a:solidFill>
            <a:srgbClr val="182131">
              <a:alpha val="90000"/>
            </a:srgbClr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82296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DB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GENERAL MANAGER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822960" y="4800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Azzam Al Sayeh</a:t>
            </a:r>
            <a:endParaRPr lang="en-US" sz="1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321808"/>
            <a:ext cx="201168" cy="20116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43000" y="527608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u="sng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a.alsayeh@nvi-sa.com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641848"/>
            <a:ext cx="201168" cy="20116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143000" y="55961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u="sng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+966 50 597 6970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4572000" y="4343400"/>
            <a:ext cx="3749040" cy="1691640"/>
          </a:xfrm>
          <a:prstGeom prst="rect">
            <a:avLst/>
          </a:prstGeom>
          <a:solidFill>
            <a:srgbClr val="182131">
              <a:alpha val="90000"/>
            </a:srgbClr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484632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DB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MANAGING DIRECTOR</a:t>
            </a:r>
            <a:endParaRPr lang="en-US" sz="1000" dirty="0"/>
          </a:p>
        </p:txBody>
      </p:sp>
      <p:sp>
        <p:nvSpPr>
          <p:cNvPr id="18" name="Text 11"/>
          <p:cNvSpPr txBox="1"/>
          <p:nvPr/>
        </p:nvSpPr>
        <p:spPr>
          <a:xfrm>
            <a:off x="4846320" y="4800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Abdulhai Hambrouch</a:t>
            </a:r>
            <a:endParaRPr lang="en-US" sz="18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5321808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166360" y="527608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u="sng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a.ahmed@nvi-sa.com</a:t>
            </a:r>
            <a:endParaRPr lang="en-US" sz="13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5641848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166360" y="55961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u="sng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+966 55 069 6190</a:t>
            </a:r>
            <a:endParaRPr lang="en-US" sz="1300" dirty="0"/>
          </a:p>
        </p:txBody>
      </p:sp>
      <p:sp>
        <p:nvSpPr>
          <p:cNvPr id="23" name="Shape 14"/>
          <p:cNvSpPr/>
          <p:nvPr/>
        </p:nvSpPr>
        <p:spPr>
          <a:xfrm>
            <a:off x="8595360" y="4343400"/>
            <a:ext cx="3047695" cy="1691640"/>
          </a:xfrm>
          <a:prstGeom prst="rect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8869680" y="4572000"/>
            <a:ext cx="2499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</a:t>
            </a:r>
            <a:endParaRPr lang="en-US" sz="10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69680" y="4983480"/>
            <a:ext cx="329184" cy="329184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9326880" y="4937760"/>
            <a:ext cx="2133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www.nvi-sa.com</a:t>
            </a:r>
            <a:endParaRPr lang="en-US" sz="1800" dirty="0"/>
          </a:p>
        </p:txBody>
      </p:sp>
      <p:sp>
        <p:nvSpPr>
          <p:cNvPr id="27" name="Text 17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8D9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28" name="Text 18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D9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New Vision Integral for Maintenance and Contracting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subject>PptxGenJS Presentation</dc:subject>
  <dc:creator>New Vision Integral for Maintenance and Contracting</dc:creator>
  <cp:lastModifiedBy>New Vision Integral for Maintenance and Contracting</cp:lastModifiedBy>
  <cp:revision>1</cp:revision>
  <dcterms:created xsi:type="dcterms:W3CDTF">2026-09-29T16:30:21Z</dcterms:created>
  <dcterms:modified xsi:type="dcterms:W3CDTF">2026-09-29T16:30:21Z</dcterms:modified>
</cp:coreProperties>
</file>