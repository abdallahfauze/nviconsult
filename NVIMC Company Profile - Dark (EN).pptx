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nvi-sa.com" TargetMode="External"/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hyperlink" Target="mailto:a.alsayeh@nvi-sa.com" TargetMode="External"/><Relationship Id="rId5" Type="http://schemas.openxmlformats.org/officeDocument/2006/relationships/hyperlink" Target="https://wa.me/966505976970" TargetMode="External"/><Relationship Id="rId6" Type="http://schemas.openxmlformats.org/officeDocument/2006/relationships/hyperlink" Target="mailto:a.ahmed@nvi-sa.com" TargetMode="External"/><Relationship Id="rId7" Type="http://schemas.openxmlformats.org/officeDocument/2006/relationships/hyperlink" Target="https://wa.me/966550696190" TargetMode="External"/><Relationship Id="rId8" Type="http://schemas.openxmlformats.org/officeDocument/2006/relationships/hyperlink" Target="https://www.nvi-sa.com" TargetMode="External"/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line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NVIConsult/build/assets_dark/c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5" name="Image 3" descr="/home/user/NVIConsult/build/assets_dark/log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2377440" cy="1534803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548640" y="2514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PROFILE</a:t>
            </a:r>
            <a:endParaRPr lang="en-US" sz="1000" dirty="0"/>
          </a:p>
        </p:txBody>
      </p:sp>
      <p:sp>
        <p:nvSpPr>
          <p:cNvPr id="7" name="Text 1"/>
          <p:cNvSpPr txBox="1"/>
          <p:nvPr/>
        </p:nvSpPr>
        <p:spPr>
          <a:xfrm>
            <a:off x="548640" y="2834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WORRY-FREE CONSTRUCTION.</a:t>
            </a:r>
            <a:endParaRPr lang="en-US" sz="3800" dirty="0"/>
          </a:p>
        </p:txBody>
      </p:sp>
      <p:sp>
        <p:nvSpPr>
          <p:cNvPr id="8" name="Text 2"/>
          <p:cNvSpPr txBox="1"/>
          <p:nvPr/>
        </p:nvSpPr>
        <p:spPr>
          <a:xfrm>
            <a:off x="548640" y="4389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New Vision Integral for Maintenance &amp; Contracting</a:t>
            </a:r>
            <a:endParaRPr lang="en-US" sz="1500" dirty="0"/>
          </a:p>
        </p:txBody>
      </p:sp>
      <p:sp>
        <p:nvSpPr>
          <p:cNvPr id="9" name="Text 3"/>
          <p:cNvSpPr txBox="1"/>
          <p:nvPr/>
        </p:nvSpPr>
        <p:spPr>
          <a:xfrm>
            <a:off x="548640" y="4754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Engineering  ·  Contracting  ·  Fit-Out  ·  MEP  ·  Facility Maintenance</a:t>
            </a:r>
            <a:endParaRPr lang="en-US" sz="1050" dirty="0"/>
          </a:p>
        </p:txBody>
      </p:sp>
      <p:sp>
        <p:nvSpPr>
          <p:cNvPr id="10" name="Text 4"/>
          <p:cNvSpPr txBox="1"/>
          <p:nvPr/>
        </p:nvSpPr>
        <p:spPr>
          <a:xfrm>
            <a:off x="548640" y="58978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Jeddah  ·  Kingdom of Saudi Arabia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548640" y="61447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3CC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www.nvi-sa.com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WHO WE ARE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Established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322244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Jeddah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3322244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095848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35+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095848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 of expertise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9451" y="1325880"/>
            <a:ext cx="27736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869451" y="1965960"/>
            <a:ext cx="277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Service lines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2560320"/>
            <a:ext cx="1109441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926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new Jeddah contractor, backed by 35+ years of expertise.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84048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Vision Integral for Maintenance &amp; Contracting is a Jeddah-based company established in 2024, providing comprehensive maintenance and contracting solutions tailored to each client's needs.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team brings over 35 years of hands-on expertise, and our central Jeddah location lets us serve a diverse range of sectors efficiently.</a:t>
            </a:r>
            <a:endParaRPr lang="en-US" sz="1200" dirty="0"/>
          </a:p>
        </p:txBody>
      </p:sp>
      <p:pic>
        <p:nvPicPr>
          <p:cNvPr id="21" name="Image 1" descr="/home/user/NVIConsult/build/assets_dark/abou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423" y="2971800"/>
            <a:ext cx="5056632" cy="32918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513271" y="28986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13271" y="28986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15039" y="28986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716207" y="28986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13271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13271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15039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716207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v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VISION, MISSION &amp; VALUES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468880" y="1371600"/>
            <a:ext cx="4967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become a leading building firm, from creative design solutions and maintenance to execution and delivery, that resolves our clients' social, environmental and economic needs.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271576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Our Mission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468880" y="2880360"/>
            <a:ext cx="4967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earn our clients' trust and satisfaction, and build long-term relationships through the projects we deliver and maintain.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85876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we stand for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468880" y="4069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017520" y="406908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 satisfaction, never compromised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2468880" y="4572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017520" y="457200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Integrity &amp; honesty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2468880" y="5074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3017520" y="507492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Effective, principled management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2468880" y="5577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3017520" y="557784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Continuous development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OUR APPROACH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pic>
        <p:nvPicPr>
          <p:cNvPr id="10" name="Image 1" descr="/home/user/NVIConsult/build/assets_dark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1371600"/>
            <a:ext cx="2286000" cy="12644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Worry-Free Construction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don't just build things. We are committed to enhancing people's lives through the built environment. Doing the job properly the first time, with preventive maintenance planned from the beginning, delivers long-term savings for our clients.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520440"/>
            <a:ext cx="249928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Accurate Engineering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Getting it right the first time.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413684" y="3520440"/>
            <a:ext cx="249928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13684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413684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Detail-Oriented Project Management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413684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phase planned, tracked and controlled.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78728" y="3520440"/>
            <a:ext cx="249928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278728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278728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Timely Communication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278728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Clients kept informed at every stage.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143771" y="3520440"/>
            <a:ext cx="249928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143771" y="37033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143771" y="40690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Preventive Maintenance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143771" y="4754880"/>
            <a:ext cx="2499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Planned from day one for long-term savings.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WHAT WE DO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Eight integrated service lines. One accountable partner.</a:t>
            </a:r>
            <a:endParaRPr lang="en-US" sz="1250" dirty="0"/>
          </a:p>
        </p:txBody>
      </p:sp>
      <p:pic>
        <p:nvPicPr>
          <p:cNvPr id="11" name="Image 1" descr="/home/user/NVIConsult/build/assets_dark/t_e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567864" cy="1600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 &amp; Planning</a:t>
            </a:r>
            <a:endParaRPr lang="en-US" sz="1300" dirty="0"/>
          </a:p>
        </p:txBody>
      </p:sp>
      <p:pic>
        <p:nvPicPr>
          <p:cNvPr id="14" name="Image 2" descr="/home/user/NVIConsult/build/assets_dark/t_st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824" y="1783080"/>
            <a:ext cx="2567864" cy="1600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90824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3985184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Contracting &amp; Structure</a:t>
            </a:r>
            <a:endParaRPr lang="en-US" sz="1300" dirty="0"/>
          </a:p>
        </p:txBody>
      </p:sp>
      <p:pic>
        <p:nvPicPr>
          <p:cNvPr id="17" name="Image 3" descr="/home/user/NVIConsult/build/assets_dark/t_fi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783080"/>
            <a:ext cx="2567864" cy="1600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33008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04.3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6827368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Fit-Out &amp; Finishing</a:t>
            </a:r>
            <a:endParaRPr lang="en-US" sz="1300" dirty="0"/>
          </a:p>
        </p:txBody>
      </p:sp>
      <p:pic>
        <p:nvPicPr>
          <p:cNvPr id="20" name="Image 4" descr="/home/user/NVIConsult/build/assets_dark/t_el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191" y="1783080"/>
            <a:ext cx="2567864" cy="1600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75191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04.4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9669551" y="349300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Works</a:t>
            </a:r>
            <a:endParaRPr lang="en-US" sz="1300" dirty="0"/>
          </a:p>
        </p:txBody>
      </p:sp>
      <p:pic>
        <p:nvPicPr>
          <p:cNvPr id="23" name="Image 5" descr="/home/user/NVIConsult/build/assets_dark/t_low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14800"/>
            <a:ext cx="2567864" cy="16002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48640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04.5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 Current Systems</a:t>
            </a:r>
            <a:endParaRPr lang="en-US" sz="1300" dirty="0"/>
          </a:p>
        </p:txBody>
      </p:sp>
      <p:pic>
        <p:nvPicPr>
          <p:cNvPr id="26" name="Image 6" descr="/home/user/NVIConsult/build/assets_dark/t_mec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824" y="4114800"/>
            <a:ext cx="2567864" cy="1600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390824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04.6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3985184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&amp; HVAC</a:t>
            </a:r>
            <a:endParaRPr lang="en-US" sz="1300" dirty="0"/>
          </a:p>
        </p:txBody>
      </p:sp>
      <p:pic>
        <p:nvPicPr>
          <p:cNvPr id="29" name="Image 7" descr="/home/user/NVIConsult/build/assets_dark/t_plu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008" y="4114800"/>
            <a:ext cx="2567864" cy="16002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233008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04.7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6827368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 &amp; Fire Fighting</a:t>
            </a:r>
            <a:endParaRPr lang="en-US" sz="1300" dirty="0"/>
          </a:p>
        </p:txBody>
      </p:sp>
      <p:pic>
        <p:nvPicPr>
          <p:cNvPr id="32" name="Image 8" descr="/home/user/NVIConsult/build/assets_dark/t_mnt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5191" y="4114800"/>
            <a:ext cx="2567864" cy="16002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075191" y="5824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04.8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9669551" y="5824728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Facility Maintenance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6" name="Text 2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e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04.1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ENGINEERING &amp; PLANNING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Disciplined project management applied end to end, from feasibility to handover.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214884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01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242316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Define &amp; Evaluate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285292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definition &amp; characteristics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Portfolio, programme &amp; operations alignment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performance &amp; strategic planning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Feasibility study &amp; project evaluation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75608" y="201168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175608" y="214884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175608" y="242316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Select &amp; Plan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175608" y="285292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Commercial vs. governmental profitability criteria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selection &amp; project charter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Scope planning &amp; master schedule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Cost, quality &amp; human-resources planning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16052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429768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03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57200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500176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Communications, risk &amp; opportunity management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Needs &amp; supplies planning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Analysis methods &amp; change requests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175608" y="416052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175608" y="4297680"/>
            <a:ext cx="326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04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175608" y="4572000"/>
            <a:ext cx="326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Execute &amp; Close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4175608" y="5001768"/>
            <a:ext cx="3261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phases &amp; their management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Organisation &amp; execution</a:t>
            </a:r>
            <a:endParaRPr lang="en-US" sz="105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Closure &amp; project delivery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9" name="Text 25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s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CONTRACTING &amp; STRUCTURE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Core structural contracting, led by a civil engineer with 35 years' experience, including Saudi Binladen Group.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57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Concrete Works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2788920"/>
            <a:ext cx="3291840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Steel Works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3291840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977640"/>
            <a:ext cx="3291840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4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074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 of civil engineering leadership</a:t>
            </a:r>
            <a:endParaRPr lang="en-US" sz="1100" dirty="0"/>
          </a:p>
        </p:txBody>
      </p:sp>
      <p:pic>
        <p:nvPicPr>
          <p:cNvPr id="21" name="Image 2" descr="/home/user/NVIConsult/build/assets_dark/str_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59" y="2057400"/>
            <a:ext cx="3305556" cy="41605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058107" y="19842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058107" y="19842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08799" y="19842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09967" y="19842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058107" y="629107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058107" y="608990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08799" y="629107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09967" y="608990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1" name="Text 26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04.3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FIT-OUT &amp; FINISHING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Interior design and every finishing trade, delivered under one roof.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116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011680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Interior design &amp; fit-out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496312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542032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Landscaping works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026664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3072384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Tile works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557016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60273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" y="3602736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Woodworking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408736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75608" y="20116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4724248" y="2011680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Glass works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175608" y="2496312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175608" y="2542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724248" y="2542032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Painting works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175608" y="3026664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75608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4724248" y="3072384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Gypsum works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175608" y="3557016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175608" y="360273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4724248" y="3602736"/>
            <a:ext cx="2712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Aluminium &amp; metal structures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4175608" y="408736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pic>
        <p:nvPicPr>
          <p:cNvPr id="36" name="Image 2" descr="/home/user/NVIConsult/build/assets_dark/fit_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3261208" cy="192024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475488" y="42702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75488" y="42702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681832" y="42702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883000" y="42702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75488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75488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681832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883000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pic>
        <p:nvPicPr>
          <p:cNvPr id="45" name="Image 3" descr="/home/user/NVIConsult/build/assets_dark/fit_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608" y="4343400"/>
            <a:ext cx="3261208" cy="1920240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4102456" y="42702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102456" y="42702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308799" y="42702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509967" y="42702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102456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102456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308799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509967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55" name="Text 49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e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04.4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ELECTRICAL WORKS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electrical installation, from main cables to the final point.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116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011680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Lighting fixtures &amp; points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2551176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5968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596896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Raceways &amp; cabling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3136392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1821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3182112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Power outlets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372160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76732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" y="3767328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panels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48640" y="4306824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43525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1097280" y="4352544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Main cables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48640" y="4892040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9377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1097280" y="4937760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Grounding &amp; earthing systems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548640" y="5477256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552297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1097280" y="5522976"/>
            <a:ext cx="6339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Lightning protection systems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548640" y="6062472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4" name="Text 30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04.5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LOW CURRENT SYSTEMS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Integrated building systems for data, safety, security and communications.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11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01168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systems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62432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6700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67004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 telephone systems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282696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332841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 alarm systems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941064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986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" y="398678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CCTV systems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599432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46451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1097280" y="4645152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Public address systems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525780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5303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1097280" y="530352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Nurse call systems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8640" y="591616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75608" y="2011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4724248" y="201168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 control systems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175608" y="262432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175608" y="26700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4724248" y="267004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Master clock systems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175608" y="3282696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175608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4724248" y="332841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Building management systems (BMS)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175608" y="3941064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175608" y="3986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4724248" y="398678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IPTV &amp; audio / video systems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4175608" y="4599432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175608" y="46451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4724248" y="4645152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Intercom systems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4175608" y="525780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175608" y="5303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800" dirty="0"/>
          </a:p>
        </p:txBody>
      </p:sp>
      <p:sp>
        <p:nvSpPr>
          <p:cNvPr id="46" name="Text 42"/>
          <p:cNvSpPr txBox="1"/>
          <p:nvPr/>
        </p:nvSpPr>
        <p:spPr>
          <a:xfrm>
            <a:off x="4724248" y="5303520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integrated systems, one installer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48" name="Text 44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m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04.6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MECHANICAL &amp; HVAC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Cooling, air handling and air distribution systems.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57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05740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Chillers &amp; package units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017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301752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Fan coil &amp; air handling units (FCU / AHU)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977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397764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Ductwork &amp; grilles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48640" y="4892040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4937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" y="4937760"/>
            <a:ext cx="6339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Cold &amp; hot water piping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852160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pl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PLUMBING &amp; FIRE FIGHTING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Water supply, drainage and fire-fighting networks.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11680"/>
            <a:ext cx="3261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PLUMBING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48640" y="239572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4871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248716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Sanitary fixtures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099816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1455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097280" y="314553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Cold &amp; hot water piping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3758184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38039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097280" y="380390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Water &amp; submersible pumps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416552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44622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" y="4462272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Sewage piping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48640" y="507492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175608" y="2011680"/>
            <a:ext cx="3261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 FIGHTING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175608" y="2395728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175608" y="24871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4724248" y="2487168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Fire-fighting piping &amp; pumps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175608" y="3099816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175608" y="31455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4724248" y="3145536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Valves, insulation &amp; fittings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175608" y="3758184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175608" y="38039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4724248" y="3803904"/>
            <a:ext cx="271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 hose cabinets &amp; sprinklers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4175608" y="4416552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8" name="Text 34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s_m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04.8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325880" y="384048"/>
            <a:ext cx="6110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FACILITY MAINTENANCE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24128"/>
            <a:ext cx="688817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23444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Preventive maintenance, planned from the beginning, to protect our clients' investment over the long term.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201168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Buildings &amp; exterior façades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78892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83464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Interior decoration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61188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657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365760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works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43484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4480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" y="448056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Low-voltage systems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25780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75608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4724248" y="201168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Networks &amp; CCTV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175608" y="278892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175608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724248" y="283464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works &amp; air conditioning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175608" y="361188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75608" y="3657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4724248" y="3657600"/>
            <a:ext cx="2712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 works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175608" y="4434840"/>
            <a:ext cx="326120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4" name="Text 30"/>
          <p:cNvSpPr txBox="1"/>
          <p:nvPr/>
        </p:nvSpPr>
        <p:spPr>
          <a:xfrm>
            <a:off x="688817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TRUSTED BY ESTABLISHED BRANDS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selection of the clients we have delivered for.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1828800"/>
            <a:ext cx="345429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9659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01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28600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DUKAN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97180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Dabbagh Group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68698" y="1828800"/>
            <a:ext cx="345429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68698" y="19659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368698" y="228600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PANDA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4368698" y="297180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Savola Group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88757" y="1828800"/>
            <a:ext cx="3454298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88757" y="19659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03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188757" y="228600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MAZDA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188757" y="297180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Haji Husein Alireza &amp; Co. Ltd.</a:t>
            </a:r>
            <a:endParaRPr lang="en-US" sz="1200" dirty="0"/>
          </a:p>
        </p:txBody>
      </p:sp>
      <p:pic>
        <p:nvPicPr>
          <p:cNvPr id="23" name="Image 1" descr="/home/user/NVIConsult/build/assets_dark/clien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11094415" cy="23774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75488" y="38130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75488" y="38130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515039" y="381304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716207" y="381304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75488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5488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515039" y="63367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716207" y="61356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33" name="Text 29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384048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spc="100" kern="0" dirty="0">
                <a:solidFill>
                  <a:srgbClr val="F2F4F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LEADERSHIP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005840"/>
            <a:ext cx="182880" cy="41148"/>
          </a:xfrm>
          <a:prstGeom prst="rect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005840"/>
            <a:ext cx="182880" cy="41148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005840"/>
            <a:ext cx="182880" cy="41148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" y="1005840"/>
            <a:ext cx="182880" cy="41148"/>
          </a:xfrm>
          <a:prstGeom prst="rect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pic>
        <p:nvPicPr>
          <p:cNvPr id="10" name="Image 1" descr="/home/user/NVIConsult/build/assets_dark/p_azza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2926080" cy="3566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" y="125272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5488" y="125272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46704" y="1252728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47872" y="1252728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" y="49651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" y="47640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46704" y="4965192"/>
            <a:ext cx="201168" cy="0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47872" y="4764024"/>
            <a:ext cx="0" cy="201168"/>
          </a:xfrm>
          <a:prstGeom prst="line">
            <a:avLst/>
          </a:prstGeom>
          <a:noFill/>
          <a:ln w="12700">
            <a:solidFill>
              <a:srgbClr val="3CC8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5029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MANAGER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Azzam Al Sayeh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6875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Civil Engineer  ·  35 years' experience, including Saudi Binladen Group</a:t>
            </a:r>
            <a:endParaRPr lang="en-US" sz="1000" dirty="0"/>
          </a:p>
        </p:txBody>
      </p:sp>
      <p:pic>
        <p:nvPicPr>
          <p:cNvPr id="22" name="Image 2" descr="/home/user/NVIConsult/build/assets_dark/p_haze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325880"/>
            <a:ext cx="1722044" cy="208457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931920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3931920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Hazem Ghorbal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3931920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Interior Designer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931920" y="4736339"/>
            <a:ext cx="172204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931920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4480560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pic>
        <p:nvPicPr>
          <p:cNvPr id="29" name="Image 3" descr="/home/user/NVIConsult/build/assets_dark/p_mohamma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284" y="1325880"/>
            <a:ext cx="1722044" cy="208457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928284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5928284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Mohammad Khayat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5928284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 Engineer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928284" y="4736339"/>
            <a:ext cx="172204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928284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200" dirty="0"/>
          </a:p>
        </p:txBody>
      </p:sp>
      <p:sp>
        <p:nvSpPr>
          <p:cNvPr id="35" name="Text 29"/>
          <p:cNvSpPr txBox="1"/>
          <p:nvPr/>
        </p:nvSpPr>
        <p:spPr>
          <a:xfrm>
            <a:off x="6476924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pic>
        <p:nvPicPr>
          <p:cNvPr id="36" name="Image 4" descr="/home/user/NVIConsult/build/assets_dark/p_nad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648" y="1325880"/>
            <a:ext cx="1722044" cy="2084579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924648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7924648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Nader M. Abdulhadi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7924648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Electrical Engineer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924648" y="4736339"/>
            <a:ext cx="172204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7924648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2" name="Text 35"/>
          <p:cNvSpPr txBox="1"/>
          <p:nvPr/>
        </p:nvSpPr>
        <p:spPr>
          <a:xfrm>
            <a:off x="8473288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pic>
        <p:nvPicPr>
          <p:cNvPr id="43" name="Image 5" descr="/home/user/NVIConsult/build/assets_dark/p_ana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011" y="1325880"/>
            <a:ext cx="1722044" cy="2084579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921011" y="3547619"/>
            <a:ext cx="17220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9921011" y="3821939"/>
            <a:ext cx="172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Anas Khayat</a:t>
            </a:r>
            <a:endParaRPr lang="en-US" sz="1350" dirty="0"/>
          </a:p>
        </p:txBody>
      </p:sp>
      <p:sp>
        <p:nvSpPr>
          <p:cNvPr id="46" name="Text 38"/>
          <p:cNvSpPr txBox="1"/>
          <p:nvPr/>
        </p:nvSpPr>
        <p:spPr>
          <a:xfrm>
            <a:off x="9921011" y="4352291"/>
            <a:ext cx="1722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3C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Mechanical Engineer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9921011" y="4736339"/>
            <a:ext cx="1722044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9921011" y="4827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9" name="Text 41"/>
          <p:cNvSpPr txBox="1"/>
          <p:nvPr/>
        </p:nvSpPr>
        <p:spPr>
          <a:xfrm>
            <a:off x="10469651" y="4827779"/>
            <a:ext cx="1173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950" dirty="0"/>
          </a:p>
        </p:txBody>
      </p:sp>
      <p:sp>
        <p:nvSpPr>
          <p:cNvPr id="50" name="Text 42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51" name="Text 4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da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NVIConsult/build/assets_dark/line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NVIConsult/build/assets_dark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408" y="502920"/>
            <a:ext cx="2468880" cy="159383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3C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New Vision Integral for Maintenance &amp; Contracting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2255368" y="3429000"/>
            <a:ext cx="3566160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225536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MANAGER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2255368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Azzam Al Sayeh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2255368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3CC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a.alsayeh@nvi-sa.com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2255368" y="4590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3CC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+966 50 597 6970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370168" y="3429000"/>
            <a:ext cx="3566160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37016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3CC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 DIRECTOR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6370168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Abdulhai Hambrouch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370168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3CC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a.ahmed@nvi-sa.com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370168" y="4590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3CC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+966 55 069 6190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2255368" y="5166360"/>
            <a:ext cx="7680960" cy="0"/>
          </a:xfrm>
          <a:prstGeom prst="line">
            <a:avLst/>
          </a:prstGeom>
          <a:noFill/>
          <a:ln w="9525">
            <a:solidFill>
              <a:srgbClr val="28304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8640" y="5349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3CC8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www.nvi-sa.com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9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Jeddah  ·  Kingdom of Saudi Arabia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750" dirty="0"/>
          </a:p>
        </p:txBody>
      </p:sp>
      <p:sp>
        <p:nvSpPr>
          <p:cNvPr id="20" name="Text 1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New Vision Integral for Maintenance and Contracting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subject>PptxGenJS Presentation</dc:subject>
  <dc:creator>New Vision Integral for Maintenance and Contracting</dc:creator>
  <cp:lastModifiedBy>New Vision Integral for Maintenance and Contracting</cp:lastModifiedBy>
  <cp:revision>1</cp:revision>
  <dcterms:created xsi:type="dcterms:W3CDTF">2026-09-29T17:16:53Z</dcterms:created>
  <dcterms:modified xsi:type="dcterms:W3CDTF">2026-09-29T17:16:53Z</dcterms:modified>
</cp:coreProperties>
</file>